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c88559e9434387" /><Relationship Type="http://schemas.openxmlformats.org/officeDocument/2006/relationships/extended-properties" Target="/docProps/app.xml" Id="R6b721553141247c2" /><Relationship Type="http://schemas.openxmlformats.org/officeDocument/2006/relationships/officeDocument" Target="/ppt/presentation.xml" Id="R7b71db0fc45940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fef59327543af"/>
  </p:sldMasterIdLst>
  <p:notesMasterIdLst>
    <p:notesMasterId xmlns:r="http://schemas.openxmlformats.org/officeDocument/2006/relationships" r:id="R79c86f5620ee4480"/>
  </p:notesMasterIdLst>
  <p:sldIdLst>
    <p:sldId xmlns:r="http://schemas.openxmlformats.org/officeDocument/2006/relationships" id="256" r:id="R496ad73d3f284dc2"/>
    <p:sldId xmlns:r="http://schemas.openxmlformats.org/officeDocument/2006/relationships" id="257" r:id="R1bc4623a78c5403b"/>
    <p:sldId xmlns:r="http://schemas.openxmlformats.org/officeDocument/2006/relationships" id="258" r:id="Rbd53c3b0bb6f4e42"/>
    <p:sldId xmlns:r="http://schemas.openxmlformats.org/officeDocument/2006/relationships" id="259" r:id="R9c66a274d59b4e94"/>
    <p:sldId xmlns:r="http://schemas.openxmlformats.org/officeDocument/2006/relationships" id="260" r:id="Rdffa8f2970c84771"/>
    <p:sldId xmlns:r="http://schemas.openxmlformats.org/officeDocument/2006/relationships" id="261" r:id="Ra745dde5dd564b5c"/>
    <p:sldId xmlns:r="http://schemas.openxmlformats.org/officeDocument/2006/relationships" id="262" r:id="Rda10360c6dfe496b"/>
    <p:sldId xmlns:r="http://schemas.openxmlformats.org/officeDocument/2006/relationships" id="263" r:id="Rce2521c53d7849d7"/>
    <p:sldId xmlns:r="http://schemas.openxmlformats.org/officeDocument/2006/relationships" id="264" r:id="R5a82d05f112d410b"/>
    <p:sldId xmlns:r="http://schemas.openxmlformats.org/officeDocument/2006/relationships" id="265" r:id="R29faed101d62449e"/>
    <p:sldId xmlns:r="http://schemas.openxmlformats.org/officeDocument/2006/relationships" id="266" r:id="R5f2368ed13374f88"/>
    <p:sldId xmlns:r="http://schemas.openxmlformats.org/officeDocument/2006/relationships" id="267" r:id="Rba44eb8fc9b5435d"/>
    <p:sldId xmlns:r="http://schemas.openxmlformats.org/officeDocument/2006/relationships" id="268" r:id="R2f9802a1342142e9"/>
    <p:sldId xmlns:r="http://schemas.openxmlformats.org/officeDocument/2006/relationships" id="269" r:id="R228e4a53321a4f1d"/>
    <p:sldId xmlns:r="http://schemas.openxmlformats.org/officeDocument/2006/relationships" id="270" r:id="R5c0ff88d5b664809"/>
    <p:sldId xmlns:r="http://schemas.openxmlformats.org/officeDocument/2006/relationships" id="271" r:id="R149eb13c79164d92"/>
    <p:sldId xmlns:r="http://schemas.openxmlformats.org/officeDocument/2006/relationships" id="272" r:id="R38c494ac8ab94a26"/>
    <p:sldId xmlns:r="http://schemas.openxmlformats.org/officeDocument/2006/relationships" id="273" r:id="R305e2a36962b4489"/>
    <p:sldId xmlns:r="http://schemas.openxmlformats.org/officeDocument/2006/relationships" id="274" r:id="R70b5653ae27e4e32"/>
    <p:sldId xmlns:r="http://schemas.openxmlformats.org/officeDocument/2006/relationships" id="275" r:id="R5a95ab6295614796"/>
    <p:sldId xmlns:r="http://schemas.openxmlformats.org/officeDocument/2006/relationships" id="276" r:id="R97fecf21c6d6410e"/>
    <p:sldId xmlns:r="http://schemas.openxmlformats.org/officeDocument/2006/relationships" id="277" r:id="R4c454fe24b6f45e9"/>
    <p:sldId xmlns:r="http://schemas.openxmlformats.org/officeDocument/2006/relationships" id="278" r:id="R6960987f8d044acb"/>
    <p:sldId xmlns:r="http://schemas.openxmlformats.org/officeDocument/2006/relationships" id="279" r:id="R21992385cd2845b8"/>
    <p:sldId xmlns:r="http://schemas.openxmlformats.org/officeDocument/2006/relationships" id="280" r:id="Rf3830441a4bb413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fed563674147f8" /><Relationship Type="http://schemas.openxmlformats.org/officeDocument/2006/relationships/slideMaster" Target="/ppt/slideMasters/slideMaster1.xml" Id="Rac6fef59327543af" /><Relationship Type="http://schemas.openxmlformats.org/officeDocument/2006/relationships/notesMaster" Target="/ppt/notesMasters/notesMaster1.xml" Id="R79c86f5620ee4480" /><Relationship Type="http://schemas.openxmlformats.org/officeDocument/2006/relationships/presProps" Target="/ppt/presProps.xml" Id="R099b0709a4a54c92" /><Relationship Type="http://schemas.openxmlformats.org/officeDocument/2006/relationships/tableStyles" Target="/ppt/tableStyles.xml" Id="Re2a8093530164115" /><Relationship Type="http://schemas.openxmlformats.org/officeDocument/2006/relationships/slide" Target="/ppt/slides/slide1.xml" Id="R496ad73d3f284dc2" /><Relationship Type="http://schemas.openxmlformats.org/officeDocument/2006/relationships/slide" Target="/ppt/slides/slide2.xml" Id="R1bc4623a78c5403b" /><Relationship Type="http://schemas.openxmlformats.org/officeDocument/2006/relationships/slide" Target="/ppt/slides/slide3.xml" Id="Rbd53c3b0bb6f4e42" /><Relationship Type="http://schemas.openxmlformats.org/officeDocument/2006/relationships/slide" Target="/ppt/slides/slide4.xml" Id="R9c66a274d59b4e94" /><Relationship Type="http://schemas.openxmlformats.org/officeDocument/2006/relationships/slide" Target="/ppt/slides/slide5.xml" Id="Rdffa8f2970c84771" /><Relationship Type="http://schemas.openxmlformats.org/officeDocument/2006/relationships/slide" Target="/ppt/slides/slide6.xml" Id="Ra745dde5dd564b5c" /><Relationship Type="http://schemas.openxmlformats.org/officeDocument/2006/relationships/slide" Target="/ppt/slides/slide7.xml" Id="Rda10360c6dfe496b" /><Relationship Type="http://schemas.openxmlformats.org/officeDocument/2006/relationships/slide" Target="/ppt/slides/slide8.xml" Id="Rce2521c53d7849d7" /><Relationship Type="http://schemas.openxmlformats.org/officeDocument/2006/relationships/slide" Target="/ppt/slides/slide9.xml" Id="R5a82d05f112d410b" /><Relationship Type="http://schemas.openxmlformats.org/officeDocument/2006/relationships/slide" Target="/ppt/slides/slide10.xml" Id="R29faed101d62449e" /><Relationship Type="http://schemas.openxmlformats.org/officeDocument/2006/relationships/slide" Target="/ppt/slides/slide11.xml" Id="R5f2368ed13374f88" /><Relationship Type="http://schemas.openxmlformats.org/officeDocument/2006/relationships/slide" Target="/ppt/slides/slide12.xml" Id="Rba44eb8fc9b5435d" /><Relationship Type="http://schemas.openxmlformats.org/officeDocument/2006/relationships/slide" Target="/ppt/slides/slide13.xml" Id="R2f9802a1342142e9" /><Relationship Type="http://schemas.openxmlformats.org/officeDocument/2006/relationships/slide" Target="/ppt/slides/slide14.xml" Id="R228e4a53321a4f1d" /><Relationship Type="http://schemas.openxmlformats.org/officeDocument/2006/relationships/slide" Target="/ppt/slides/slide15.xml" Id="R5c0ff88d5b664809" /><Relationship Type="http://schemas.openxmlformats.org/officeDocument/2006/relationships/slide" Target="/ppt/slides/slide16.xml" Id="R149eb13c79164d92" /><Relationship Type="http://schemas.openxmlformats.org/officeDocument/2006/relationships/slide" Target="/ppt/slides/slide17.xml" Id="R38c494ac8ab94a26" /><Relationship Type="http://schemas.openxmlformats.org/officeDocument/2006/relationships/slide" Target="/ppt/slides/slide18.xml" Id="R305e2a36962b4489" /><Relationship Type="http://schemas.openxmlformats.org/officeDocument/2006/relationships/slide" Target="/ppt/slides/slide19.xml" Id="R70b5653ae27e4e32" /><Relationship Type="http://schemas.openxmlformats.org/officeDocument/2006/relationships/slide" Target="/ppt/slides/slide20.xml" Id="R5a95ab6295614796" /><Relationship Type="http://schemas.openxmlformats.org/officeDocument/2006/relationships/slide" Target="/ppt/slides/slide21.xml" Id="R97fecf21c6d6410e" /><Relationship Type="http://schemas.openxmlformats.org/officeDocument/2006/relationships/slide" Target="/ppt/slides/slide22.xml" Id="R4c454fe24b6f45e9" /><Relationship Type="http://schemas.openxmlformats.org/officeDocument/2006/relationships/slide" Target="/ppt/slides/slide23.xml" Id="R6960987f8d044acb" /><Relationship Type="http://schemas.openxmlformats.org/officeDocument/2006/relationships/slide" Target="/ppt/slides/slide24.xml" Id="R21992385cd2845b8" /><Relationship Type="http://schemas.openxmlformats.org/officeDocument/2006/relationships/slide" Target="/ppt/slides/slide25.xml" Id="Rf3830441a4bb41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0597b96bc54f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5e72f2aee848e8" /><Relationship Type="http://schemas.openxmlformats.org/officeDocument/2006/relationships/notesMaster" Target="/ppt/notesMasters/notesMaster1.xml" Id="Rc6fdc64ceb3e41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d3ea1c6c94667" /><Relationship Type="http://schemas.openxmlformats.org/officeDocument/2006/relationships/notesMaster" Target="/ppt/notesMasters/notesMaster1.xml" Id="R857bed3c7e7541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bbf76234374c54" /><Relationship Type="http://schemas.openxmlformats.org/officeDocument/2006/relationships/notesMaster" Target="/ppt/notesMasters/notesMaster1.xml" Id="R8d482e63b5c44e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b2069abf634b8c" /><Relationship Type="http://schemas.openxmlformats.org/officeDocument/2006/relationships/notesMaster" Target="/ppt/notesMasters/notesMaster1.xml" Id="R38df13a53feb41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7d5c0acd434960" /><Relationship Type="http://schemas.openxmlformats.org/officeDocument/2006/relationships/notesMaster" Target="/ppt/notesMasters/notesMaster1.xml" Id="R180b9d7da30d43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4a6555bfb44c2c" /><Relationship Type="http://schemas.openxmlformats.org/officeDocument/2006/relationships/notesMaster" Target="/ppt/notesMasters/notesMaster1.xml" Id="Rbfca6c00a69a4b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b5b52e5be04dad" /><Relationship Type="http://schemas.openxmlformats.org/officeDocument/2006/relationships/notesMaster" Target="/ppt/notesMasters/notesMaster1.xml" Id="R9e4769ca7cbc4a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ab201b40a04ad4" /><Relationship Type="http://schemas.openxmlformats.org/officeDocument/2006/relationships/notesMaster" Target="/ppt/notesMasters/notesMaster1.xml" Id="Rc71a0d19341a46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2d4af35bda47e9" /><Relationship Type="http://schemas.openxmlformats.org/officeDocument/2006/relationships/notesMaster" Target="/ppt/notesMasters/notesMaster1.xml" Id="R452acd2d51a646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8e59683339448f" /><Relationship Type="http://schemas.openxmlformats.org/officeDocument/2006/relationships/notesMaster" Target="/ppt/notesMasters/notesMaster1.xml" Id="R0ff1a26d4a6a4a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f2c5b0554840e1" /><Relationship Type="http://schemas.openxmlformats.org/officeDocument/2006/relationships/notesMaster" Target="/ppt/notesMasters/notesMaster1.xml" Id="R138c8ba6d60d49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ffddc7f8eb427f" /><Relationship Type="http://schemas.openxmlformats.org/officeDocument/2006/relationships/notesMaster" Target="/ppt/notesMasters/notesMaster1.xml" Id="R8c87d216dbe349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60be1c542540cf" /><Relationship Type="http://schemas.openxmlformats.org/officeDocument/2006/relationships/notesMaster" Target="/ppt/notesMasters/notesMaster1.xml" Id="R48c6a4d4529d46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a823e3b46046ac" /><Relationship Type="http://schemas.openxmlformats.org/officeDocument/2006/relationships/notesMaster" Target="/ppt/notesMasters/notesMaster1.xml" Id="Rf6728272184449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0a0558aad04c7e" /><Relationship Type="http://schemas.openxmlformats.org/officeDocument/2006/relationships/notesMaster" Target="/ppt/notesMasters/notesMaster1.xml" Id="R4345f4f4ffd54f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cf975132204b71" /><Relationship Type="http://schemas.openxmlformats.org/officeDocument/2006/relationships/notesMaster" Target="/ppt/notesMasters/notesMaster1.xml" Id="Rabdbb0ac0ec041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fb0eb1b54441ac" /><Relationship Type="http://schemas.openxmlformats.org/officeDocument/2006/relationships/notesMaster" Target="/ppt/notesMasters/notesMaster1.xml" Id="Ra44a44bb4dbb49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d79223a3474e83" /><Relationship Type="http://schemas.openxmlformats.org/officeDocument/2006/relationships/notesMaster" Target="/ppt/notesMasters/notesMaster1.xml" Id="Rfdccf3efddd24c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98037d67304037" /><Relationship Type="http://schemas.openxmlformats.org/officeDocument/2006/relationships/notesMaster" Target="/ppt/notesMasters/notesMaster1.xml" Id="R66d84abd6c3146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0661093865d4fe2" /><Relationship Type="http://schemas.openxmlformats.org/officeDocument/2006/relationships/notesMaster" Target="/ppt/notesMasters/notesMaster1.xml" Id="R714e6402b7b44b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87e00557f54714" /><Relationship Type="http://schemas.openxmlformats.org/officeDocument/2006/relationships/notesMaster" Target="/ppt/notesMasters/notesMaster1.xml" Id="Rd1ff865cfc2e40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653c5024164822" /><Relationship Type="http://schemas.openxmlformats.org/officeDocument/2006/relationships/notesMaster" Target="/ppt/notesMasters/notesMaster1.xml" Id="R303696c557d64e7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fdb24b48fd43c6" /><Relationship Type="http://schemas.openxmlformats.org/officeDocument/2006/relationships/notesMaster" Target="/ppt/notesMasters/notesMaster1.xml" Id="R4085fa9a0f284a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e0e21fdae746e6" /><Relationship Type="http://schemas.openxmlformats.org/officeDocument/2006/relationships/notesMaster" Target="/ppt/notesMasters/notesMaster1.xml" Id="R7097610a54244d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3daa69bb89240a4" /><Relationship Type="http://schemas.openxmlformats.org/officeDocument/2006/relationships/notesMaster" Target="/ppt/notesMasters/notesMaster1.xml" Id="Rc7c4541d885341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иллюстративное изображение создано с помощью OpenAI Image Generation. Изображение не содержит реальных пациентов или медицинских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перенесено из исходного слайда «Методология». Формулировки сокращены без изменения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сохранено из исходной 3D-диагностики. Итоговая оценка: 7/9.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семинар 8, задание команды 3. BAC 250 000 ₽, PV 150 000 ₽, EV 120 000 ₽, AC 140 000 ₽. Диаграмма показывает значения на контрольную дату, не динамику во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Индексы округлены до двух знаков, денежные значения до целого рубля. EAC = BAC / CPI. TCPI рассчитан для исходного BAC.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Порог 0,90 взят из материалов семинара 8. Сокращение требований безопасности и критериев приёмки не предлагается.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9da8cfefa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fc4bb299fe476d" /><Relationship Type="http://schemas.openxmlformats.org/officeDocument/2006/relationships/slideLayout" Target="/ppt/slideLayouts/slideLayout1.xml" Id="R32b8428386c74a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b8428386c74a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fa0b865b74c80" /><Relationship Type="http://schemas.openxmlformats.org/officeDocument/2006/relationships/image" Target="/ppt/media/image.png" Id="R24bad0e67d5a4d87" /><Relationship Type="http://schemas.openxmlformats.org/officeDocument/2006/relationships/notesSlide" Target="/ppt/notesSlides/notesSlide1.xml" Id="Rdd1f19e826dd45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3f632c0d14b6d" /><Relationship Type="http://schemas.openxmlformats.org/officeDocument/2006/relationships/notesSlide" Target="/ppt/notesSlides/notesSlide2.xml" Id="Rd432523405fc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0cffa44244e73" /><Relationship Type="http://schemas.openxmlformats.org/officeDocument/2006/relationships/notesSlide" Target="/ppt/notesSlides/notesSlide3.xml" Id="R0663e55821e54e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051f5117b4192" /><Relationship Type="http://schemas.openxmlformats.org/officeDocument/2006/relationships/notesSlide" Target="/ppt/notesSlides/notesSlide4.xml" Id="Rd637528adbf940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c397537df4253" /><Relationship Type="http://schemas.openxmlformats.org/officeDocument/2006/relationships/notesSlide" Target="/ppt/notesSlides/notesSlide5.xml" Id="Red713f7043e041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b14a83cff4671" /><Relationship Type="http://schemas.openxmlformats.org/officeDocument/2006/relationships/notesSlide" Target="/ppt/notesSlides/notesSlide6.xml" Id="R8d8e44fd100e48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bf734e1cc409b" /><Relationship Type="http://schemas.openxmlformats.org/officeDocument/2006/relationships/notesSlide" Target="/ppt/notesSlides/notesSlide7.xml" Id="R9029694016b4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25bfdedf34628" /><Relationship Type="http://schemas.openxmlformats.org/officeDocument/2006/relationships/notesSlide" Target="/ppt/notesSlides/notesSlide8.xml" Id="R9dfb107601c641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093aa696c4a63" /><Relationship Type="http://schemas.openxmlformats.org/officeDocument/2006/relationships/notesSlide" Target="/ppt/notesSlides/notesSlide9.xml" Id="Rbf12a0749b6748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1316bb4504550" /><Relationship Type="http://schemas.openxmlformats.org/officeDocument/2006/relationships/notesSlide" Target="/ppt/notesSlides/notesSlide10.xml" Id="R6ca11423515a4c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cb4536e8441e7" /><Relationship Type="http://schemas.openxmlformats.org/officeDocument/2006/relationships/notesSlide" Target="/ppt/notesSlides/notesSlide11.xml" Id="Rc4ae0556a2d84b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83f3593c64270" /><Relationship Type="http://schemas.openxmlformats.org/officeDocument/2006/relationships/notesSlide" Target="/ppt/notesSlides/notesSlide12.xml" Id="R2d28bee648434f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6362361d34fb9" /><Relationship Type="http://schemas.openxmlformats.org/officeDocument/2006/relationships/notesSlide" Target="/ppt/notesSlides/notesSlide13.xml" Id="R7ed412c01a5c4c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00cc4f99643a9" /><Relationship Type="http://schemas.openxmlformats.org/officeDocument/2006/relationships/notesSlide" Target="/ppt/notesSlides/notesSlide14.xml" Id="R4e04211572be43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afdf775b94922" /><Relationship Type="http://schemas.openxmlformats.org/officeDocument/2006/relationships/notesSlide" Target="/ppt/notesSlides/notesSlide15.xml" Id="R85e74bdb04dc43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104ccf6134209" /><Relationship Type="http://schemas.openxmlformats.org/officeDocument/2006/relationships/notesSlide" Target="/ppt/notesSlides/notesSlide16.xml" Id="Rffe250a107a941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b9228dd00443e" /><Relationship Type="http://schemas.openxmlformats.org/officeDocument/2006/relationships/notesSlide" Target="/ppt/notesSlides/notesSlide17.xml" Id="Rc9702a25b9974e1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73400de224884" /><Relationship Type="http://schemas.openxmlformats.org/officeDocument/2006/relationships/notesSlide" Target="/ppt/notesSlides/notesSlide18.xml" Id="R178ae7f0fe2442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adccd137c4650" /><Relationship Type="http://schemas.openxmlformats.org/officeDocument/2006/relationships/notesSlide" Target="/ppt/notesSlides/notesSlide19.xml" Id="Rd9fef174ec9b4df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63b970a0c4eb1" /><Relationship Type="http://schemas.openxmlformats.org/officeDocument/2006/relationships/notesSlide" Target="/ppt/notesSlides/notesSlide20.xml" Id="R47f19dace06e47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52511d72a421f" /><Relationship Type="http://schemas.openxmlformats.org/officeDocument/2006/relationships/notesSlide" Target="/ppt/notesSlides/notesSlide21.xml" Id="R4419b10b49af4f3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8e5e7316949ef" /><Relationship Type="http://schemas.openxmlformats.org/officeDocument/2006/relationships/notesSlide" Target="/ppt/notesSlides/notesSlide22.xml" Id="R6d45a654641a45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2d1a11eaf4bc1" /><Relationship Type="http://schemas.openxmlformats.org/officeDocument/2006/relationships/chart" Target="/ppt/slides/charts/chart1.xml" Id="R5d59d0677a8e4345" /><Relationship Type="http://schemas.openxmlformats.org/officeDocument/2006/relationships/notesSlide" Target="/ppt/notesSlides/notesSlide23.xml" Id="R8fd867eeed804c5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71a8427974a50" /><Relationship Type="http://schemas.openxmlformats.org/officeDocument/2006/relationships/notesSlide" Target="/ppt/notesSlides/notesSlide24.xml" Id="Ref428c5ac19b4ad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b01c251894746" /><Relationship Type="http://schemas.openxmlformats.org/officeDocument/2006/relationships/notesSlide" Target="/ppt/notesSlides/notesSlide25.xml" Id="R5f247e8f8da844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Стоимость на контрольную дату, тыс. ₽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8242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тыс. ₽</c:v>
          </c:tx>
          <c:spPr>
            <a:solidFill xmlns:a="http://schemas.openxmlformats.org/drawingml/2006/main">
              <a:srgbClr val="197A7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7354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97A7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84E5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PV  план</c:v>
                </c:pt>
                <c:pt idx="1">
                  <c:v>EV  выполнено</c:v>
                </c:pt>
                <c:pt idx="2">
                  <c:v>AC  затраты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242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7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ad0e67d5a4d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334D6-6FCB-4454-B05C-CBC039E8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2937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50E0D-F6BB-437E-B453-34F1BE7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3AC0D-8381-4A3F-A26F-CC8F9E3D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86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МедКарта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0F985-1953-4F09-99DB-E93F8993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226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медицинской информационной системы</a:t>
            </a:r>
          </a:p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отделении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12D14-1B97-4CFB-848F-D3CA86E8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Планирование, сроки, риски и контроль стоимости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80492-F8E8-49E8-AE97-834FE66D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Алимова Анастасия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Базанов Максим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Гусельникова Кристина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Долотин Артур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Суворов Максим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D810E-1E7D-44A5-8FB4-2DA188BE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Проектная презентация</a:t>
            </a:r>
          </a:p>
        </p:txBody>
      </p:sp>
    </p:spTree>
    <p:extLst>
      <p:ext uri="{BB962C8B-B14F-4D97-AF65-F5344CB8AC3E}">
        <p14:creationId xmlns:p14="http://schemas.microsoft.com/office/powerpoint/2010/main" val="1642194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964D55-F996-494E-8717-6FE6EC6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Почему PRINCE2 подходит пилоту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89760-2515-4735-A580-A1C7FF88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185A6-3586-4650-A56F-5A90BD5F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Формальный контроль нужен из-за цены ошибки, числа участников и интеграционных рисков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0B0B2-E78E-4B04-AC96-61C79020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CDEB8-2DFB-4BFE-81E4-1FF106F3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5E171-88B2-4C43-94F8-166EA101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FC8C3-CEBF-4596-B17E-FAAF82B0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Безопасность пациента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5D058-E640-448C-BE52-EFAD487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C6EBA-10FE-4F80-9564-0B094617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Высокая цена ошибки требует формального контроля качества и приёмки по этапам.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A89C4-69F5-498D-A765-398B47A3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32D6A-63D9-4AD0-8978-E8E7DC76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Много стейкхолдеров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0AA4B-16E3-4C7C-94BB-34F098D3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DB010-4F69-45A4-8CE6-AD321414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проекте участвуют врачи, администрация, ИТ, регуляторы, подрядчик и пациенты. PRINCE2 фиксирует роли и ответственность.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2F305-5EF1-47E5-BF43-EDB4B00A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34AF9-7BF1-4DD6-9E18-0CC4FCEC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Миграция и интеграции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B9758-E6D4-4608-99D7-742E5646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50540-D464-4FDA-90BA-52711E3A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Поэтапный запуск и контроль изменений снижают риск ошибок при переносе данных и подключении систем.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3D060-A636-44BD-940A-1F052C41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Три типовых причины провала ЭМК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7E9CA-CC60-4C99-8108-FA5E5F62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A7AEC-8FE7-4ECD-BE50-A452E788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Нагрузка на врачей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7616C-7EBC-4ED8-A469-79996A27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Неудобный интерфейс и дополнительный ввод снижают принятие системы.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BDE08-BE7F-416D-9220-F7EDA4AA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8F302-1AEF-4D75-94DA-5219C64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Миграция данных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434F4-6F17-4F25-BCEE-EEB454F7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Дубли, старые форматы и плохое качество данных увеличивают риск срыва запуска.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5FC05-D25C-4B45-B712-0579299D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81983-3B2E-4091-A5E8-1A3DA402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Нет владельца решений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9D8EA-E835-4822-98B8-A73CFA5B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Долгие согласования требований и приоритетов увеличивают сроки и бюджет.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3827E-7BFE-4CE7-9744-3E44BA92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</p:spTree>
    <p:extLst>
      <p:ext uri="{BB962C8B-B14F-4D97-AF65-F5344CB8AC3E}">
        <p14:creationId xmlns:p14="http://schemas.microsoft.com/office/powerpoint/2010/main" val="770670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BEBF9-31C8-4F0E-9719-E21D5AE2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3D-диагностика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2A83D-5447-4BAC-80F5-66B5ABD9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C3FC4-0238-4DB5-9F42-81841F3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Проблемы распределены по рациональному, психосоциальному и политическому измерениям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0E752-F4EB-4871-96BB-9435929B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6029-AE8E-4609-9970-9F461C6A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95825"/>
                <a:gridCol w="4695825"/>
                <a:gridCol w="4705350"/>
              </a:tblGrid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Рациональное · 3/3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Психосоциальное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Политическое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 Сроки, бюджет и качество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Критерии удобства, безопасности и скорости согласованы частично.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4. Цель и ожидания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Администрации нужна отчётность, врачам важно сократить время ввода данных.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7. Власть и влияние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Формальный спонсор решает не всё. Заведующие и ведущие врачи влияют на решения.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2. Изменения требований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 пилоте пользователи могут менять требования к интерфейсу и функциям.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5. Скрытое сопротивление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врачей может поддерживать проект формально, но избегать использования.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8. Конкуренция интересов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Подразделения конкурируют за бюджет, сроки внедрения и приоритеты процессов.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3. Неопределённость данных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Качество старых записей и трудоёмкость интеграции заранее неизвестны.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6. Критерии провала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Риски известны: ошибки миграции, перегрузка пользователей, отказ от системы.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9. Смена спонсора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Проект может замедлиться, но обязательные требования организации не дадут ему остановиться.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B8EA2-379E-40A1-9623-C9CD431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81875"/>
            <a:ext cx="1409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F232B-B0D6-4C6C-A22C-E4200592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43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Итог диагностики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AE855-D751-43B2-8C03-04AA3BE7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515225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7 проблем из 9. Оценка совпадает с предварительной оценкой куратора.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097DA-667A-485F-BD2C-218DA0FA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</p:spTree>
    <p:extLst>
      <p:ext uri="{BB962C8B-B14F-4D97-AF65-F5344CB8AC3E}">
        <p14:creationId xmlns:p14="http://schemas.microsoft.com/office/powerpoint/2010/main" val="1277477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43E125-4DC5-4255-98D2-2260E863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Устав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C8A04-71FD-4BE7-9D7D-F38359E2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B1B19-E3DA-43CB-B7D7-D28DE941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Цель и границы двухмесячного пилота в кардиологии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24802-A576-4C7D-A50D-DB3F5152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4789D-663E-4E43-A057-F1080C76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2DFD7-8BA9-4D99-BFF5-19B7A550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  Наименование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6180D-BF4F-4BC4-84D9-FB9C1350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Внедрение медицинской информационной системы «МедКарта» в кардиологии. Формат: пилот на 2 месяца с отдельным решением о масштабировании.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3FAA7-CC99-4E20-97E5-538F3EDE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  Бизнес-обоснование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252C0-3994-4A8F-9155-13C16A5B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Электронная карта должна сократить время приёма, повысить эффективность врачей и уменьшить среднюю длительность визита.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FB2AC-602A-4C02-AF97-61757A82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  SMART-цель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790AA-6F20-4AB1-8AB6-D3436832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Сократить среднее время приёма пациента в кардиологии на 20% за 2 месяца с помощью электронной карты и расписания.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5413D-2105-42C3-A7A9-718B8A2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0D031-DF64-4833-802D-3F5AE620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Ограничения и допущение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9834F-AC87-4EA6-8702-1242B771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6572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0AE3D-07C4-4255-B534-905C80E0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F836C-41B8-4E5A-B7C1-778CE2F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96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проводится только в кардиологии и длится 2 месяца.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64074-8B37-4345-BAB1-A785A084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815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BC0BE-5C53-4BDB-91DA-4BDF2C2E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58BDF-E71E-4FFA-96E1-C61CD27C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Внешние интеграции не входят в текущую фазу.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0351D-1BAB-4C1A-AFB0-D038256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33BDB-47F2-4221-B736-38B82EAE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1902A-1B50-49D3-8AF9-FF31558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0547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обработке персональных данных обязательны.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D4BAE-2659-4829-8717-74F28E42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6742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44027-C41B-4F44-8537-B60E125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AB29D-B913-4F3C-85E4-772D3B40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4840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Предзаполненные поля врач подтверждает вручную.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8F80A-D011-4026-B742-7CF1F7DC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61035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8D048-0252-4252-A46C-3389BFC8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913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CE958A-AD1B-42CF-8A2F-441FB3B5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913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пилота руководство отдельно решает вопрос о масштабировании.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D473F-5F18-49CE-9A43-7D31DBC5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532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375AB-2C88-43BE-8867-855801C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Границы по MoSCoW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A9C9A7-ECA5-47CA-B8D2-C026545E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6953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B7B24-476A-4024-AB75-A4CEACE6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C23160-D5A3-4F90-B4D4-390AC903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1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Карта, автозаполнение с подтверждением, расписание, ручной ввод анализов, защита ПДн, замеры, тренинги и отчёт.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7719D8-B34D-4D00-BA7C-9A572905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SHOULD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AEC072-84DE-4512-9BAA-8CADD885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Инструкции, представления расписания, валидация анализов.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9AD85E-B16F-4266-93EC-D2901308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1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A853B6-F6A5-4000-8382-5ABB9C83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и сбор обратной связи в системе.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B8A3AA-44C6-4370-B27C-D1DD8BD0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80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ФАЗА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341880-E0DA-49C7-94A6-6EB1050F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781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CD6EEE-7FFB-4D67-A447-ADFC5F5C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292056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B210B-FB39-49F1-BDB7-9030C3D5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Управление пилотом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157F-59CE-4543-85C7-69F49635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3271A-885D-42D9-8DE5-3D0421D8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Бюджет, вехи, участники, полномочия и приёмка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BF20F-81D2-42DB-A10A-430E251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F15DA-5577-480C-9486-23FE5B90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197CB-C1C6-47CF-AC89-98B0F8F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Вехи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87524-DFBD-45F4-9322-9039AD6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B316B-5BE5-484A-9DA0-94ED509F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8290B-268D-4113-9F0D-0D74B7BB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Настройка карты пациента и расписания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94149-0135-4954-83DE-24892DD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67ED2-CD27-4195-BC9F-D6E4ABDD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5D869-570E-4E71-B8BA-4E76F8D0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955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Пилотная эксплуатация, ручной ввод анализов, замер времени и итоговый отчёт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45452-2D86-4484-925C-99F69896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361CA-4528-4FCE-8C95-9A20203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570EE-C018-4E38-B2D6-4E6AC17D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исходном брифе сумма не указана. Финансирование нужно согласовать с главным врачом и ИТ-отделом до утверждения устава.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5F5A2-4092-4A5E-A6E8-964847D9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9388E-6262-4F3A-8D6A-E36AB55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Куратор и руководитель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1C759-3256-4C9E-83E5-8C852392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 утверждает бюджет, вехи и решение о масштабировании. Администрация должна назначить руководителя проекта и закрепить полномочия.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76607-EDBA-42D8-98FD-40197D4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A6F3F-7E15-492F-8266-D08BA1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B7459-FEBC-4024-92F7-57708666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врач, заведующий кардиологией, ИТ-отдел и медсёстры. Вендор ЛИС не участвует в пилоте, но может консультировать по фазе 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AE368-8913-4266-B6BD-B4439796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Критерии успеха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F5A6C7-756F-4374-8845-29BA9290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F6C24D-F1BB-4F64-9C05-826354E5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43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Время приёма сокращается на 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6C542-00C5-4FC7-BC96-2000470F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743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Система готова к работе в согласованном масштабе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454EC-BB00-4484-AC66-08F0B71E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7437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ПДн защищены, базовые показатели измерены до и после пилота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2585F-ABA7-4F3D-BE6F-5D03622F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Решение о масштабировании принимается отдельно после анализа результатов пилота.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56959-A22C-45D6-AD3D-2638FC5A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6293014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903EF-3FE7-4896-8C57-23145B9C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Противоречия и 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FE6A4-F7FE-4331-9AE5-281FB26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2453D-3618-4CF3-BBF1-8FAED58D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Разночтения брифа переведены в решения и конкретные планы реагирования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51AE4-2D85-4220-BAFC-73C1A5D5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0C483-6D89-4443-8B6B-B5C0ACD2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41272-6A7E-42F9-90CA-B83AAFE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Масштаб и срок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A5C01-7B02-4A80-B431-0D36388E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Бриф: вся больница за 6 месяцев. Решение: пилот в кардиологии за 2 месяца, общебольничная проверка позже.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79847-7F11-4E5A-A492-245735B1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Автозаполнение и ЛИС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D4AEC-4443-4DE0-A450-59BA3F87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ЛИС относится к фазе 2. В пилоте используются предыдущие визиты в МедКарте, врач подтверждает поля, анализы вводятся вручную.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B446B-4D8B-4CDA-B507-87B29766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Цель и исходная база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97D1D-0D23-467D-A04B-746008D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Цель - снижение времени приёма на 20%. Решение: базовый замер до запуска и повторный замер по той же методике.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1CCDA-20C9-458D-AD33-7B1D675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Реестр ключевых рисков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14097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6667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Вероятность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Влияние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План реагирования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Нет исходного замера времени приёма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Собрать базовые данные до запуска и повторить замер по той же методике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увеличит время приёма и ошибки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Оставить обязательные поля, добавить шаблоны и проверку данных врачом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Врачи и медсёстры не примут процесс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Провести обучение, назначить поддержку, отслеживать долю приёмов в системе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Нарушение правил обработки данных пациентов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Средняя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Настроить роли и журнал действий, проверить права доступа до старта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Бюджет и руководитель не согласованы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Утвердить финансирование, назначить руководителя и закрепить полномочия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15A94-DAA3-4911-91EF-26E1EC53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283091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5F66EE-A01F-48BB-8270-DA07E480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BFFCF-3980-438C-8826-248A37B2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A5F9A-F9A5-4F0F-AB8B-D8B1ABD9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влияния, проверка полноты и вопросы для трёх ключевых групп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A2B3F-701A-45FF-9B7A-7AA6CBC1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944E6-819F-4160-807A-CB604763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9EBB4-0CE9-4011-BD70-4753E215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Влияние и заинтересованность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FD8DB-7787-4CD6-9A92-00A6E042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858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20E24-8412-4AD1-95E4-53FB7945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516DD-FE5A-40A2-9B2D-96ECB6FD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DBAAD-DAE7-4564-968B-C31EDAA3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Управлять внимательно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D9F29-59AC-4F9D-8E69-D3551776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и руководитель проекта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МедКарты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F102F-D69D-495E-A5B5-C8A0BD7A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Держать удовлетворёнными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B6CBB-782A-4E7C-9FEA-5AFBEF96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289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Финансово-экономический отдел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Информационная безопасность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6E555-433C-4F04-9434-C631C522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Держать информированными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B5683-0630-41F8-A968-166BE514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Врачи-кардиологи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Медсёстры и регистратура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Пациенты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17300-2381-45D1-AC62-8FA10593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433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Минимальные усилия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61915-BDA6-4B1F-A6E4-DCF3D684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24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ЛИС на этапе пилота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31242-A2AB-41A6-B792-4C557556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Проверка полноты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57058-5014-4821-B1A4-3C84B2DE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6762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075D7-7180-4C55-A6BC-782E351C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1. Финансирование: главный врач и финансовый отдел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ECE85-A1A7-48D4-B06C-52E6C4FD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2. Ежедневные пользователи: кардиологи, медсёстры, регистратура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C87F0-410A-463C-8F6C-97502D3E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3. Поддержка: ИТ-отдел и поставщик МедКарты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1930E-96D5-4849-BE7A-1E8F5FE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4. Блокирующие стороны: спонсор, ИБ, заведующий отделением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49D82-0453-446F-AEE8-EB16FDC9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5. Данные и интеграции: ЛИС и администраторы данных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AC369-2AB1-4D6B-8B6D-3A8C4CD7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6. Косвенно затронуты: пациенты кардиологии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6CAA5-D9A2-44A5-8740-0D89BBC4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Чек-лист добавил финансовый отдел, ИБ, регистратуру и пациентов.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B255A3-5B78-4F4C-A58B-88D2E6BC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Вопросы для ключевых стейкхолдеров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3AE62-8F91-49B6-A0A1-4860D164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Главный врач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358E63-786D-4C3A-ACB3-A86D6978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Что будет провалом пилота даже при снижении времени на 20%?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 каком риске для бюджета или данных вы остановите проект?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BDAB5A-34DA-4AC2-B802-845E019B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59B74E-25DA-4197-8B9E-AB520DCC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Какие изменения вызовут наибольшее сопротивление?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Кто реально определит, будут ли сотрудники пользоваться системой?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B17D38-7B47-4653-8B04-6E09DE00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ИТ-отдел и руководитель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9F01CD-A2D0-471A-ADE1-B7A599EE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Какое условие безопасности может задержать запуск?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Какая зависимость от подрядчика или данных пока не отражена?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ECE2BE-1682-4980-87D1-0E20C09D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918805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110FE-C374-4471-82A8-3842B0FA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Роли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707CD-93AA-455B-80FB-2D1C6EAB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974CC-6A0A-47C4-922D-E3002204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Ответственность на этапе планирования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375B9-7F03-4C56-B410-445433E5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822AD-E085-4430-A115-5741204E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1809750"/>
          <a:ext xmlns:a="http://schemas.openxmlformats.org/drawingml/2006/main" cx="1314450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8620125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Зона ответственности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Менеджер проекта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Алимова Анастасия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Владеет Scope Statement, ведёт WBS-воркшоп, эскалирует спорные пункты спонсору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Бизнес-аналитик / Product Owner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Гусельникова Кристина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Формулирует измеримые критерии приёмки, приоритизирует результаты, снимает противоречия брифа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Технический лид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Базанов Максим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Декомпозирует эпики до Work Package, определяет техническую последовательность и зависимости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Команда разработки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Долотин Артур, Суворов Максим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Оценивает собственные Work Package по трудоёмкости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Спонсор и внешние стейкхолдеры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Утверждают границы Scope In / Scope Out и критерии приёмки, выступают точкой эскалации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BE6DB-8F3E-4097-8F0A-0109F62C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3812914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FAC73-6E30-4BD5-887D-1E72F4D6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Результаты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11A1D-A423-4A96-B68F-F63AA3C6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A3A77-4614-486C-8707-28BA70B0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Шесть проверяемых результатов двухмесячного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AD0F1-ACE9-44EB-818A-E5049934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A0F61-E592-4982-BFA8-40D3A7F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429000"/>
                <a:gridCol w="97155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передаётся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Создание, просмотр и редактирование карты. Шаблоны кардиолога. Автозаполнение из предыдущих визитов с подтверждением врача.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Запись, перенос и отмена. Представления «день / неделя». Фильтр по врачу.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 с валидацией значений и единиц измерения. Прикрепление сканов PDF / JPG.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Роли врача, медсестры и администратора. Журнал доступа, шифрование, резервное копирование, согласованный чек-лист ИБ.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D5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Обучение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 дня очных тренингов для двух групп медсестёр. Инструкция, памятки и зачёт по базовым операциям.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Отчёт по пилоту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Замер времени до и после внедрения. Выводы и рекомендация по масштабированию для главного врача.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B5F1B-339A-476F-AFBC-1FEEA4B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7847896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5AECD-0528-41B0-AF67-92DF01F0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Критерии приёмки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22CA4-84C0-4093-8952-1CCA3BEC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A589C-43DD-41F4-BAE1-71A11F2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Каждый критерий связан со способом измерения и целевым значением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971F8-F7E2-4F24-82F9-8AE8A9E9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070AA-BAB9-42FC-8D64-7F412D10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810250"/>
                <a:gridCol w="4857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измерения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Целевое значение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Сокращение времени приёма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Контрольный замер в последнюю неделю против базы первой недели. Не менее 100 приёмов в каждой выборке.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Среднее время снижено не менее чем на 20%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 предзаполненных полей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Сохранение карты с неподтверждённым автозаполненным полем должно быть технически невозможно.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100% предзаполненных полей требуют явного подтверждения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Готовность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Зачёт по чек-листу базовых операций после тренингов.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 менее 90% медсестёр прошли обучение и сдали зачёт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 ИБ и выгрузка журнала доступа.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Все пункты закрыты, журнал фиксирует 100% операций, 0 инцидентов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Устойчивость работы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Журнал инцидентов за период опытной эксплуатации.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 случаев потери данных, открытие карты не дольше 3 секунд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55FC0-E6C9-4665-82BC-793CF851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2070214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A2B62-1DE7-4523-9942-0E206337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1343A-5541-42CE-A311-B86B5A62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CBD89-CDD1-46D1-A384-F45FDEB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Приоритеты MoSCoW отделяют обязательный пилот от второй фазы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42602-5907-420C-8008-3F91A78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91C5A-E75D-44EB-A85B-42E5959F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C3D60-68E8-49C3-8BD3-6E6C6BCA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409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70FF6-20AA-4479-9DD4-852136BF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 HAVE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290DE-9F04-439F-881E-767FC502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1081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шаблоны кардиолога, автозаполнение с подтверждением врача, расписание, ручной ввод анализов и сканов, защита ПДн, развёртывание в кардиологии, два замера времени, тренинги медсестёр, итоговый отчёт.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53A01-B6ED-4243-8ABF-4F8E5372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409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6A95F-FA0E-4B43-9188-5BD8E27C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SHOULD HAVE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13907-84E1-4630-AFB4-E6DB5F7B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10810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Инструкция и памятки, зачёт после тренингов, представления «день / неделя», фильтр по врачу, валидация значений и единиц измерения.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FAA7E-92C1-4643-AD7B-32C3A8CC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4097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52D99-EC27-4888-A2EC-2332D8FF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 HAVE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AF900-2472-4EE9-9964-B77CE7FD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29175"/>
            <a:ext cx="1081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сверх профиля кардиологии. Сбор обратной связи от врачей внутри системы.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66E97-B75F-49BF-9227-E422A44B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4097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30DC0-FB1A-49F2-9FCF-5815DE72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WON'T HAVE THIS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FC811-DECE-4AE4-ACC5-DC0DB466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1081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 1.2.5, интеграция со страховыми, телемедицина, масштабирование на другие отделения, эффект по всей больнице за 6 месяцев, миграция бумажного архива, мобильное приложение.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2E8C0-AF63-4694-9C43-2ED015A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970651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5E58C1-E67C-4C19-819F-590DA699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Допущения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97858-2534-473A-96EC-1E0B28E1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D1B84-22AF-422E-AB9C-4F1AA028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Условия, без которых пилот нельзя корректно оценить и принять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AB756-BB77-458A-B7C7-132482DB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15AD1-3C64-4C7C-98D0-2D7311F3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F83C6-393D-467B-932C-AFCC7794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Допущения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42B10-3859-4922-B0EE-1DD2FDA2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1D772-700B-4783-8C7F-C0C6538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6667500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AB3F3-D522-4D72-A3D0-29A90B12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6905625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DA42C-954A-4E62-8F65-A275051B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26628-2FB9-45B0-8D4E-103F9AEB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предоставляет серверы, учётные записи и доступ в контур в первую неделю.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5D324-8D14-464A-8E71-F105F50D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98193-EC26-43D8-8F68-E41C09D1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AEBA2-3155-4D72-8239-0CBB3A58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согласовывает график тренингов и выделяет медсестёр двумя группами.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3B4A2-B051-494B-9F8B-4FE508F9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956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F5188-0D11-4623-A3A3-E11B5E98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B07AE-AC9A-43A1-8710-FBF8FFFB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1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Базовый замер времени проходит в первую неделю. Без него цель −20% нельзя подтвердить.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8F9A5-E663-4C1B-90E6-E7AF70ED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BFD97-B7CB-487F-BCBF-979604E8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EC1EC8-9709-4734-B8EA-C810CF8B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5297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Согласия пациентов оформляются по действующей процедуре больницы.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8A654-B436-4202-B360-D322B338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1492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60A8D-3AF8-4D12-8C5A-1138D90F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EA34E-B966-49C8-B04F-D7990DC6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8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Вендор ЛИС не участвует в пилоте. Его участие относится к фазе 2.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62911-E3B1-4D8B-BBD5-CE2A15DE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245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04B3A1-5306-4787-90B1-9DDD8213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0F1F3-C01C-4968-8497-DED51114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722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53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Автозаполнение использует предыдущие визиты внутри МедКарты, а не внешние системы.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9670F-294D-4B1F-8B25-A987A3D3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341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F90853-7FE7-4BFB-985D-8EF96D4E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2A887-FD5C-43BD-AD0D-6BB29EC5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241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Срок: 2 месяца или 40 рабочих дней. Дата окончания не сдвигается.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01B24-EE90-41CF-B341-7D4BAFED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860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3D422C-74D2-4E8C-AC47-E0611A7D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13ACAF-3E57-4861-B9FD-29C96283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337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7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Масштаб: одно отделение и ограниченное число рабочих мест.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80BAD2-A86B-4959-985D-38AC926D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956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E18E10-B09C-4559-ADEF-87A718D6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477ADA-C6F1-4C42-A4AC-44C3DF3D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4335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ПДн обязательны и сокращению не подлежат.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E26194-02F7-46FE-925C-C7B6439F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7617CF-DB89-4EE0-9315-692A9308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ED3C5D-D0E6-4B70-B125-A847195D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5297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Тренинги 6 чел.-дней включены в WBS. Перенос печати в фазу 2 освобождает только 3 чел.-дня.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B976E8-D4C7-4BC1-B705-2523BE71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1492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321501-7FE4-4BD0-BD16-5D270C83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D5858F-D0D7-43BF-B20E-7CA2536C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5626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Лимит: 100 чел.-дней, из них 97 работ и 3 резерва. Использование резерва утверждает спонсор.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BB7370-B788-4924-A771-2D1F278A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9245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3D1486-B9F7-4B50-BB7A-06C8FA55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99411C-02D5-4CBA-AB3B-FE27FF60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3722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Денежный бюджет требует отдельного согласования.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BB28F0-1279-431D-8CBF-D8BCB340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7341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CFF4E0-EDCD-418F-92B8-358C07FA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4421242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592F2-B6C4-48AE-AF83-B9F25575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Исходные данные сетевого плана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988E7-1400-4649-8208-284A6425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F866B-4822-4910-90B6-D3600860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Длительность отражает календарную работу, WBS - трудозатраты в человеко-днях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9CE0E-51BF-4AA8-B2AF-D5BCE419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E101F-A013-40FB-BD36-8E3E8ABC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428750" y="1762125"/>
          <a:ext xmlns:a="http://schemas.openxmlformats.org/drawingml/2006/main" cx="123825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810250"/>
                <a:gridCol w="2476500"/>
                <a:gridCol w="2952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Эпик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Длительность,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Предшественники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B, C, D, E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Опытная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FF97D-7CEF-4235-9376-322C6B1C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29450"/>
            <a:ext cx="1238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8BED5-FC5E-47EC-8ADC-D704116A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1995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Параллельные работы нельзя просто суммировать. Срок проекта определяется сетевыми зависимостями и критическим путём.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B8AFF-CF34-45FF-AF56-C1A424DF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20405469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C465C8-769B-4507-8D3C-CC037E3B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Сетевой график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36ED6-3E71-4FF3-8BA6-8349EA53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C3D72-843D-40A5-AB73-692DF899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Схема предшествования: критический путь и параллельные работы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BD112-5F91-46BF-BAEC-BB7C4A5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A78FD-2BA2-4653-8A2E-EAB964E9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D4D5C-6852-4F41-A407-45D761A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4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54D"/>
          </a:solidFill>
          <a:ln xmlns:a="http://schemas.openxmlformats.org/drawingml/2006/main" w="9525">
            <a:solidFill>
              <a:srgbClr val="1735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D1E8B-83BB-4E1A-A14E-664AA726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338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AEB7D-9492-41AC-B890-10AC9BD0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F8CBC-CFA0-4702-8120-6943496F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E5D9C-5703-4778-8FF8-61A001B3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57575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Подготовка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аналитика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1CEA1-D5CF-4E22-AFBD-D47173E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0050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250DB-D487-4FFF-B948-AE005798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 дн.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66358-0CBF-49BA-99DE-A1FB26F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2432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2775E-228E-418D-AB88-8549F078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1470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A8BC1-56D0-46E0-A454-6EABD33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24BFF-EBB4-4259-8AFA-0363137F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57575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пациента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49FE7-3E2B-471A-9E6A-088556A1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0C177-C0E6-4A03-8667-C64B6A2D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07060-73DB-434A-82F3-B26048A1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2432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A4F5C-F5F5-425F-B5BB-B3A9697F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14700"/>
            <a:ext cx="1809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1C66A-E141-483E-98A2-73C2BA55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9FCEB-A6D9-4B97-B991-3BAF09D5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575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Защита ПДн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доступ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89501-130F-4312-9AB2-BBA52283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148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4FF97-6D71-4E1F-9F08-33FC78E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7 дн.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DB627-1486-47AA-83C0-C366D1D0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243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C0B21-1579-4615-BD9B-8E8F3C9C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11037E-355F-4A4E-B13D-C57CA77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D21FD7-4464-4922-8849-E775A60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575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Развёртывание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обучение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65266-A1C5-4ED1-AAE0-1D35D78E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00500"/>
            <a:ext cx="177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28167-CF57-45B3-B09E-9399B24E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 дн.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49933D-0980-44BE-B727-44A0DC98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24325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BE88E8-0871-498B-BB96-11DA193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14700"/>
            <a:ext cx="204787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23813">
            <a:solidFill>
              <a:srgbClr val="C84E5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8926F9-34EA-41D4-89F6-53254368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57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5B1378-4464-4465-8F33-187B7E5F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575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Эксплуатация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приёмка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E7154D-1153-47E4-8E19-F2F8039C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00500"/>
            <a:ext cx="1724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6E4C21-5C09-46F8-9638-1D619CB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124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6080C5-50C6-4655-A4A5-C1785897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1243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резерв 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23C829-A1F7-49AF-87CF-49D1D71A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3524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5E59"/>
          </a:solidFill>
          <a:ln xmlns:a="http://schemas.openxmlformats.org/drawingml/2006/main" w="9525">
            <a:solidFill>
              <a:srgbClr val="105E5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1C771C-824D-423A-B9A6-02019BB9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37338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AFE6F9-FEBA-468A-BC6E-357AD1C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11430">
            <a:solidFill>
              <a:srgbClr val="AEBCC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E38171-89AB-4265-8B6D-36B9BB27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05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B930BF-4F37-460F-9F8A-32675231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Расписание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приёма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DF2799-0E8C-49C0-B4F2-B930B5BD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47925"/>
            <a:ext cx="158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CAB26D-BE7C-4E72-B232-E3332E6F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71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6 дн.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CEA3A6-6ECC-4CB9-BDA1-BB361CB4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88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резерв 11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B492C4-D7FA-4306-A435-070F2AD9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11430">
            <a:solidFill>
              <a:srgbClr val="AEBCC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552229-B93A-4082-BBD1-485D9950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958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F1CB4A-96BC-4BA8-93AB-6D2890C6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95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Ручной ввод</a:t>
            </a:r>
          </a:p>
          <a:p xmlns:a="http://schemas.openxmlformats.org/drawingml/2006/main">
            <a:pPr algn="l">
              <a:defRPr sz="12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анализов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61F54A-96CC-4762-A294-267B562D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638800"/>
            <a:ext cx="158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9E6D73-9A68-42E9-A90A-AD9E64B9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762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6 дн.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661543-7005-4A6E-BD89-904792B6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62625"/>
            <a:ext cx="88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резерв 1</a:t>
            </a:r>
          </a:p>
        </p:txBody>
      </p:sp>
      <p:cxnSp>
        <p:nvCxnSpPr>
          <p:cNvPr id="119" name=""/>
          <p:cNvCxnSpPr>
            <a:stCxn xmlns:a="http://schemas.openxmlformats.org/drawingml/2006/main" id="6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123950" y="38957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143250" y="38957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1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191125" y="3895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2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381875" y="38957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3" name=""/>
          <p:cNvCxnSpPr>
            <a:stCxn xmlns:a="http://schemas.openxmlformats.org/drawingml/2006/main" id="26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0382250" y="38957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4" name=""/>
          <p:cNvCxnSpPr>
            <a:stCxn xmlns:a="http://schemas.openxmlformats.org/drawingml/2006/main" id="32" idx="3"/>
            <a:endCxn xmlns:a="http://schemas.openxmlformats.org/drawingml/2006/main" id="38" idx="2"/>
          </p:cNvCxnSpPr>
          <p:nvPr/>
        </p:nvCxnSpPr>
        <p:spPr>
          <a:xfrm xmlns:a="http://schemas.openxmlformats.org/drawingml/2006/main">
            <a:off x="12763500" y="389572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E5A"/>
            </a:solidFill>
            <a:prstDash val="solid"/>
            <a:tailEnd type="triangle" w="med" len="med"/>
          </a:ln>
        </p:spPr>
      </p:cxnSp>
      <p:cxnSp>
        <p:nvCxnSpPr>
          <p:cNvPr id="125" name=""/>
          <p:cNvCxnSpPr>
            <a:stCxn xmlns:a="http://schemas.openxmlformats.org/drawingml/2006/main" id="8" idx="0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2286000" y="2343150"/>
            <a:ext cx="3905250" cy="971550"/>
          </a:xfrm>
          <a:prstGeom xmlns:a="http://schemas.openxmlformats.org/drawingml/2006/main" prst="bentConnector5">
            <a:avLst>
              <a:gd name="adj1" fmla="val 0"/>
              <a:gd name="adj2" fmla="val 23529"/>
              <a:gd name="adj3" fmla="val 94146"/>
            </a:avLst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med" len="med"/>
          </a:ln>
        </p:spPr>
      </p:cxnSp>
      <p:cxnSp>
        <p:nvCxnSpPr>
          <p:cNvPr id="126" name=""/>
          <p:cNvCxnSpPr>
            <a:stCxn xmlns:a="http://schemas.openxmlformats.org/drawingml/2006/main" id="14" idx="2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4333875" y="4476750"/>
            <a:ext cx="1857375" cy="1057275"/>
          </a:xfrm>
          <a:prstGeom xmlns:a="http://schemas.openxmlformats.org/drawingml/2006/main" prst="bentConnector5">
            <a:avLst>
              <a:gd name="adj1" fmla="val 0"/>
              <a:gd name="adj2" fmla="val 21622"/>
              <a:gd name="adj3" fmla="val 87692"/>
            </a:avLst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med" len="med"/>
          </a:ln>
        </p:spPr>
      </p:cxnSp>
      <p:cxnSp>
        <p:nvCxnSpPr>
          <p:cNvPr id="127" name=""/>
          <p:cNvCxnSpPr>
            <a:stCxn xmlns:a="http://schemas.openxmlformats.org/drawingml/2006/main" id="40" idx="3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096250" y="2343150"/>
            <a:ext cx="1238250" cy="9715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46" idx="3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8096250" y="4476750"/>
            <a:ext cx="1238250" cy="10572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med" len="me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7E39F4-FC5D-4705-86D9-7236A67B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7055C7-93BA-47CF-8DD7-FC9074B5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96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B6CCCA-82D6-4EFE-83A4-B8F9AE1C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628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E  →  F  →  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54F8A5-7CD9-4B48-A837-8A017D76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162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38 рабочих дней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BB5461-9EE3-42AC-AD19-A9A58B37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896100"/>
            <a:ext cx="661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Транзитивные связи A–D, A–E и B–F не показаны: они не меняют порядок работ. Полная матрица приведена на следующем слайде.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BE58B4-822B-4DBB-BFF8-9F7CA6C4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564460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BD980-95C0-4241-8224-CC160261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Критический путь и резервы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F8587-7FDE-4AA3-A944-16115919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7B6A9-A60A-430E-88FF-9C228DDE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лимите 40 рабочих дней остаётся 2 дня, работа D почти критическая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F19E9-FD57-4563-A7FC-C09E101B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EEC01-F461-4274-B086-9F3AE43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BA481-45CD-4A01-B97F-76C02E3A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4DA94-8219-4513-AF51-400B7144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76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Ключевой вывод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53AD3-8E9D-43B9-AB70-51107C90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527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09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6C476-C166-4693-9534-67DB5124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0512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F8B77-CE40-456D-BDCA-CF333F54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CC6BA-3CC7-415E-9714-59E20D5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CB140-7617-48EE-874D-1879DC2A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767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E  →  F  →  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4115C-8102-4738-884C-61EE30EA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D имеет резерв 1 день.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имеет резерв 11 дней.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 лимита остаётся 2 дня.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E54B5-ABE0-4C4F-BFC2-FEB755C6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C0B35-D6CD-4856-A5F7-C13C7236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Работа D требует контроля: один день задержки делает её критической.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56A95-2588-4E9C-8C62-6CFCC8EE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6487727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A8AE6-A735-4795-AE7A-A0EFEAE0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DSM зависимостей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25817-2565-48FC-91B5-1FC910FA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9F89F-58E3-4F7F-9CE3-C2EB5500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быстрее показывает узлы с большим числом связей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CF9A4-1D1B-4DCD-BAA9-DF3C3291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FC56B-E3AA-4EC4-9D88-4C96D7E9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1162050"/>
                <a:gridCol w="1162050"/>
                <a:gridCol w="1162050"/>
                <a:gridCol w="1162050"/>
                <a:gridCol w="1162050"/>
                <a:gridCol w="1162050"/>
                <a:gridCol w="12192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 / предшественник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  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  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 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C6291-FAD6-436A-8D21-8BAF20B3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29450"/>
            <a:ext cx="1409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92B9A-5FF8-47D4-A71C-7217189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10425"/>
            <a:ext cx="1343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A запускает несколько веток, F собирает их в одну точку интеграции. Сеть лучше показывает последовательность, DSM - концентрацию связей.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DA9A4-ACA7-49CE-B665-3FE10410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9896904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39785-7285-4907-B507-C7228860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Проверка WBS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BE214-93C1-4ABC-A44B-DD0B5CE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25CAA-2370-447B-AEF0-68A8A3E5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Структура переведена из набора действий в проверяемые пакеты работ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7FD7A-56DF-4C2B-9595-4C9C0638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746B5-DFE8-463E-B086-CB126A79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733550"/>
          <a:ext xmlns:a="http://schemas.openxmlformats.org/drawingml/2006/main" cx="14097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524500"/>
                <a:gridCol w="5810250"/>
              </a:tblGrid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исходной WBS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Исправление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Полнота охвата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Работа 1.2.5 фазы 2 оставалась внутри пилота.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Печать вынесена за WBS пилота. Все 97 чел.-дней работ сохранены.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Отсутствие пересечений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Структура карты и шаблоны в 1.1.3 пересекались с реализацией 1.2.3.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1.1.3 - согласованная спецификация. 1.2.3 - реализованные шаблоны.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Декомпозиция по результатам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Уровень Story смешивал действия, результаты и группы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Единая иерархия: пилот, раздел, проверяемый пакет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Управляемость пакетов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 ряда пакетов не был назван конкретный результат или ответственный.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сформулированы явно. Ответственные и оценки указаны у каждого пакета.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8F175-19A8-4879-8155-1E073E23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409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861E1-52C1-4973-A39B-0917D4D0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Перестроен уровень между разделом и пакетом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2C3B0-528A-4ABF-ABEF-BFF2EF42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Было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20A7E-E3F3-451B-90ED-D43FF11E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247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Story: тестирование, печать фазы 2 и тесты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1C2D0-E971-4FA9-97CA-E66D665B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Стало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8125E-44C7-4316-8E5B-45CD9383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067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модель данных, CRUD, шаблоны, автозаполнение, результаты тестирования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77F08-B80A-4D82-AEB5-F373B8B1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9384656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452000-65D2-46DB-A327-A4A667B3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подготовка и основные модули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2C392-BC35-4657-9BA5-F6DB22F9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426F9-F085-49E2-A252-326C7FAE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97 чел.-дней работ. Сроки эпиков взяты из сетевого плана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6654E-2870-4291-8A61-D5C6AC0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B2FAE-1C51-4A2D-9D2A-95948C5E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F431C-AF21-4425-9705-34E08379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55A3E-CE30-4927-B514-80CB92C9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 Подготовка и аналитика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06086-A7E2-428E-BC3B-D816A982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10,3% · срок 5 дней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48141-C4FA-4D92-9797-ED41A3D1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B6D30-80F1-4BBD-A40A-AA52D09A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1.1.1 Интервью и сбор требований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4562D-58FF-42F5-BE22-FDD7E810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8EEE3-8057-4209-BEA8-EF5DA29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F9B8D-168C-4F7C-897E-847F893F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1.1.2 Базовый замер времени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3CF01-84A6-4894-BE29-6926E9EC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 + заведующий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F1109-8C72-4577-9851-10EB1D10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43C47-D3DA-46D5-8006-8D1879F6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1.1.3 Спецификация карты и шаблонов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C5E78-D7BF-4DA5-8EE9-1F0F3BC1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техлид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4DF43-2B68-474E-B44E-09EE8643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890E3-233C-4231-86D6-C1B51393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1.1.4 Тестовый стенд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14E30-5B24-459D-BF07-03CD5B55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ИТ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1C7A9-69A6-44D7-BAF4-F4D47F6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738DA-C814-4E7E-A5B4-55FEE1E2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 Карта пациента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95773-21F8-44EF-9EC1-1D95225D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27,8% · срок 10 дней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35066-FF74-4B51-A0FB-0F0902F4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C15EF-7875-46AB-A4A5-DDEBEB3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1.2.1 Модель данных и схема БД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B669E-490C-4E65-8579-B21FCDC9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9B11C-F081-4E7A-ADBB-4D747238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5CDCB9-60F5-45B8-B331-E12B84A5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1.2.2 CRUD карты пациента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303BA-B4D9-496E-92F9-E7CCC344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480BA7-4601-4F0F-942D-60E3708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534D7B-2AE9-41E5-A22E-3B2A32ED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1.2.3 Шаблоны осмотра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0B38B-BA9F-4B9D-8666-830BD70C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CDC546-BDEE-4319-A944-7E744674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41963D-2BD6-4A84-A196-86DA65F0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1.2.4 Автозаполнение и подтверждение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8F000-473B-48EF-8148-B50A5998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 + Frontend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6FE0D9-2CD0-4683-AC98-1EEB73A1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10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3F5B1B-5F19-43CA-B986-C66F697F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24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1.2.6 Тестирование модуля карты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B42C54-C7A7-44B0-8907-E8D9F51B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724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QA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66A7D-708C-4EE8-9144-DD8C435E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561E37-B430-4857-BC9D-FA778266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 Расписание приёма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1D23B0-9A0C-4F40-B859-677BB2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15,5% · срок 6 дней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CC334B-67B3-4B43-8394-0C45CC1F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92B5C2-ECAA-48BD-B071-E517B567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1.3.1 Модель расписания и слотов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D9E23B-E5CE-42D3-9C11-C18DA668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99C4B9-2497-4DA2-9571-1B1DF045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B93F7A-8DF2-4D28-A37A-B35C5F89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1.3.2 Запись, перенос, отмена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D421C5-F8D3-404D-8686-A81F132E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2891C3-5204-4488-A435-F4088DDA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30FF9F-8F94-4528-ACA3-129D3642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1.3.3 День / неделя и фильтр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C964A2-FA21-4120-A284-216543F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Frontend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2A0015-9EED-4DAC-AACD-FEDE679E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2DF410-60A7-410E-ADDB-A6071D0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1.3.4 Тестирование расписания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7E4410-FC39-473C-BE3E-B3A3376F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QA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49F548-8006-4C54-9C72-D08DC94A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15250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ID 1.2.5 сохранён за работой «Печать и выгрузка выписки», которая относится к фазе 2.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3C16A8-BF54-4ED1-922F-9EE080B6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1362132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D9054E-FF31-451D-82CB-C85D9466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безопасность, внедрение и приёмка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165B2-6484-4E36-BA73-9607EFE5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E1EDA-4D63-406B-8EFA-E00D9FCF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Доли рассчитаны от 97 чел.-дней. Резерв 3 чел.-дня учитывается отдельно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C5AB1-5AD4-47AF-AC40-C23447AC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2D41F-E5DA-4176-8D15-67928BE1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3A28A-820F-4AB3-A9ED-9FA841C8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A104B-9A97-4E2B-989D-0EBBED60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 Ручной ввод анализов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B6395-B66C-47FE-AA63-75BEE56C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BFEDA-E40C-4AAD-9FB7-DE88C86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B6F86-2958-4507-A5CB-7B5A5F3C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1.4.1 Форма ручного ввода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03211-C291-4F5D-83B3-31EEC09E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F737B-6182-47A0-B266-BCB9C8A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9605C-6C08-4ED6-B701-56446FAF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1.4.2 Сканы и хранение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0D25C-FBE3-404E-A982-B3E58D32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618AC-2912-445B-A35F-75817A78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AE702-2E4E-40B9-A718-80424A7E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1.4.3 Валидация значений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C24A2-86CC-41E2-A5D2-919C2C81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93277-16E6-459B-AAC4-62E297AD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23C8F-B597-4247-A2DB-8BAAB128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1.4.4 Тестирование ввода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110A5-5EF6-4CF7-976D-897A4900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CD43F-5D92-4B78-A279-75CECF5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2B1A1-62ED-439E-BC8D-F88DB7F3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 Защита ПДн и доступ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618B6-A855-4FD9-8125-63E880DF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13,4% · срок 7 дней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4C701-E850-4BE0-8CAF-7B653686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38313-A18A-4B32-96F5-3A10DD9B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1.5.1 Ролевая модель доступа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A1C47-5BF1-44DC-8A13-77940C12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25C7D-F817-4857-BA54-90225E37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0FFE6-974F-4C12-84F9-95828D61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1.5.2 Журнал доступа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AADB6-31BA-49DF-9085-9EA24917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E9BBAA-099C-4C6F-A6FF-6AEF6F89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2E90B-B883-4A6E-ACEA-F104F784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1.5.3 Шифрование и резервные копии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511C03-4C49-481E-AD30-903C2631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 + Backend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253F5A-07FD-494D-A39A-B5928B49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D100B9-D2D6-4322-881E-A07C77BC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1.5.4 Проверка требований ПДн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D80801-D626-43C5-9DAD-166136B4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ИТ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73BD29-ECA9-4C42-85A0-45B0C424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EDCD5D-5939-4EC2-AB36-5B3CDE42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 Развёртывание и обучение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5EAD5-BC37-4075-A4C7-DA5895C6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D8D7F2-60AD-42BB-99E2-9A4F01BD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5DD007-D1EE-440B-B3A7-7B9BDC6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1.6.1 Развёртывание в отделении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A466B2-BC49-4740-8D95-A800536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E25BDD-2835-403C-8951-DCF7E14C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E6762C-3A8E-418D-9339-441AB7F5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1.6.2 Инструкция и памятки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ACC48C-C0BD-47F1-B35F-4053E9E2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DC060D-1551-4588-9252-A135C33B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268806-B5CE-4400-A742-E659800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1.6.3 Очные тренинги медсестёр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E4FBB7-C8F8-4001-BA08-32E59655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Команда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C47DD8-F93C-43C8-84A2-959B45A8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BCEE72-A2DA-4F0D-9B3B-91729747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1.6.4 Проверка навыков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CB62E7-11A1-4EB9-A2AC-15F4C61C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БА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5EA881-A89B-485F-A045-1698D23F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EADB99-4886-4625-ACEB-95001320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 Эксплуатация и приёмка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6FBD8E-EE67-49EC-8109-45CE6360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8,2% · срок 10 дней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5115D3-E564-4999-A233-FB62D4D9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06DD96-B999-42EF-ADCE-0236616F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1.7.1 Сопровождение первых двух недель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13D2BE-9CD5-4818-B06B-CB39DEF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Разработка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917D4F-468C-45F7-B1F1-4AE63E16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7466FB-4272-4F54-9BD9-0A8EB4DC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1.7.2 Контрольный замер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C7B81B-AFD2-4B22-8403-8CEFDEA5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5E77CA-0F54-4281-B48A-F4FF678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F08C88-6D2C-4E8F-9394-69BAC3B7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1.7.3 Итоговый отчёт и рекомендации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06327B-3520-4C24-A84B-2C14EA8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PM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DB321F-62AB-493A-A3E1-161F50D2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3A3207-46DC-4BC4-88E5-CFC82B0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1.7.4 Приёмочная встреча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96E20E-F5EB-4151-81D8-A6908EC1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PM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0D61EC-EF28-438E-98D2-AB5FF778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701810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B1730-D722-4AA2-B206-CDADB8E7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Уточнение оценок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E7D09-A761-425F-9197-E1657F8E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AD75C-DFBD-4A33-A16A-0C4137E4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Пересмотр четырёх работ проверяет устойчивость критического пути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D691C-B2F6-462A-B0E8-1A85464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2236D-76C3-4768-80F9-DEAF3CFE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1143000" y="1809750"/>
          <a:ext xmlns:a="http://schemas.openxmlformats.org/drawingml/2006/main" cx="12954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5524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Было,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Причина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компонентов можно использовать повторно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Используются готовые механизмы больничной инфраструктуры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Недооценена работа со сканами и валидацией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Потребовалась дополнительная настройка фильтров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D3FA0-D5DB-49B7-95A7-A396C41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7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Почему выбраны эти работы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EB099-D850-4260-94B1-172DA4C9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38875"/>
            <a:ext cx="12954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D285B-85E8-44C7-AA49-C377F9DA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96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B и 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D0FFE-36BD-44F1-9D25-8A4DA413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96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критические работы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B7B26-2B95-44A6-A348-84670CBA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590C6-AE48-4603-B083-7F022890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4960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почти критическая, исходный резерв 1 день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AF7F8-0331-4A9F-AB14-7028CCEE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573E5-6DB8-44A5-B6CB-5E3DA042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некритическая, резерв 11 дней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B810B-CBDD-46B7-9966-5DC7E4B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48500"/>
            <a:ext cx="1219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сети только одна почти критическая работа. C включена для проверки чувствительности плана.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9338A-6CC2-4CC6-8454-23B3A84D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51939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07A3F-1F47-435E-BDF1-116EFCC8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Пересчёт сроков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B2BA8-73E1-4A13-9B24-27C071DE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1162D-37AC-4D1E-BA9C-0118E7A8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Срок остался 38 дней, но критическая ветка сместилась с E на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1DC15-4E7E-4931-95D1-C847231F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3C6F9-8938-4810-8466-D89E7F8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73911-CA1C-484F-A9A4-7DB67D5F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0564D-3D8F-45E1-A4F0-68EFB1DC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Новый критический путь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B825D-02A5-4F14-B8FB-6B3EA228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D  →  F  →  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35A17-065B-4D64-A77E-4ECA2C1F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46CB6-B7AF-45DE-9158-CE706601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6ECBA-39E7-4D8D-8EBF-82FB7D62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19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DA2F2-C92D-414F-8DE3-30569FFD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E получает резерв 2 дня.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сохраняет резерв 10 дней.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Изменившиеся значения выделены цветом.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87C56-66DB-45FD-AD2B-84B8296D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C012F-36C0-4500-8105-9BF043B5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Сокращение B и E не уменьшило общий срок: рост D поглотил выигрыш и изменил приоритет контроля.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BDFC4-1FD5-414D-9A60-370651D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4401604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482C7-DA24-4345-B783-AC83496E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Итерации и переделки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1E16A-259F-4BE6-81D2-AB74FAF6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D903E-AA33-475B-9C5F-632C3696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Обратная связь меняет оценки и критический путь даже при неизменном сроке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2F759-8513-41FF-A838-ADD9BECC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013BC-FC74-4309-9801-EB1C15AC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9629C-8B1F-4868-8B25-D29CFF02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54D"/>
          </a:solidFill>
          <a:ln xmlns:a="http://schemas.openxmlformats.org/drawingml/2006/main" w="9525">
            <a:solidFill>
              <a:srgbClr val="1735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4FBAF-AC4D-45E6-8A68-94428C3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343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«Классический PM плохо учитывает итерации и переделки»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CD081-958B-453A-AAC5-8A621D88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C9FA-CF02-4689-87B6-D7F7426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Значение для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DBF93-0F38-4C4D-B18B-184B3D0F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 и медсёстры проверяют формы в работе. После обратной связи могут потребоваться изменения шаблонов, фильтров и проверки результатов анализов.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8B60B-10A8-42EB-8864-E5ACC94D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964FA-92B7-4A69-A624-5368651F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Результат уточнения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5952F-0A65-4B41-8D52-D29CC93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Сокращение B и E на один день не сократило срок: D выросла с 6 до 8 дней и стала критической. При том же сроке 38 дней изменился приоритет контроля.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31BD7-C7AC-4A6E-8F0E-A494EABC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2C058-7D69-424F-AE21-CE52567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62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Управление изменениями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EFB2D-A13A-470A-A1B0-EDDECCD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341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демонстраций оценки и критический путь уточняются. Изменения фиксируются, повторно проверяются и согласуются со спонсором по влиянию на срок и резерв.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AF4D1-92AC-4F0E-97A9-E6443B18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2730338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7383A-DA80-4726-9E49-4122B10C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Контрольная точка EVM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207CF-83A3-4BD8-84DD-B3C740AB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CA42C-201B-4078-A61F-2FA2D41E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Учебные данные семинара 8 для пилота «МедКарта»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FFA45-3634-4072-91FC-8B4786E6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5169B-13BA-432E-AB05-1552E39A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BE7B2-6920-472D-9DBD-711E5842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9B0A2-EB37-40B1-8C44-D40E65C0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Новое вводное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46B66-916D-4415-9E67-AC692B80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задержал согласование обучения медсестёр. Пилот отстаёт, дополнительные консультации увеличили расходы.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71500" y="2762250"/>
          <a:ext xmlns:a="http://schemas.openxmlformats.org/drawingml/2006/main" cx="61912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7813"/>
                <a:gridCol w="1547813"/>
                <a:gridCol w="1547813"/>
                <a:gridCol w="1547813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143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7239000" y="2714625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59d0677a8e434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A7BAB-DF9C-4F00-A6F1-E264BC20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6191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550E8-88ED-4BAD-8C5E-BB07199F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Первичный диагноз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A82AE-038C-4863-AB68-A4901241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EV ниже PV на 30 000 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8BD25-C851-4E8E-A07D-4E0D2936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AC выше EV на 20 000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37F43-336B-4665-85CD-337501B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0"/>
            <a:ext cx="1409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SV измеряется в рублях плановой стоимости, а не в календарных днях.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50B35-EDAC-4113-AF1F-564D868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14743419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7F32B-5A86-41EE-9ECB-0F17AE7A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Расчёт EVM: отставание и перерасход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CCCB9-B196-49CB-8067-91AFA596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2B8B0-C506-421A-B3DB-D3F38D65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Все восемь показателей рассчитаны для исходного BAC 250 000 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F59EB-9704-4D02-8C94-5C870857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ED78C-DD09-4CA3-BB46-B11DB00B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47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48000"/>
                <a:gridCol w="2381250"/>
                <a:gridCol w="695325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Формула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Интерпретация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AC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−20 000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Перерасход на контрольную дату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PV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−30 000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меньше плана; показатель выражен в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AC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86 коп. плановой ценности на 1 ₽ затрат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PV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0,80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80% планового объёма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/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291 667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 итоговой стоимости при сохранении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VAC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− 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−41 667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Прогнозный перерасход относительно BAC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ETC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 − 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Ожидаемые затраты до завершения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(BAC − EV) / (BAC − AC)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1,18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Остаток работ требует эффективности на 18% выше плана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69772-9CBA-4EFE-978A-697D4EEC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48550"/>
            <a:ext cx="1409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CEB59-4192-4E72-BCD2-5FF19F2E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914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Диагноз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D4272-F56E-4725-863E-31509BDC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562850"/>
            <a:ext cx="1209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Проект отстаёт по объёму и превышает бюджет. При текущей эффективности прогнозный перерасход составляет 41 667 ₽.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70FA8-CBF7-4763-9BF6-ED0D27F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13586496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D79FB-D491-46AB-A500-524F85C2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Управленческое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23B13-F0A5-43FD-A977-C847FBA4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7B0AA-838D-463C-963F-C9154E42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Корректирующие действия сохраняют требования к безопасности и приёмке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4B393-047A-4B6A-A12D-FF73F913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7193A-9B9F-404F-860F-30B51FAD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16131-2A8C-4BA0-8A3A-D8D973AF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30BC8-671C-46F5-93C6-D7F29403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Причина отклонений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63E56-2A0D-453B-A4CC-AF876C8E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050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Задержка согласования обучения снизила EV относительно плана, дополнительные консультации увеличили AC.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88D91-2456-4C93-B30F-5AED0460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Рекомендуемые действия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BDA09-C5C2-4AB6-AB25-DEBFBA26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A1C96-F9BA-4498-80E0-C37CE67C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7F5C3-53E5-4A31-9D5B-5EE6A525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Зафиксировать решение по обучению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129DC-2034-47F0-9C5A-278DC5DE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Назначить одного согласующего, заместителя и дату обучения. Убрать повторные согласования программы.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0717C-2DC4-43DF-85DC-909C179B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DB5B9-B588-4420-AED1-764B5249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Оформить изменение базового плана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B2027-B345-4075-AB64-71AF07D0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7207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Вынести спонсору EAC 291 667 ₽: увеличить BAC на 41 667 ₽ или сократить только некритичный объём.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13B18-CB07-4B54-B67F-88D8CE5E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483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7F936-B8C5-4789-9669-37DEED71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Контролировать восстановление еженедельно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8D0A0-2D50-4F9E-A93D-C56FD2C4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103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Повторять PV, EV и AC по правилу 0/50/100. Не сокращать защиту данных, тестирование и критерий обучения 90%.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610A2-C1FE-4CD3-A0F2-5859BDFB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Риски решения и меры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7715250" y="325755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81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нивелировать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Согласование снова сдвигается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Срок ответа, заместитель согласующего и календарь обучения, утверждённый спонсором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Ускорение ухудшит подготовку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3 дня тренингов и порог приёмки: 90% медсестёр сдали зачёт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Консультации увеличат AC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Ограничить часы, согласовать фиксированный пакет, превышения проводить через запрос на изменение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 1,18 недостижим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Пересмотреть BAC или срок решением спонсора, не скрывать сокращение объёма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95197-AC31-4B9E-BCF0-4CF65FE0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409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9036D-4A5A-47D4-BC44-A1A9C0C9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8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Контроль через неделю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15A06-590D-48BD-AEAC-20077EA3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4580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Если CPI или SPI остаются ниже 0,90, спонсор утверждает новый бюджет или срок.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9B3DF-CB49-432D-8C3D-134FAC74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1825012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2026-09-22T12:23:18.9920000Z</dcterms:created>
  <dcterms:modified xsi:type="dcterms:W3CDTF">2026-09-22T12:23:18.9920000Z</dcterms:modified>
</coreProperties>
</file>