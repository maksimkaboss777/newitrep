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540ff37e044d9d" /><Relationship Type="http://schemas.openxmlformats.org/officeDocument/2006/relationships/extended-properties" Target="/docProps/app.xml" Id="R78522c3c48e24864" /><Relationship Type="http://schemas.openxmlformats.org/officeDocument/2006/relationships/officeDocument" Target="/ppt/presentation.xml" Id="Rc61c39eaf700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1e446448a4367"/>
  </p:sldMasterIdLst>
  <p:notesMasterIdLst>
    <p:notesMasterId xmlns:r="http://schemas.openxmlformats.org/officeDocument/2006/relationships" r:id="Rc2f8511959e44cab"/>
  </p:notesMasterIdLst>
  <p:sldIdLst>
    <p:sldId xmlns:r="http://schemas.openxmlformats.org/officeDocument/2006/relationships" id="256" r:id="Rbcc36c94128845e9"/>
    <p:sldId xmlns:r="http://schemas.openxmlformats.org/officeDocument/2006/relationships" id="257" r:id="R29da88f8fd6343c5"/>
    <p:sldId xmlns:r="http://schemas.openxmlformats.org/officeDocument/2006/relationships" id="258" r:id="Rce96580f326e4a95"/>
    <p:sldId xmlns:r="http://schemas.openxmlformats.org/officeDocument/2006/relationships" id="259" r:id="Rabe2ab3c7771455e"/>
    <p:sldId xmlns:r="http://schemas.openxmlformats.org/officeDocument/2006/relationships" id="260" r:id="R5a824478f981469e"/>
    <p:sldId xmlns:r="http://schemas.openxmlformats.org/officeDocument/2006/relationships" id="261" r:id="Rdfa5a11887a64527"/>
    <p:sldId xmlns:r="http://schemas.openxmlformats.org/officeDocument/2006/relationships" id="262" r:id="R63dd3c01bde746c4"/>
    <p:sldId xmlns:r="http://schemas.openxmlformats.org/officeDocument/2006/relationships" id="263" r:id="Rb088018db76d4027"/>
    <p:sldId xmlns:r="http://schemas.openxmlformats.org/officeDocument/2006/relationships" id="264" r:id="R5350aac6f62044b2"/>
    <p:sldId xmlns:r="http://schemas.openxmlformats.org/officeDocument/2006/relationships" id="265" r:id="Rf00ba03a048e42fd"/>
    <p:sldId xmlns:r="http://schemas.openxmlformats.org/officeDocument/2006/relationships" id="266" r:id="Rd270a9d7d0344516"/>
    <p:sldId xmlns:r="http://schemas.openxmlformats.org/officeDocument/2006/relationships" id="267" r:id="R543893949af44fcc"/>
    <p:sldId xmlns:r="http://schemas.openxmlformats.org/officeDocument/2006/relationships" id="268" r:id="R4f56ae0e01dd49b0"/>
    <p:sldId xmlns:r="http://schemas.openxmlformats.org/officeDocument/2006/relationships" id="269" r:id="R81d8b99d79984979"/>
    <p:sldId xmlns:r="http://schemas.openxmlformats.org/officeDocument/2006/relationships" id="270" r:id="R2fe367288fd74014"/>
    <p:sldId xmlns:r="http://schemas.openxmlformats.org/officeDocument/2006/relationships" id="271" r:id="Rf8851b0e57ad40b6"/>
    <p:sldId xmlns:r="http://schemas.openxmlformats.org/officeDocument/2006/relationships" id="272" r:id="R9dfbea9b17f84254"/>
    <p:sldId xmlns:r="http://schemas.openxmlformats.org/officeDocument/2006/relationships" id="273" r:id="R04c5a81a12434a30"/>
    <p:sldId xmlns:r="http://schemas.openxmlformats.org/officeDocument/2006/relationships" id="274" r:id="R5c7e27977c54412f"/>
    <p:sldId xmlns:r="http://schemas.openxmlformats.org/officeDocument/2006/relationships" id="275" r:id="R2ecb44ca27534b37"/>
    <p:sldId xmlns:r="http://schemas.openxmlformats.org/officeDocument/2006/relationships" id="276" r:id="R0e34af68c76d48f8"/>
    <p:sldId xmlns:r="http://schemas.openxmlformats.org/officeDocument/2006/relationships" id="277" r:id="Rfd415341dcdd419d"/>
    <p:sldId xmlns:r="http://schemas.openxmlformats.org/officeDocument/2006/relationships" id="278" r:id="R9ca62434b9e04ada"/>
    <p:sldId xmlns:r="http://schemas.openxmlformats.org/officeDocument/2006/relationships" id="279" r:id="Rb0b1b7f7c6084986"/>
    <p:sldId xmlns:r="http://schemas.openxmlformats.org/officeDocument/2006/relationships" id="280" r:id="R8e1295bf47c3488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88aba651c4b0c" /><Relationship Type="http://schemas.openxmlformats.org/officeDocument/2006/relationships/slideMaster" Target="/ppt/slideMasters/slideMaster1.xml" Id="R32c1e446448a4367" /><Relationship Type="http://schemas.openxmlformats.org/officeDocument/2006/relationships/notesMaster" Target="/ppt/notesMasters/notesMaster1.xml" Id="Rc2f8511959e44cab" /><Relationship Type="http://schemas.openxmlformats.org/officeDocument/2006/relationships/presProps" Target="/ppt/presProps.xml" Id="R39eed53b122f408a" /><Relationship Type="http://schemas.openxmlformats.org/officeDocument/2006/relationships/tableStyles" Target="/ppt/tableStyles.xml" Id="R89d3327564444e34" /><Relationship Type="http://schemas.openxmlformats.org/officeDocument/2006/relationships/slide" Target="/ppt/slides/slide1.xml" Id="Rbcc36c94128845e9" /><Relationship Type="http://schemas.openxmlformats.org/officeDocument/2006/relationships/slide" Target="/ppt/slides/slide2.xml" Id="R29da88f8fd6343c5" /><Relationship Type="http://schemas.openxmlformats.org/officeDocument/2006/relationships/slide" Target="/ppt/slides/slide3.xml" Id="Rce96580f326e4a95" /><Relationship Type="http://schemas.openxmlformats.org/officeDocument/2006/relationships/slide" Target="/ppt/slides/slide4.xml" Id="Rabe2ab3c7771455e" /><Relationship Type="http://schemas.openxmlformats.org/officeDocument/2006/relationships/slide" Target="/ppt/slides/slide5.xml" Id="R5a824478f981469e" /><Relationship Type="http://schemas.openxmlformats.org/officeDocument/2006/relationships/slide" Target="/ppt/slides/slide6.xml" Id="Rdfa5a11887a64527" /><Relationship Type="http://schemas.openxmlformats.org/officeDocument/2006/relationships/slide" Target="/ppt/slides/slide7.xml" Id="R63dd3c01bde746c4" /><Relationship Type="http://schemas.openxmlformats.org/officeDocument/2006/relationships/slide" Target="/ppt/slides/slide8.xml" Id="Rb088018db76d4027" /><Relationship Type="http://schemas.openxmlformats.org/officeDocument/2006/relationships/slide" Target="/ppt/slides/slide9.xml" Id="R5350aac6f62044b2" /><Relationship Type="http://schemas.openxmlformats.org/officeDocument/2006/relationships/slide" Target="/ppt/slides/slide10.xml" Id="Rf00ba03a048e42fd" /><Relationship Type="http://schemas.openxmlformats.org/officeDocument/2006/relationships/slide" Target="/ppt/slides/slide11.xml" Id="Rd270a9d7d0344516" /><Relationship Type="http://schemas.openxmlformats.org/officeDocument/2006/relationships/slide" Target="/ppt/slides/slide12.xml" Id="R543893949af44fcc" /><Relationship Type="http://schemas.openxmlformats.org/officeDocument/2006/relationships/slide" Target="/ppt/slides/slide13.xml" Id="R4f56ae0e01dd49b0" /><Relationship Type="http://schemas.openxmlformats.org/officeDocument/2006/relationships/slide" Target="/ppt/slides/slide14.xml" Id="R81d8b99d79984979" /><Relationship Type="http://schemas.openxmlformats.org/officeDocument/2006/relationships/slide" Target="/ppt/slides/slide15.xml" Id="R2fe367288fd74014" /><Relationship Type="http://schemas.openxmlformats.org/officeDocument/2006/relationships/slide" Target="/ppt/slides/slide16.xml" Id="Rf8851b0e57ad40b6" /><Relationship Type="http://schemas.openxmlformats.org/officeDocument/2006/relationships/slide" Target="/ppt/slides/slide17.xml" Id="R9dfbea9b17f84254" /><Relationship Type="http://schemas.openxmlformats.org/officeDocument/2006/relationships/slide" Target="/ppt/slides/slide18.xml" Id="R04c5a81a12434a30" /><Relationship Type="http://schemas.openxmlformats.org/officeDocument/2006/relationships/slide" Target="/ppt/slides/slide19.xml" Id="R5c7e27977c54412f" /><Relationship Type="http://schemas.openxmlformats.org/officeDocument/2006/relationships/slide" Target="/ppt/slides/slide20.xml" Id="R2ecb44ca27534b37" /><Relationship Type="http://schemas.openxmlformats.org/officeDocument/2006/relationships/slide" Target="/ppt/slides/slide21.xml" Id="R0e34af68c76d48f8" /><Relationship Type="http://schemas.openxmlformats.org/officeDocument/2006/relationships/slide" Target="/ppt/slides/slide22.xml" Id="Rfd415341dcdd419d" /><Relationship Type="http://schemas.openxmlformats.org/officeDocument/2006/relationships/slide" Target="/ppt/slides/slide23.xml" Id="R9ca62434b9e04ada" /><Relationship Type="http://schemas.openxmlformats.org/officeDocument/2006/relationships/slide" Target="/ppt/slides/slide24.xml" Id="Rb0b1b7f7c6084986" /><Relationship Type="http://schemas.openxmlformats.org/officeDocument/2006/relationships/slide" Target="/ppt/slides/slide25.xml" Id="R8e1295bf47c3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10c25955c4e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7484c4e49640f1" /><Relationship Type="http://schemas.openxmlformats.org/officeDocument/2006/relationships/notesMaster" Target="/ppt/notesMasters/notesMaster1.xml" Id="R66cf59340430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1c63e998b64ed1" /><Relationship Type="http://schemas.openxmlformats.org/officeDocument/2006/relationships/notesMaster" Target="/ppt/notesMasters/notesMaster1.xml" Id="R4eecbe199b1647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7083ad2cfd485e" /><Relationship Type="http://schemas.openxmlformats.org/officeDocument/2006/relationships/notesMaster" Target="/ppt/notesMasters/notesMaster1.xml" Id="R47f643f9ef8d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0f73b981014ad2" /><Relationship Type="http://schemas.openxmlformats.org/officeDocument/2006/relationships/notesMaster" Target="/ppt/notesMasters/notesMaster1.xml" Id="R2da15db796354c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ca12cea4da4e31" /><Relationship Type="http://schemas.openxmlformats.org/officeDocument/2006/relationships/notesMaster" Target="/ppt/notesMasters/notesMaster1.xml" Id="R0d8c9c24c9654a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ce178a86534386" /><Relationship Type="http://schemas.openxmlformats.org/officeDocument/2006/relationships/notesMaster" Target="/ppt/notesMasters/notesMaster1.xml" Id="R93a68ce3614d45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7670359e5642b0" /><Relationship Type="http://schemas.openxmlformats.org/officeDocument/2006/relationships/notesMaster" Target="/ppt/notesMasters/notesMaster1.xml" Id="Rd022267b883b4c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09d7ae72d48c2" /><Relationship Type="http://schemas.openxmlformats.org/officeDocument/2006/relationships/notesMaster" Target="/ppt/notesMasters/notesMaster1.xml" Id="Rb1712341946d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cad913d2dd4707" /><Relationship Type="http://schemas.openxmlformats.org/officeDocument/2006/relationships/notesMaster" Target="/ppt/notesMasters/notesMaster1.xml" Id="R4a382431d2b7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a2b1ffdfc4f0c" /><Relationship Type="http://schemas.openxmlformats.org/officeDocument/2006/relationships/notesMaster" Target="/ppt/notesMasters/notesMaster1.xml" Id="R5761c68a29f048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1d2892b6de4e36" /><Relationship Type="http://schemas.openxmlformats.org/officeDocument/2006/relationships/notesMaster" Target="/ppt/notesMasters/notesMaster1.xml" Id="R22ceafba422342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0df54fd8c14d32" /><Relationship Type="http://schemas.openxmlformats.org/officeDocument/2006/relationships/notesMaster" Target="/ppt/notesMasters/notesMaster1.xml" Id="Ref1a6db31ac941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efe3dbb70940d3" /><Relationship Type="http://schemas.openxmlformats.org/officeDocument/2006/relationships/notesMaster" Target="/ppt/notesMasters/notesMaster1.xml" Id="R4e7ee938516341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5c8bfa2c2c4b63" /><Relationship Type="http://schemas.openxmlformats.org/officeDocument/2006/relationships/notesMaster" Target="/ppt/notesMasters/notesMaster1.xml" Id="R4f9d39901f7241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7014b7088f48f2" /><Relationship Type="http://schemas.openxmlformats.org/officeDocument/2006/relationships/notesMaster" Target="/ppt/notesMasters/notesMaster1.xml" Id="Ra93fd7141b864b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b930d59d7147e9" /><Relationship Type="http://schemas.openxmlformats.org/officeDocument/2006/relationships/notesMaster" Target="/ppt/notesMasters/notesMaster1.xml" Id="R90122483f2da4b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305cc7a5054c3d" /><Relationship Type="http://schemas.openxmlformats.org/officeDocument/2006/relationships/notesMaster" Target="/ppt/notesMasters/notesMaster1.xml" Id="Rc046ed391ad94c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7a2ea864714ba8" /><Relationship Type="http://schemas.openxmlformats.org/officeDocument/2006/relationships/notesMaster" Target="/ppt/notesMasters/notesMaster1.xml" Id="R77a0cdf2dafc42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a10b95631b40ff" /><Relationship Type="http://schemas.openxmlformats.org/officeDocument/2006/relationships/notesMaster" Target="/ppt/notesMasters/notesMaster1.xml" Id="Rd34a5963228f4f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8228b85ba845f2" /><Relationship Type="http://schemas.openxmlformats.org/officeDocument/2006/relationships/notesMaster" Target="/ppt/notesMasters/notesMaster1.xml" Id="R0b875a5c919048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2eb9d8b4164fc0" /><Relationship Type="http://schemas.openxmlformats.org/officeDocument/2006/relationships/notesMaster" Target="/ppt/notesMasters/notesMaster1.xml" Id="R85401ff66cd142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84f6a770614ac0" /><Relationship Type="http://schemas.openxmlformats.org/officeDocument/2006/relationships/notesMaster" Target="/ppt/notesMasters/notesMaster1.xml" Id="R355c72c3d7e24a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cf102eb3814364" /><Relationship Type="http://schemas.openxmlformats.org/officeDocument/2006/relationships/notesMaster" Target="/ppt/notesMasters/notesMaster1.xml" Id="R184cabc3f1ae49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42e7e08b94f4dab" /><Relationship Type="http://schemas.openxmlformats.org/officeDocument/2006/relationships/notesMaster" Target="/ppt/notesMasters/notesMaster1.xml" Id="Re07b30c4c7c84a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781e0ab3474ee6" /><Relationship Type="http://schemas.openxmlformats.org/officeDocument/2006/relationships/notesMaster" Target="/ppt/notesMasters/notesMaster1.xml" Id="R04d448e88ff0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иллюстративное изображение создано с помощью OpenAI Image Generation. Изображение не содержит реальных пациентов или медицинских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перенесено из исходного слайда «Методология». Формулировки сокращены без изменения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сохранено из исходной 3D-диагностики. Итоговая оценка: 7/9.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семинар 8, задание команды 3. BAC 250 000 ₽, PV 150 000 ₽, EV 120 000 ₽, AC 140 000 ₽. Диаграмма показывает значения на контрольную дату, не динамику во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Индексы округлены до двух знаков, денежные значения до целого рубля. EAC = BAC / CPI. TCPI рассчитан для исходного 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 0,90 взят из материалов семинара 8. Сокращение требований безопасности и критериев приёмки не предлагается.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ac7e163874e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92da15b6654e8d" /><Relationship Type="http://schemas.openxmlformats.org/officeDocument/2006/relationships/slideLayout" Target="/ppt/slideLayouts/slideLayout1.xml" Id="R8e8d1dc3165c45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8d1dc3165c45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7f280b5cf4602" /><Relationship Type="http://schemas.openxmlformats.org/officeDocument/2006/relationships/image" Target="/ppt/media/image.png" Id="R8bdd495df94c4862" /><Relationship Type="http://schemas.openxmlformats.org/officeDocument/2006/relationships/notesSlide" Target="/ppt/notesSlides/notesSlide1.xml" Id="R38862546756248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168c68d544087" /><Relationship Type="http://schemas.openxmlformats.org/officeDocument/2006/relationships/notesSlide" Target="/ppt/notesSlides/notesSlide2.xml" Id="R0056d56ed11b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e850a2614490b" /><Relationship Type="http://schemas.openxmlformats.org/officeDocument/2006/relationships/notesSlide" Target="/ppt/notesSlides/notesSlide3.xml" Id="R6e7629c772ef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a2c87b60b4342" /><Relationship Type="http://schemas.openxmlformats.org/officeDocument/2006/relationships/notesSlide" Target="/ppt/notesSlides/notesSlide4.xml" Id="R2a6f7426a0e1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fc54891c24f71" /><Relationship Type="http://schemas.openxmlformats.org/officeDocument/2006/relationships/notesSlide" Target="/ppt/notesSlides/notesSlide5.xml" Id="R978a9d326cc14d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2420be7f54766" /><Relationship Type="http://schemas.openxmlformats.org/officeDocument/2006/relationships/notesSlide" Target="/ppt/notesSlides/notesSlide6.xml" Id="Re23d1688de7249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66f860baf45af" /><Relationship Type="http://schemas.openxmlformats.org/officeDocument/2006/relationships/notesSlide" Target="/ppt/notesSlides/notesSlide7.xml" Id="R96447b0a14534a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619d7b8f34a72" /><Relationship Type="http://schemas.openxmlformats.org/officeDocument/2006/relationships/notesSlide" Target="/ppt/notesSlides/notesSlide8.xml" Id="R856589f8808747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cf69c44d41ee" /><Relationship Type="http://schemas.openxmlformats.org/officeDocument/2006/relationships/notesSlide" Target="/ppt/notesSlides/notesSlide9.xml" Id="R80d460cb9cd14c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46aff51424c03" /><Relationship Type="http://schemas.openxmlformats.org/officeDocument/2006/relationships/notesSlide" Target="/ppt/notesSlides/notesSlide10.xml" Id="Ref3b5e4dcf7f44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f9c821a524c60" /><Relationship Type="http://schemas.openxmlformats.org/officeDocument/2006/relationships/notesSlide" Target="/ppt/notesSlides/notesSlide11.xml" Id="Rc48a8a5369f54d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9d6189b2043cf" /><Relationship Type="http://schemas.openxmlformats.org/officeDocument/2006/relationships/notesSlide" Target="/ppt/notesSlides/notesSlide12.xml" Id="Rd27e56c24a4846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ddd5bd15b46a4" /><Relationship Type="http://schemas.openxmlformats.org/officeDocument/2006/relationships/notesSlide" Target="/ppt/notesSlides/notesSlide13.xml" Id="Ra021b1c3984940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c629fdf264d97" /><Relationship Type="http://schemas.openxmlformats.org/officeDocument/2006/relationships/notesSlide" Target="/ppt/notesSlides/notesSlide14.xml" Id="R5fb35ec11c5c4d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0509622b84fe6" /><Relationship Type="http://schemas.openxmlformats.org/officeDocument/2006/relationships/notesSlide" Target="/ppt/notesSlides/notesSlide15.xml" Id="Rc9e84c73d27d42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40f056544d55" /><Relationship Type="http://schemas.openxmlformats.org/officeDocument/2006/relationships/notesSlide" Target="/ppt/notesSlides/notesSlide16.xml" Id="Rddabadd18cc24a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588e824145ca" /><Relationship Type="http://schemas.openxmlformats.org/officeDocument/2006/relationships/notesSlide" Target="/ppt/notesSlides/notesSlide17.xml" Id="Rdfe9873fb44a4d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e0e4fc7e14b3d" /><Relationship Type="http://schemas.openxmlformats.org/officeDocument/2006/relationships/notesSlide" Target="/ppt/notesSlides/notesSlide18.xml" Id="R55f80b91ff704d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11c4a7f224019" /><Relationship Type="http://schemas.openxmlformats.org/officeDocument/2006/relationships/notesSlide" Target="/ppt/notesSlides/notesSlide19.xml" Id="Rddf3b466232345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b40d4d2f4816" /><Relationship Type="http://schemas.openxmlformats.org/officeDocument/2006/relationships/notesSlide" Target="/ppt/notesSlides/notesSlide20.xml" Id="Rb13114649dfb4b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b4f201664d04" /><Relationship Type="http://schemas.openxmlformats.org/officeDocument/2006/relationships/notesSlide" Target="/ppt/notesSlides/notesSlide21.xml" Id="R12948679f15045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c70aaca8b4365" /><Relationship Type="http://schemas.openxmlformats.org/officeDocument/2006/relationships/notesSlide" Target="/ppt/notesSlides/notesSlide22.xml" Id="R7e1026f3f44447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7c72e8cd4fa8" /><Relationship Type="http://schemas.openxmlformats.org/officeDocument/2006/relationships/chart" Target="/ppt/slides/charts/chart1.xml" Id="Rb651110b33e44b9e" /><Relationship Type="http://schemas.openxmlformats.org/officeDocument/2006/relationships/notesSlide" Target="/ppt/notesSlides/notesSlide23.xml" Id="Redac38fbe05845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70e0204dd4d7a" /><Relationship Type="http://schemas.openxmlformats.org/officeDocument/2006/relationships/notesSlide" Target="/ppt/notesSlides/notesSlide24.xml" Id="Recf586d3c8df4d3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1951862e04eb8" /><Relationship Type="http://schemas.openxmlformats.org/officeDocument/2006/relationships/notesSlide" Target="/ppt/notesSlides/notesSlide25.xml" Id="R50e10173f1ce4e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Стоимость на контрольную дату,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8242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тыс. ₽</c:v>
          </c:tx>
          <c:spPr>
            <a:solidFill xmlns:a="http://schemas.openxmlformats.org/drawingml/2006/main">
              <a:srgbClr val="197A7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3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7A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4E5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PV  план</c:v>
                </c:pt>
                <c:pt idx="1">
                  <c:v>EV  выполнено</c:v>
                </c:pt>
                <c:pt idx="2">
                  <c:v>AC  затраты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4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7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d495df94c486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08828-75F9-4526-AF7C-ED57105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2937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B0C4B-45DB-49E7-8686-869E881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42F5-BD9C-4204-946F-C589997B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8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МедКарта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D6E87-C130-4623-B498-564BE0B3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медицинской информационной системы</a:t>
            </a:r>
          </a:p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отделении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B5DBB-4E01-4E4C-A70D-2F5C8F3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Планирование, сроки, риски и контроль стоимости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4DD41-3A3F-4353-8A0B-D3C26A06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Алимова Анастасия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Базанов Максим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Гусельникова Кристина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Долотин Артур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Суворов Максим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53842-88B7-47B9-A932-9C9B28B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Проектная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931537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C15D0-8C42-49B3-B231-3478A7CC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40AE5-83BE-49B3-B987-A699FC75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Почему PRINCE2 подходит пилоту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A1A6D-FA63-45E3-A8A5-BE3BACC0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58B77-3A01-44AE-B72A-0FA65D48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Формальный контроль нужен из-за цены ошибки, числа участников и интеграционных рисков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B2FEF-D516-4604-A05C-63D43A8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98532-A18E-4FB6-8E17-FE497078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1869F-EA3F-4BED-9C9B-3BE76922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48E93-AA6E-4E9B-B0DB-791EC0F5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Безопасность пациента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5E840-D47B-4E15-8936-5AC9CAFF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6B7B3-275B-4746-8801-B1D66D4E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Высокая цена ошибки требует формального контроля качества и приёмки по этапам.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6008D-8BA3-4D99-8D04-9ECF371E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D2433-0E15-423E-90E6-36F92CC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Много стейкхолдеров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D4F4A-1AB6-4C29-B037-47AF6F29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8936E-5AF2-42C0-9F3B-6779198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проекте участвуют врачи, администрация, ИТ, регуляторы, подрядчик и пациенты. PRINCE2 фиксирует роли и ответственность.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F96AC-CC22-4BBB-95BC-942B927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0E18-E8D8-4FBE-83C5-80CC547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Миграция и интеграции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5B2D7-46F5-469E-ACCA-790B405C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F64B5-80B0-4CF8-BFCE-7C707E5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Поэтапный запуск и контроль изменений снижают риск ошибок при переносе данных и подключении систем.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22A97-DFE2-49F7-ABE0-33E52DF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Три типовых причины провала ЭМК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86C8E-E32E-467E-B687-50812536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A9DF6-FD7A-4ECF-9EB0-8140EBD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Нагрузка на врачей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FF393-F511-4BAE-BDC1-582AA5B8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Неудобный интерфейс и дополнительный ввод снижают принятие системы.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B8185-48EC-4900-A60B-43A8A571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9926A-BDD7-4146-ABC6-60FC9C4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Миграция 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BFDAA-07A9-47C0-909D-07B20E7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Дубли, старые форматы и плохое качество данных увеличивают риск срыва запуска.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5510F-7D54-451D-B738-00F00D2D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3C451-0560-46B1-8BA3-95E5F84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Нет владельца решений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504AE-9856-4BAC-8D38-8C86DD17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Долгие согласования требований и приоритетов увеличивают сроки и бюджет.</a:t>
            </a:r>
          </a:p>
        </p:txBody>
      </p:sp>
    </p:spTree>
    <p:extLst>
      <p:ext uri="{BB962C8B-B14F-4D97-AF65-F5344CB8AC3E}">
        <p14:creationId xmlns:p14="http://schemas.microsoft.com/office/powerpoint/2010/main" val="1495639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3E129-A96A-468C-BF08-94BBF50E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CDDD4-8D40-4975-85FB-7F219E02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3D-диагностика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3E528-298D-42F4-8B80-7A56EE7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722F-5D6E-4DDA-8241-436CEAA8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Проблемы распределены по рациональному, психосоциальному и политическому измерениям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3D267-610D-4921-AAC5-43B067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C46E1-6019-4D8D-A0C8-C99689FD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95825"/>
                <a:gridCol w="4695825"/>
                <a:gridCol w="470535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Рациональное · 3/3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Психосоциальное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Политическое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 Сроки, бюджет и качество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удобства, безопасности и скорости согласованы частично.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4. Цель и ожидания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Администрации нужна отчётность, врачам важно сократить время ввода данных.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7. Власть и влияние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Формальный спонсор решает не всё. Заведующие и ведущие врачи влияют на решения.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2. Изменения требований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 пилоте пользователи могут менять требования к интерфейсу и функциям.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5. Скрытое сопротивление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врачей может поддерживать проект формально, но избегать использования.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8. Конкуренция интересов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Подразделения конкурируют за бюджет, сроки внедрения и приоритеты процессов.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3. Неопределённость данных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старых записей и трудоёмкость интеграции заранее неизвестны.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6. Критерии провала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Риски известны: ошибки миграции, перегрузка пользователей, отказ от системы.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9. Смена спонсора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Проект может замедлиться, но обязательные требования организации не дадут ему остановиться.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9FB99-5F8C-497D-9895-C905A5C8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1409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A0D0F-6BB9-496E-A864-0538480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4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Итог диагностики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E051A-984E-4AB4-B1F6-A385BC1D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5152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7 проблем из 9. Оценка совпадает с предварительной оценкой куратора.</a:t>
            </a:r>
          </a:p>
        </p:txBody>
      </p:sp>
    </p:spTree>
    <p:extLst>
      <p:ext uri="{BB962C8B-B14F-4D97-AF65-F5344CB8AC3E}">
        <p14:creationId xmlns:p14="http://schemas.microsoft.com/office/powerpoint/2010/main" val="1428915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CCF00E-DB53-472D-8111-9D58E1A9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36629-C0B4-4298-B0DA-32FCF25A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Устав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7B531-1C31-4BD7-9017-3A1A5C92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91D95-032C-4422-9C36-453F819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Цель и границы двухмесячного пилота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113E2-CF4A-47AD-8860-65C75F50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F504E-84A9-4870-9B31-61CA7E27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E54ED-A9B1-4545-815C-9B845289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  Наименование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046B1-FBC8-469A-8708-7A960C1D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Внедрение медицинской информационной системы «МедКарта» в кардиологии. Формат: пилот на 2 месяца с отдельным решением о масштабировании.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D65CD-F564-4BD7-A731-17D6D977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  Бизнес-обоснование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20DED-67B0-4A70-9CCB-EE5FD4DF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Электронная карта должна сократить время приёма, повысить эффективность врачей и уменьшить среднюю длительность визита.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F02BD-916F-4D87-91C3-3A01ED2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  SMART-цель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61E78-A064-4A44-AACC-228F2B5E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Сократить среднее время приёма пациента в кардиологии на 20% за 2 месяца с помощью электронной карты и расписания.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4C0A9-8D8B-45EC-B2E1-1E2C1B5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E7238-973B-46A6-B08B-439A6A2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Ограничения и допущение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406FF-1A44-4A15-80E9-906C23E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6572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4C467-DC05-49BE-86E3-640BAB01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28490-2757-41EC-B3AC-35C350D6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проводится только в кардиологии и длится 2 месяца.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7AF39-FBDC-48B8-AD99-BD241076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15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C2105-5513-4EDA-922E-1745610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1FDEA-1858-4958-897B-1652A64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Внешние интеграции не входят в текущую фазу.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4E60C-B3C5-4494-BDDC-FAC03FB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9CE04-51D2-4894-A6AD-1C0B7B0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ECFB5-2A0F-47C1-B771-BB9B5986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0547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обработке персональных данных обязательны.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C1641-20D6-4B28-B2BF-4D3BF040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6742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0A2EF-A96B-445B-8295-34965EF1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B05ED-E791-4F56-88B0-BA63207F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4840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Предзаполненные поля врач подтверждает вручную.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5AF2A-C355-4B0A-9C12-50924D76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035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CA163-7CAD-4514-8E4E-572DEE28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913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7930D-73C3-4176-B534-0C125892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913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пилота руководство отдельно решает вопрос о масштабировании.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AE169-28BC-4B2F-8F1F-A46EA72D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532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51D6D3-6733-41F8-906F-EDD7903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Границы по MoSCoW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FC27B-0950-4C4B-BA12-8EBF04F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6953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C0CE68-8B00-48AB-942F-DDC8A84C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83B09-D81B-4F39-98D1-2977B93A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Карта, автозаполнение с подтверждением, расписание, ручной ввод анализов, защита ПДн, замеры, тренинги и отчёт.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43F510-F692-4CAF-910D-2CBD1564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SHOULD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203EDE-642F-42D9-9461-CD43B12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Инструкции, представления расписания, валидация анализов.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58DD4-3831-4C35-B613-4C234667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1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9748C-D8A9-420D-88CE-07AF9E0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и сбор обратной связи в системе.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89AB28-EAC3-436D-A4AE-85A2B9A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80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ФАЗА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4FD939-F6C8-49CD-8CD3-393A46CF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781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выписки.</a:t>
            </a:r>
          </a:p>
        </p:txBody>
      </p:sp>
    </p:spTree>
    <p:extLst>
      <p:ext uri="{BB962C8B-B14F-4D97-AF65-F5344CB8AC3E}">
        <p14:creationId xmlns:p14="http://schemas.microsoft.com/office/powerpoint/2010/main" val="1770111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2928A8-3518-4602-A250-5959A9C2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5C9B8-72C2-4FC5-8239-925C259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Управление пилотом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9FEDA-E220-47DC-9EA2-342A064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93E31-E399-4DDC-BFDB-7BFB58D1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Бюджет, вехи, участники, полномочия и приёмка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01082-6FB6-45E5-B2D3-D6F74014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25AEF-B8DE-4C7A-AF23-058B0BFA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984FB-5CE3-4909-BF7A-48CBBC8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Вехи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46335-008C-4379-BC41-939588C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7FB06-79EC-4409-98F7-D42C3E8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A6BFD-FA24-49B4-9354-1C5AA66A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Настройка карты пациента и расписания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B387C-4686-49F3-812C-D298A25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B12D4-B3F7-4F17-999B-EA84A0E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6E115-1A19-441F-9B4A-D40B82F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Пилотная эксплуатация, ручной ввод анализов, замер времени и итоговый отчёт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5F286-C38E-4BA9-92F4-E5BAEA6C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09231-9EE3-4254-9F0E-999B64B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49-B6DA-4AA3-A2DE-2B3DA59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исходном брифе сумма не указана. Финансирование нужно согласовать с главным врачом и ИТ-отделом до утверждения устава.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8B76C-571D-46C9-88B2-E4B31B16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CEC08-3655-4D88-8890-F45E4279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Куратор и руководитель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609F5-DF77-4A2E-9392-F02F88BD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 утверждает бюджет, вехи и решение о масштабировании. Администрация должна назначить руководителя проекта и закрепить полномочия.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C75B7-B76D-42C9-AE60-90767B8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6BFFF-AEFE-4BB0-8DA2-CF7A3A0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B31E7-441B-4C7E-A3E8-7ECDBD5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врач, заведующий кардиологией, ИТ-отдел и медсёстры. Вендор ЛИС не участвует в пилоте, но может консультировать по фазе 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0F4FB-6233-4915-8151-7B41C22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Критерии успеха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3058A-6621-4179-BD96-4A21FA9C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41773-267F-438B-96CB-368210D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43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Время приёма сокращается на 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C6C6C-DDD9-4574-B854-24AE1F4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743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Система готова к работе в согласованном масштабе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F465C-E9D6-4C08-A02C-D7BBFBB3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437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ПДн защищены, базовые показатели измерены до и после пилота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3CDF8F-51F1-4335-806B-6BA3F8E6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Решение о масштабировании принимается отдельно после анализа результатов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027763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C3AE9-F453-40E0-804E-387B680D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35D36-A0AD-4D58-9F25-411A62A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Противоречия и риски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E80E9-8C35-499B-9ACE-D44C6B81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2B877-2D68-4C51-8168-CF9F5DF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Разночтения брифа переведены в решения и конкретные планы реагирования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4A97A-BA80-4CA7-9ECD-846430B0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32B89-5C2A-468A-BA29-19B6A0A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7D83D-6FC9-42B7-A39C-9F285D3E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Масштаб и срок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8AE38-A33D-4EEB-A383-3F5121AB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Бриф: вся больница за 6 месяцев. Решение: пилот в кардиологии за 2 месяца, общебольничная проверка позже.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1B904-2E95-4D34-9E0F-050BFBA0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Автозаполнение и ЛИС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FAEF5-8727-48E5-854A-3C879D5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ЛИС относится к фазе 2. В пилоте используются предыдущие визиты в МедКарте, врач подтверждает поля, анализы вводятся вручную.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7FFC2-EEDE-4474-ABC6-9E23ECD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Цель и исходная база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27F98-1B9B-4A94-9FAB-6333046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Цель - снижение времени приёма на 20%. Решение: базовый замер до запуска и повторный замер по той же методике.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4F340-46DC-43C0-9BE1-9B1C6510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Реестр ключевых рисков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14097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6667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Вероятность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Влияние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 реагирования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Нет исходного замера времени приёма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Собрать базовые данные до запуска и повторить замер по той же методике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увеличит время приёма и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Оставить обязательные поля, добавить шаблоны и проверку данных врачом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Врачи и медсёстры не примут процесс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Провести обучение, назначить поддержку, отслеживать долю приёмов в системе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Нарушение правил обработки данных пациентов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Настроить роли и журнал действий, проверить права доступа до старта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Бюджет и руководитель не согласованы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Утвердить финансирование, назначить руководителя и закрепить полномочия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955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05DE17-D64A-44C8-AACF-04174E8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9BBE9-5B17-4A11-9B22-C8640556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A1EB1-01A8-4743-9CF5-D998101F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984E0-0DF8-4E39-9116-F52E9AB4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влияния, проверка полноты и вопросы для трёх ключевых групп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F26C4-A2DF-4533-B745-12872F0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2B079-90D4-4498-A738-72FAA7C4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D1EE3-2F57-4BA2-901F-1C152F15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Влияние и заинтересованность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98774-60AB-4B97-81E9-8104BD89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0830A-0AA0-49BF-BC29-0AA3F4E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CF690-2D4A-476B-A293-E00258D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F6304-7ECC-42D0-A223-AAEAB729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Управлять внимательно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65FE5-9B47-41A6-8DB2-98059D3D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и руководитель проекта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МедКарты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0A7D1-AD7D-422C-A2F4-8A91B4B9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Держать удовлетворёнными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3FB3B-B022-4DA7-AC1E-96713D12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Финансово-экономический отдел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Информационная безопасность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BF183-56AE-4927-B689-61BFD73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Держать информированными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59DC7-EAAA-4FC3-917E-7F7D3A3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Врачи-кардиологи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Медсёстры и регистратура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2B7F8-DAF3-4881-8034-96F82E0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433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Минимальные усилия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24939-D10F-4855-A945-4006DA7D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24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ЛИС на этапе пилота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D0A18-4BCD-48AF-8188-51214E2D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Проверка полноты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5AA1F-0ABF-45BC-A06A-9F100210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6762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00F97-1E1D-4C5B-A7FC-4BAB9827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1. Финансирование: главный врач и финансовый отдел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496A2-8ECA-4825-ACA4-E486E37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2. Ежедневные пользователи: кардиологи, медсёстры, регистратура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A29EF-3A95-42A0-A26E-AFDEF7FD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3. Поддержка: ИТ-отдел и поставщик МедКарты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97F08-1054-455F-BC70-7E6355A6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4. Блокирующие стороны: спонсор, ИБ, заведующий отделением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9D9EF-5731-4366-9ED9-D0C337CB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5. Данные и интеграции: ЛИС и администраторы данных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25028-424F-4BBD-A2C4-A052AC7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6. Косвенно затронуты: пациенты кардиологии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7B827-12AE-43AC-87E0-DD86942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Чек-лист добавил финансовый отдел, ИБ, регистратуру и пациентов.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F6DF2-6BF3-4349-A822-20F5548B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Вопросы для ключевых стейкхолдеров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12247-A4B3-46EB-8B86-DD022C6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Главный врач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281C0-A193-41DD-A814-573729C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Что будет провалом пилота даже при снижении времени на 20%?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 каком риске для бюджета или данных вы остановите проект?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EA77D-A53F-4857-954F-8BFEC149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61AB5-BFC0-4604-8B79-22DE44DE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Какие изменения вызовут наибольшее сопротивление?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Кто реально определит, будут ли сотрудники пользоваться системой?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8B3D75-A536-43F9-97ED-AC0453F8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ИТ-отдел и руководитель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239698-3BF1-4D2E-AD5C-02CB317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Какое условие безопасности может задержать запуск?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Какая зависимость от подрядчика или данных пока не отражена?</a:t>
            </a:r>
          </a:p>
        </p:txBody>
      </p:sp>
    </p:spTree>
    <p:extLst>
      <p:ext uri="{BB962C8B-B14F-4D97-AF65-F5344CB8AC3E}">
        <p14:creationId xmlns:p14="http://schemas.microsoft.com/office/powerpoint/2010/main" val="1591191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8B066-EBF9-4484-A4C7-EF19209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28DAF-C796-46A6-B9E1-40DCD7B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B79B9-855F-45C7-B880-845734E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A54C6-F766-4831-B79B-4F607835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Ответственность на этапе планирования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EC44A-C59F-40B9-A560-C2575C06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2FFAB-12AE-4F9B-9AF6-91499073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131445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8620125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проекта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Алимова Анастасия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Владеет Scope Statement, ведёт WBS-воркшоп, эскалирует спорные пункты спонсору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Бизнес-аналитик / Product Owner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Гусельникова Кристина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Формулирует измеримые критерии приёмки, приоритизирует результаты, снимает противоречия брифа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Технический лид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Базанов Максим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Декомпозирует эпики до Work Package, определяет техническую последовательность и зависимости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Команда разработки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Долотин Артур, Суворов Максим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Оценивает собственные Work Package по трудоёмкости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Спонсор и внешние стейкхолдеры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Утверждают границы Scope In / Scope Out и критерии приёмки, выступают точкой эскалации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913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884F1-DBED-426C-8A5A-348BC3F5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9F676-476A-4C68-BBC5-290025D3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Результаты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DB234-5CBF-4B2F-A597-9FFE268B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6B0E9-7BA0-472A-BBC1-AF1A6529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Шесть проверяемых результатов двухмесячного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126AA-888D-4EB7-8557-163C589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7CA1-C8A5-4A51-A67F-BC798775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429000"/>
                <a:gridCol w="97155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передаётся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просмотр и редактирование карты. Шаблоны кардиолога. Автозаполнение из предыдущих визитов с подтверждением врача.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Запись, перенос и отмена. Представления «день / неделя». Фильтр по врачу.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 с валидацией значений и единиц измерения. Прикрепление сканов PDF / JPG.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Роли врача, медсестры и администратора. Журнал доступа, шифрование, резервное копирование, согласованный чек-лист ИБ.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 дня очных тренингов для двух групп медсестёр. Инструкция, памятки и зачёт по базовым операциям.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Отчёт по пилоту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Замер времени до и после внедрения. Выводы и рекомендация по масштабированию для главного врача.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8978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819CF-823A-43D5-94E9-0917DD9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CD3CB-7FC5-4FD6-A381-1F0A039A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97755-FC0C-46DD-A8A9-5ED501F7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440E9-A35A-45AE-B153-E7A722D8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Каждый критерий связан со способом измерения и целевым значением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63620-F381-48DC-97F5-FFDB7E3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924A8-E58C-4B8A-97D2-0DC4744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810250"/>
                <a:gridCol w="4857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измерения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Целевое значение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Сокращение времени приёма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Контрольный замер в последнюю неделю против базы первой недели. Не менее 100 приёмов в каждой выборке.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снижено не менее чем на 20%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предзаполненных полей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карты с неподтверждённым автозаполненным полем должно быть технически невозможно.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100% предзаполненных полей требуют явного подтверждения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Зачёт по чек-листу базовых операций после тренингов.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 менее 90% медсестёр прошли обучение и сдали зачёт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 ИБ и выгрузка журнала доступа.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Все пункты закрыты, журнал фиксирует 100% операций, 0 инцидентов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работы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 за период опытной эксплуатации.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 случаев потери данных, открытие карты не дольше 3 секунд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9635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DEA82-4571-4D9E-AF39-56D69D8F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6BAC0-743A-41F3-B1F0-F50FA88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Границы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31956-F6A1-4AAE-9EFD-F8EA65C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BC996-5CE1-4BBE-891F-5587688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Приоритеты MoSCoW отделяют обязательный пилот от второй фазы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D4736-9984-4C99-9A86-308377B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6EFE1-AA59-4082-BD85-5EEC1658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90D2A-1346-4FC0-A326-DD5328B2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409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C6924-137D-4C34-BA02-A43DE22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08FE3-1D85-42CF-81E9-F9590AB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1081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шаблоны кардиолога, автозаполнение с подтверждением врача, расписание, ручной ввод анализов и сканов, защита ПДн, развёртывание в кардиологии, два замера времени, тренинги медсестёр, итоговый отчёт.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2AF45-2453-4750-ADD1-9542F035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409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71731-42C7-49E3-A196-4473A85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2601-9BB4-4931-875E-715FCDD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Инструкция и памятки, зачёт после тренингов, представления «день / неделя», фильтр по врачу, валидация значений и единиц измерения.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E084A-74AB-41C9-9FD3-EABBE1A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409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4D9CF-2BA1-409F-A390-A258416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 HAVE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0B896-B88E-4CA8-856A-C343D5B3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2917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сверх профиля кардиологии. Сбор обратной связи от врачей внутри системы.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DD1A5-8EDD-4921-92E2-B859395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4097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28E97-DA59-4C6A-9BBA-0A0537E0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WON'T HAVE THIS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377A3-4054-455A-BD40-6F26FCDA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1081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 1.2.5, интеграция со страховыми, телемедицина, масштабирование на другие отделения, эффект по всей больнице за 6 месяцев, миграция бумажного архива, мобильное 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1971394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3CE8D5-724C-4CB1-963C-9D70AEF0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A370B-E095-482F-8BAD-61E91418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Допущения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A7898-00C6-465F-B333-2094D66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2494C-2599-487D-9110-34531F45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Условия, без которых пилот нельзя корректно оценить и принять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174B2-C89C-4006-AB6B-08EFCCD6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46F35-30CC-4E63-985C-1B889059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17E01-8179-4C39-8681-692DEC9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Допущения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5E98C-7288-45FC-BD8E-F09F44B0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8A632-DE25-418F-AA1C-16CF058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00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6E171-2151-461F-943B-BB2C8B8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6905625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B5457-19DD-4DA7-9098-A8CF0C7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65600-7B30-4B4B-A595-8982078E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предоставляет серверы, учётные записи и доступ в контур в первую неделю.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BA92E-E4B9-4F57-B809-4F50CC2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DFB5C-7086-431B-BBF6-C5593983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13559-1289-4927-AAAF-AE7877F2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согласовывает график тренингов и выделяет медсестёр двумя группами.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64DA0-571F-4BC7-9CDF-1D9B968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956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6327F-FBA4-48EE-9C04-0903C44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FF070-AA11-4D13-A30D-EC8762C5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1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Базовый замер времени проходит в первую неделю. Без него цель −20% нельзя подтвердить.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57C07-F077-40AD-89FE-BCC9A27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2FCCD-FCB8-4FA1-AC17-CD7F735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74F18-885E-4243-9218-0E11451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5297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Согласия пациентов оформляются по действующей процедуре больницы.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4D698-5091-469C-B7E0-FC535FD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F7BF9-F17C-4B56-99F8-778F4767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3D252-B78B-40CB-AA40-1F1999DC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Вендор ЛИС не участвует в пилоте. Его участие относится к фазе 2.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89468-CA09-4B85-BF5A-94DF300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840D5-AE40-47C5-AA15-43EA04A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FB2DF-9685-4642-9063-4CD1167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722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Автозаполнение использует предыдущие визиты внутри МедКарты, а не внешние системы.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D109D-2D40-492F-BF6F-8FD496D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341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351B4-2EBA-40A6-A932-4C53E056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AF2E2-DAB0-4142-87CF-4AC66F1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241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Срок: 2 месяца или 40 рабочих дней. Дата окончания не сдвигается.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077BF-717E-4C5E-A2AD-55581866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83C78-9843-49E0-9C22-49120B6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A40FA-551C-4FB2-AE12-297AF3D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337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Масштаб: одно отделение и ограниченное число рабочих мест.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532E47-1AD9-4AF3-BCEC-066E2B32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AFA40-DCDF-43FF-8F7A-1C6670F6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1D7CDE-08F9-4B98-A654-32DF899B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ПДн обязательны и сокращению не подлежат.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96E8B-5468-4038-85C8-DD062302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A6F24-5B05-47A7-8E94-419C9D84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87D1F1-AF45-46CE-8626-C23C0CF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Тренинги 6 чел.-дней включены в WBS. Перенос печати в фазу 2 освобождает только 3 чел.-дня.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002F3C-83ED-4650-AE31-617B581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1492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460019-FF58-40CE-9A01-B205283D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CE0109-4483-46B1-978D-BFCF05B8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626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Лимит: 100 чел.-дней, из них 97 работ и 3 резерва. Использование резерва утверждает спонсор.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034BFF-FD75-4485-99B3-7A9B9489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9245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08E435-1858-4D54-AB68-5CD89465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38420-022D-4750-B50D-2731CBE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3722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Денежный бюджет требует отдельного согласования.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0D1425-9B2C-408E-9268-C83B014B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7341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86400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606B1-0674-41C1-B317-529A9339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303EA-46A8-438A-A872-ADB035A6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Исходные данные сетевого плана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F5885-1200-4E25-A7A2-F363BE38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B4A94-CC93-43D0-A29C-334F09CB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Длительность отражает календарную работу, WBS - трудозатраты в человеко-днях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511FC-CE7F-42A4-A6B0-9471730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6A5A5-9740-4D46-A126-3DFD1640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12382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  <a:gridCol w="2476500"/>
                <a:gridCol w="2952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Эпик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Предшественники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B, C, D, E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Опытная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54F61-978C-4BF7-A451-1903D15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29450"/>
            <a:ext cx="1238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F500D-AB77-4052-8FE9-45558E12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199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Параллельные работы нельзя просто суммировать. Срок проекта определяется сетевыми зависимостями и критическим путём.</a:t>
            </a:r>
          </a:p>
        </p:txBody>
      </p:sp>
    </p:spTree>
    <p:extLst>
      <p:ext uri="{BB962C8B-B14F-4D97-AF65-F5344CB8AC3E}">
        <p14:creationId xmlns:p14="http://schemas.microsoft.com/office/powerpoint/2010/main" val="91369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035AC3-472E-41C8-B1DD-67AC8C5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97A09-A352-405A-8F0A-AA7D3F3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Сетевой график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8CEB6-3F0D-406D-B0E3-81DA7ADC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6DE08-AD75-4776-AB0D-8E289E53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Критический путь проходит через A, B, E, F и 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F9E67-79FC-4FDD-9EFD-1B1A453B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D100-9362-47A5-9DE5-A062F23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CEFF-D915-4E5C-81F8-4452215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47533-0CEB-4EA9-8BB5-360E1E6F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Подготовка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6A1F0-9D4A-44DE-9A43-8B50579A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 дн.   резерв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5D648-D8CA-4EB5-B5F5-A63015D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84EE1-4E91-4D49-833E-CDCCF416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B  Карта пациента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F0B40-9E4B-444A-AD05-BE382B2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   резерв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5EC1C-742B-42F9-AE40-616DB9A4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AEBC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C132D-BF93-4153-BE18-8C3FAAD7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C  Расписание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приёма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22E07-FDCB-4F54-9F66-966BFEDE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дн.   резерв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36E50-396D-4054-8882-3332CC7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AEBC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22F5D-861B-43F9-932A-CDA990DE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  Ручной ввод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09F9C-04EE-43F8-98DB-B1B7F403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дн.   резерв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414DD-45AC-4D82-A7C2-2F726095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DA323-13FA-4F48-8B83-0D413F6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1492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  Защита ПДн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027CA-B36A-4A3A-8510-B8A6BBE1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9595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7 дн.   резерв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7038D-C7B2-46A0-ADCF-4B16DE0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B2FA0-5345-4F55-A21B-65CB0BC3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F  Развёртывание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87510-0279-440F-9860-19B272D9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 дн.   резерв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40E54-8556-42B2-ADDE-B3E17A63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381375"/>
            <a:ext cx="2428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17596-A9A2-4B50-9F11-46DF9AFE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54330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G  Эксплуатация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приёмка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1CB1D-71EB-4398-8C29-5184A58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4124325"/>
            <a:ext cx="2124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   резерв 0</a:t>
            </a:r>
          </a:p>
        </p:txBody>
      </p: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19375" y="3952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4E5A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7" idx="0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595438" y="2381250"/>
            <a:ext cx="4024313" cy="1000125"/>
          </a:xfrm>
          <a:prstGeom xmlns:a="http://schemas.openxmlformats.org/drawingml/2006/main" prst="bentConnector5">
            <a:avLst>
              <a:gd name="adj1" fmla="val 0"/>
              <a:gd name="adj2" fmla="val 22857"/>
              <a:gd name="adj3" fmla="val 94320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19375" y="3267075"/>
            <a:ext cx="3000375" cy="685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7" idx="2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595438" y="4524375"/>
            <a:ext cx="4024313" cy="1000125"/>
          </a:xfrm>
          <a:prstGeom xmlns:a="http://schemas.openxmlformats.org/drawingml/2006/main" prst="bentConnector5">
            <a:avLst>
              <a:gd name="adj1" fmla="val 0"/>
              <a:gd name="adj2" fmla="val 22857"/>
              <a:gd name="adj3" fmla="val 94320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95875" y="3952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095875" y="3952875"/>
            <a:ext cx="5238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84E5A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0" idx="0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071938" y="3152775"/>
            <a:ext cx="4500563" cy="800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3" idx="3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667625" y="2381250"/>
            <a:ext cx="1928813" cy="10001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667625" y="39528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9" idx="3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7667625" y="4524375"/>
            <a:ext cx="1928813" cy="10001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C84E5A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620375" y="3952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4E5A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37A44F-32A4-4DF7-9DC5-FBB70B0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81800"/>
            <a:ext cx="1352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5F3BD0-43E8-4FE4-861E-23E9B94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10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BFD2E8-EE6B-413D-99B1-4C58B5F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953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23B9B1-35C7-4218-94FD-E57CC6E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818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5 + 10 + 7 + 6 + 10 = 38 рабочих дней</a:t>
            </a:r>
          </a:p>
        </p:txBody>
      </p:sp>
    </p:spTree>
    <p:extLst>
      <p:ext uri="{BB962C8B-B14F-4D97-AF65-F5344CB8AC3E}">
        <p14:creationId xmlns:p14="http://schemas.microsoft.com/office/powerpoint/2010/main" val="16457328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00A71-C4F8-460A-9F20-7AF90FEC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82723-6AF6-4E0A-B73E-D011CAD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Критический путь и резервы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2AB87-B391-4F19-BCB3-AA6ACD9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0074B-6BD0-4949-ADD2-D23E8F03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лимите 40 рабочих дней остаётся 2 дня, работа D почти критическая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3092F-F2E7-4EC0-8712-1D5BE863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EA7A9-65C6-4595-B368-22E7ABCE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154C5-225B-4681-9236-A5ACBAE0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E7360-9D8F-418C-8A53-71235B6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Ключевой вывод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34CFE-F095-4248-BB53-1BA232CA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527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9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8950D-A077-40AC-8CDA-87309BC7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051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39BED-0E75-4B36-A62F-3D48357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944F4-26E6-40C9-85B5-CB2ABC1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C19CB-5303-4819-A2FB-8831B1D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76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2C363-0662-4BF3-ACF3-7C3ED3D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D имеет резерв 1 день.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имеет резерв 11 дней.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 лимита остаётся 2 дня.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0D21D-239B-456C-AB87-650E9501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89AAE-56AC-4BA2-AD14-38D934A2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Работа D требует контроля: один день задержки делает её критической.</a:t>
            </a:r>
          </a:p>
        </p:txBody>
      </p:sp>
    </p:spTree>
    <p:extLst>
      <p:ext uri="{BB962C8B-B14F-4D97-AF65-F5344CB8AC3E}">
        <p14:creationId xmlns:p14="http://schemas.microsoft.com/office/powerpoint/2010/main" val="14234458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C0446-3E3C-4EB3-8F00-20E80519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DF614-08EB-450E-A5EC-4769382A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DSM зависимостей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EDC7D-17ED-46A5-ACE8-03752E75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DF393-7D16-4005-9D4A-AA9C3FA4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быстрее показывает узлы с большим числом связей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673A-55E8-43E0-AA3A-E2ADD74B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E7B1C-8802-4243-BF48-09157C5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162050"/>
                <a:gridCol w="1162050"/>
                <a:gridCol w="1162050"/>
                <a:gridCol w="1162050"/>
                <a:gridCol w="1162050"/>
                <a:gridCol w="1162050"/>
                <a:gridCol w="12192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 / предшественник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  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  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 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987C2-0093-493E-A0FF-DA0764E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1409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82F28-20E1-4A43-9645-A5F16FC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0425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A запускает несколько веток, F собирает их в одну точку интеграции. Сеть лучше показывает последовательность, DSM - концентрацию связей.</a:t>
            </a:r>
          </a:p>
        </p:txBody>
      </p:sp>
    </p:spTree>
    <p:extLst>
      <p:ext uri="{BB962C8B-B14F-4D97-AF65-F5344CB8AC3E}">
        <p14:creationId xmlns:p14="http://schemas.microsoft.com/office/powerpoint/2010/main" val="617016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F6597-0C77-4EA9-A82C-CBA7256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8D65C-FD3D-447B-A04A-69FB7134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Проверка WBS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C0F07-A117-4D8C-8834-C11C1E0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E95C3-5B5A-44F4-B07E-C5A4A2E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Структура переведена из набора действий в проверяемые пакеты работ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3C78D-F8B2-42A7-8BDB-65D4CAFF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E301F-4663-46E5-A581-EFCB248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14097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524500"/>
                <a:gridCol w="58102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исходной WBS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Полнота охвата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Работа 1.2.5 фазы 2 оставалась внутри пилота.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Печать вынесена за WBS пилота. Все 97 чел.-дней работ сохранены.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Отсутствие пересечений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 карты и шаблоны в 1.1.3 пересекались с реализацией 1.2.3.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1.1.3 - согласованная спецификация. 1.2.3 - реализованные шаблоны.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Декомпозиция по результатам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Уровень Story смешивал действия, результаты и группы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Единая иерархия: пилот, раздел, проверяемый пакет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Управляемость пакетов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 ряда пакетов не был назван конкретный результат или ответственный.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сформулированы явно. Ответственные и оценки указаны у каждого пакета.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9293E-4BE8-4448-A5DD-8D3C640F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409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76792-3C24-45AA-BF12-679ECDF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Перестроен уровень между разделом и пакетом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03CDA-5E1B-4A38-8421-0B1BF79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Было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6ECFA-4CD4-47F9-B4CF-913C56F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247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Story: тестирование, печать фазы 2 и тесты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EAD25-68BD-4A58-9E24-A9517B26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Стало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DC751-6A02-4990-A9E9-1351AC7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67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модель данных, CRUD, шаблоны, автозаполнение, результаты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6462058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ABD2E9-C275-4B29-878F-6EAC82FD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5F0B3-C7DF-44D7-B691-5576CEF8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подготовка и основные модули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F3F15-F00F-49DD-AAB7-3DAC3F74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C1303-C3B9-4347-A879-57830225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97 чел.-дней работ. Сроки эпиков взяты из сетевого плана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CA898-829E-4C4A-AEE2-CE6F5DEB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532B5-FFAC-49C9-8C02-20C8A15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EB79A-1F14-48DB-8D73-14D676E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2C2F5-4E6D-4C7E-BB07-90A5E56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 Подготовка и аналитика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871C6-9942-49D5-B2AE-3E04F3A0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10,3% · срок 5 дней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6F601-09D1-4E2D-830F-9D725D91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2CF56-A3F7-4646-950E-AF864A11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1.1.1 Интервью и сбор требований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87F23-5BE0-46DB-BEFD-2C3766E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64A77-0D6C-4725-845C-00E3829F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C3162-001B-4DE3-BC30-5B6E0302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1.1.2 Базовый замер времени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60500-18ED-48CA-982C-78E4AF0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 + заведующий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773E3-0B97-4D4A-AE39-9D95DAE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CF254-262B-4941-ADFD-8CD239DF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1.1.3 Спецификация карты и шаблонов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15C97-3F75-4E59-B0D9-24CB6F5B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техлид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90A5C-6184-4051-84DD-D46BA9D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F95DD-E6AA-4E7D-8630-26E8A68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1.1.4 Тестовый стенд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E36E9-9B08-4159-9CCA-C23F4196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ИТ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67CA1-4C6A-4A5E-BBED-BF0D1A3A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0F223-BB63-4E02-969F-851BD7C0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 Карта пациента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93D5C-72C1-4CF0-8B2A-77495C0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27,8% · срок 10 дней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A1AD7-D90D-45A0-9982-638B0EB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C83C3-9966-4E96-AF63-FC3CFAD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1.2.1 Модель данных и схема БД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18C23-D93D-4A04-A2C3-CF43A71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10CEF-962B-4B8C-81A4-1E6F6524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C0A49-8E0A-4647-A96B-8A449F0C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1.2.2 CRUD карты пациента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6EE05-2D1C-4382-A2A0-89250F85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DF9B9-3D7E-4A7A-8802-3E880552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A5810C-2E5E-445F-B9AF-C3FC6BB0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1.2.3 Шаблоны осмотра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C653E-7AF7-4C70-AC2F-0864546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ED7BE5-E806-4610-8B84-EF355667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B425A2-9722-47BE-B06E-A129EB86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1.2.4 Автозаполнение и подтверждение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84F19-274D-4D8D-8DFD-2C2F7A5B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 + Frontend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A67B7-A19C-4DB6-9EED-EA1A781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10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FF7CCB-04A5-40B3-9DB9-C09A87DA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24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1.2.6 Тестирование модуля карты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375A08-C36E-4F01-804D-FF3160B9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24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QA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B3EDF-DD06-467C-9DB0-AB040D36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B05F3B-7226-42CA-B46E-63937A1E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 Расписание приёма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329E01-BF44-4448-B13D-C73F9D2D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15,5% · срок 6 дней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23D1EC-3BE9-4602-9DF4-F4943359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2E0F0-FF54-47AA-A011-734B4FD4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1.3.1 Модель расписания и слотов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BB1C33-F2BA-4FF4-BA45-814F3644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F51C4F-CB88-44F2-AF74-DE04E5DB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699B32-B427-472D-8F89-110B6BF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1.3.2 Запись, перенос, отмена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B353CD-8E53-4453-B27B-3BB2208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6CD429-33F7-4D1B-A7CD-A1B94366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6AA6AE-BE9F-4641-B6BF-B9A3062F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1.3.3 День / неделя и фильтр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C05D11-350A-4E4A-B8B7-341522C2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Frontend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C49117-B62C-4C34-A67F-041E00B1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B39C7F-6F6C-4DF7-95E4-CC7B51D6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1.3.4 Тестирование расписания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23DE9E-99D1-4597-ABCD-9E424DCD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QA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3CAF33-6BD4-4BCB-8480-C770728D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15250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ID 1.2.5 сохранён за работой «Печать и выгрузка выписки», которая относится к фазе 2.</a:t>
            </a:r>
          </a:p>
        </p:txBody>
      </p:sp>
    </p:spTree>
    <p:extLst>
      <p:ext uri="{BB962C8B-B14F-4D97-AF65-F5344CB8AC3E}">
        <p14:creationId xmlns:p14="http://schemas.microsoft.com/office/powerpoint/2010/main" val="17558029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F1FAB7-0BE9-41F8-A67B-0A95434E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95A4D-BC0D-4924-8906-2AFE7D7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безопасность, внедрение и приёмка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4CA02-E7EB-41A3-819B-889B320B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0D90D-F4BE-408B-8C8A-84A4F57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Доли рассчитаны от 97 чел.-дней. Резерв 3 чел.-дня учитывается отдельно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6B376-C011-49FE-B692-0668AD69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4F7BB-ECA6-4CAF-927D-6855D09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B41F4-C6AC-4C37-BE8A-37A896A4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AA644-0FA3-43BC-8FC2-96184CD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 Ручной ввод анализов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3415C-F40F-45B9-960A-0309FBFB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4D056-72DA-40FB-8D13-3F5CD1D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A9BF0-9175-460B-9AC8-D48CD1C0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1.4.1 Форма ручного ввода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84662-D966-4233-9515-4D68D696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96875-C1D0-480B-A084-2118A526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8AE60-413A-4001-A066-F688F0B7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1.4.2 Сканы и хранение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61106-1EE5-49CE-AFBD-BE79BF70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4EE4C-19AE-417B-8503-5D30A8B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088C9-59F9-4D3C-89BE-CE04C428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1.4.3 Валидация значений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E43D4-5F17-4BC5-AD66-D31DBD7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45D59-A733-4631-ADD8-77C8B759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A8B4A-3BA4-4DB0-A853-D39901C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1.4.4 Тестирование ввода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B4B49-76B6-4FD0-880E-D0B7BF1D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19312-0259-4C96-827E-9DC82A8C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E0240-347B-4DF5-AE2A-16135D2E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 Защита ПДн и доступ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DF473-EBAE-458C-BAEE-5C12AB3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13,4% · срок 7 дней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9B288-92F1-4F2B-9B77-48A3DA11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EABD7-AB75-4916-B925-1092BA8A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1.5.1 Ролевая модель доступа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2DF9D-3DD5-4064-8344-4682083D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31DB8-11C8-41AA-8FEE-A4249A67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1D20A-0A4A-42DA-9100-6A01902D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1.5.2 Журнал доступа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6CBF5-9647-48A4-BEE0-B1ABC483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C352D-DC58-4C49-9E90-63021E4F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F0101-33D6-4E01-8E0C-63B8181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1.5.3 Шифрование и резервные копии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C8977-EE66-4507-8858-3FEE51C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 + Backend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0456E-F3E8-4AF0-BC09-DA8C6AEF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8597C9-423B-4685-B358-352723D0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1.5.4 Проверка требований ПДн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EE94F-EF72-479F-A71C-1D80C28D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ИТ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48FC0A-CFF6-4CA9-94D4-EF1C17D7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3BA9AF-20CC-4D94-8AB3-ACA550B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 Развёртывание и обучение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F7C2C1-1C5E-45D7-BAEE-3005E06E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197FCE-4031-4621-8232-628554A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A4720-0756-4412-BF2C-8FEFEEA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1.6.1 Развёртывание в отделении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CFEADC-3C54-45A7-9A8C-A6C65909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D4FFF-F49A-469E-874E-AC3D9BCE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E198B0-667C-41E9-9FCD-7A32403E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1.6.2 Инструкция и памятки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69B796-8C37-40B0-AC1B-E824C8E2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F0D4D9-E60C-48BC-B6CD-5F4298F0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8A4622-AD9F-4F6F-BCE9-D724956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1.6.3 Очные тренинги медсестёр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17D27B-59E5-48C0-BA8D-A9625707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Команда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BB0777-424E-4E8B-B5EC-DBFA1C8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A4E346-D86D-408C-977A-FA805438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1.6.4 Проверка навыков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A4A0D5-8777-49FA-B831-01003C2C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БА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A5A93B-C367-4018-BAB8-0EDEBD9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5819C1-8561-45EB-B03F-B4941F55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 Эксплуатация и приёмка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503A22-A995-424F-B8C0-EF754A9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8,2% · срок 10 дней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BE4D23-214D-4BE3-9F88-B26A9EC3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EBB1E9-9E31-46E5-9E2D-CD0214A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1.7.1 Сопровождение первых двух недель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E743B9-91F5-47DC-9344-C740ED1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Разработка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DE6170-1BB6-4C40-8F42-76D5BE92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1AF67D-97E8-40D0-A94E-0058DE8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1.7.2 Контрольный замер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064DDB-7BC6-47EA-AE49-CD07277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892EEC-C6D9-4EC3-9949-8B11D242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860411-1AD8-41AB-8E5E-7B8CBC2D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1.7.3 Итоговый отчёт и рекомендации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FA67B1-4944-4540-9BFC-2C8EA15B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PM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32FE2C-6365-426D-BE3E-0F350CC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69FDC3-49F1-4290-BCAA-C2194D4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1.7.4 Приёмочная встреча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BA56EF-C0C9-4A1D-9C7C-DA7D8BE6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PM</a:t>
            </a:r>
          </a:p>
        </p:txBody>
      </p:sp>
    </p:spTree>
    <p:extLst>
      <p:ext uri="{BB962C8B-B14F-4D97-AF65-F5344CB8AC3E}">
        <p14:creationId xmlns:p14="http://schemas.microsoft.com/office/powerpoint/2010/main" val="10902580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8F36B-AC79-4959-89F9-9B40F33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315FC-F1AB-46CB-9D15-4FC6C27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Уточнение оценок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C2C41-F00F-4D69-B216-F6E92F06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E61A9-FD24-4A0C-8FD6-CEB4A6F1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Пересмотр четырёх работ проверяет устойчивость критического пути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D65BB-0DCD-4A1A-939C-0555F9C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0EFDF-C190-4900-91DB-B16D117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12954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5524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Было,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Причина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компонентов можно использовать повторно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Используются готовые механизмы больничной инфраструктуры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Недооценена работа со сканами и валидацией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Потребовалась дополнительная настройка фильтров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50E75-5AB7-41F9-84B3-F1978D7C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Почему выбраны эти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7F876-265A-4CA5-9E5A-5FEC215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295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6950C-961F-46F9-8F7E-4D2D95D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96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B и 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DA685-9824-4873-B42C-ED11FA23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96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критические работы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BF796-CC56-4499-97B0-C04D491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ACCE3-672F-48D2-A9E1-A33E8AB2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96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почти критическая, исходный резерв 1 день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D474A-3A3A-4A69-9A25-BBE47796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4A186-C3EC-4ED5-BC29-4C36C572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некритическая, резерв 11 дней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B3E2D-A88D-4F15-B972-52C7BE46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48500"/>
            <a:ext cx="1219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сети только одна почти критическая работа. C включена для проверки чувствительности плана.</a:t>
            </a:r>
          </a:p>
        </p:txBody>
      </p:sp>
    </p:spTree>
    <p:extLst>
      <p:ext uri="{BB962C8B-B14F-4D97-AF65-F5344CB8AC3E}">
        <p14:creationId xmlns:p14="http://schemas.microsoft.com/office/powerpoint/2010/main" val="1878673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74398-2C23-4688-AFD5-4C256ADD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EF567-C390-4010-B288-5B4E2F44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Пересчёт сроков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E5EBF-B1FA-4915-9355-BA18A6B2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DE3C6-C83E-49ED-941C-67AB248C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Срок остался 38 дней, но критическая ветка сместилась с E на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2E669-1686-452C-A176-852A2891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4D2ED-326D-4A01-BD77-A2895126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83710-69EA-4FB1-B8A0-C8CE3FAF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CA574-9927-4494-98E0-923163C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Новый критический путь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C7CAE-BFF3-43F5-A072-FC3105A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D  →  F  →  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BA51E-1E94-45B3-A344-CB0350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E52A9-2B20-4C6C-A97D-2E1A48D2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F7FB5-CD45-4B11-A58B-F016EC4F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DF015-F606-4A70-B2A1-8C556527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E получает резерв 2 дня.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сохраняет резерв 10 дней.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Изменившиеся значения выделены цветом.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F2D8B-0773-4A6D-918C-B091975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ECB56-BEE4-4437-BC4A-D262E82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Сокращение B и E не уменьшило общий срок: рост D поглотил выигрыш и изменил приоритет контроля.</a:t>
            </a:r>
          </a:p>
        </p:txBody>
      </p:sp>
    </p:spTree>
    <p:extLst>
      <p:ext uri="{BB962C8B-B14F-4D97-AF65-F5344CB8AC3E}">
        <p14:creationId xmlns:p14="http://schemas.microsoft.com/office/powerpoint/2010/main" val="10620559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D87E8-D571-41CD-81FE-8FE6C561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A23D5-F8DA-43AF-A8C7-1954D4A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Итерации и переделки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168DA-107C-4483-855D-01C796FA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B4385-8530-4DB4-911D-138F059D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Обратная связь меняет оценки и критический путь даже при неизменном сроке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895CF-A2EB-46CD-A922-0BCD856A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13E6A-3321-4AB0-8C08-E16D8DC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F2A1B-F9AC-4D92-8C54-D7E880CB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B8C00-7B46-4436-99E5-599A9E5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43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«Классический PM плохо учитывает итерации и переделки»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82BBE-EF94-4567-9A09-39FD9E66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10E04-5A37-4239-A443-614C186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Значение для пилота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9D1CC-6881-4476-BF7C-6EF68486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 и медсёстры проверяют формы в работе. После обратной связи могут потребоваться изменения шаблонов, фильтров и проверки результатов анализов.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FAFC5-8933-43C2-BA54-FA8A920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BB4DD-4CE5-4E4F-BB3F-DEB3E5DB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Результат уточнения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604E6-46EF-485F-901D-C82E070B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Сокращение B и E на один день не сократило срок: D выросла с 6 до 8 дней и стала критической. При том же сроке 38 дней изменился приоритет контроля.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E06E3-4DC1-4188-B324-7A9230BE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DDA39-D948-4047-B2D4-C828CAA1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62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Управление изменениями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24EC4-2254-45FD-BC8B-59AE844A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341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демонстраций оценки и критический путь уточняются. Изменения фиксируются, повторно проверяются и согласуются со спонсором по влиянию на срок и резерв.</a:t>
            </a:r>
          </a:p>
        </p:txBody>
      </p:sp>
    </p:spTree>
    <p:extLst>
      <p:ext uri="{BB962C8B-B14F-4D97-AF65-F5344CB8AC3E}">
        <p14:creationId xmlns:p14="http://schemas.microsoft.com/office/powerpoint/2010/main" val="10412625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E0475-0F5C-4282-819A-E51E67F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C3C2C-531C-4341-846D-7483509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Контрольная точка EVM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1D096-CFC0-45D8-BEC5-7C8A88F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98C3-D6B2-4561-A32D-493A9F0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Учебные данные семинара 8 для пилота «МедКарта»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F70BA-F0ED-44E8-86E0-84D2D35E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57C35-C6DC-4B50-BC78-1956F74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4D054-C587-4F50-AF53-48AC972A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C57A4-4846-4EC0-AE3C-124A6E0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Новое вводное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FB899-5C5E-4566-BC97-CE95B8E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задержал согласование обучения медсестёр. Пилот отстаёт, дополнительные консультации увеличили расходы.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2762250"/>
          <a:ext xmlns:a="http://schemas.openxmlformats.org/drawingml/2006/main" cx="61912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143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239000" y="2714625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51110b33e44b9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530C6-7705-40E1-A3CA-646DA39C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19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DEB0B-F122-4BBA-AD33-B0108C36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Первичный диагноз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CE558-087B-49B4-A4E2-D84FCB4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EV ниже PV на 30 000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6B5C0-92D4-4B87-A945-AF12801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AC выше EV на 20 000 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B268E-5EF3-4740-A481-F68330C9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0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SV измеряется в рублях плановой стоимости, а не в календарных днях.</a:t>
            </a:r>
          </a:p>
        </p:txBody>
      </p:sp>
    </p:spTree>
    <p:extLst>
      <p:ext uri="{BB962C8B-B14F-4D97-AF65-F5344CB8AC3E}">
        <p14:creationId xmlns:p14="http://schemas.microsoft.com/office/powerpoint/2010/main" val="1114480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5D849-5F2D-4B67-A7BC-DFD9B6F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9CF36-EBCF-4077-9808-53889BF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Расчёт EVM: отставание и перерасход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DB1BB-2DFC-4150-917A-81AF5575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4419C-82E3-4658-96DC-1D16432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Все восемь показателей рассчитаны для исходного BAC 250 000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643B0-9ACE-4A97-9732-A401E9B9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B09E9-744A-40AB-88B1-24B8D54D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2381250"/>
                <a:gridCol w="6953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Формула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AC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−20 000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Перерасход на контрольную дату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PV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меньше плана; показатель выражен в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AC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86 коп. плановой ценности на 1 ₽ затрат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PV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80% планового объёма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/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291 667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итоговой стоимости при сохранении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VAC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− 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−41 667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Прогнозный перерасход относительно BAC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ETC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 − 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Ожидаемые затраты до завершения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(BAC − EV) / (BAC − AC)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Остаток работ требует эффективности на 18% выше плана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3E4BC-06D1-4A49-849A-B6FC45E4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1409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02B21-7C67-48EA-ADC2-973105F2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91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Диагноз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1C0DC-912D-46D4-B0B4-6BA89526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62850"/>
            <a:ext cx="1209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Проект отстаёт по объёму и превышает бюджет. При текущей эффективности прогнозный перерасход составляет 41 667 ₽.</a:t>
            </a:r>
          </a:p>
        </p:txBody>
      </p:sp>
    </p:spTree>
    <p:extLst>
      <p:ext uri="{BB962C8B-B14F-4D97-AF65-F5344CB8AC3E}">
        <p14:creationId xmlns:p14="http://schemas.microsoft.com/office/powerpoint/2010/main" val="17810991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95670-CD44-4B21-83CE-6600B44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1F757-5E4D-41CE-9672-2F0D0BA2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Управленческое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F48C3-8875-4F49-B1AC-C687EA41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793B0-90BF-4C07-94E1-40BA67CF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Корректирующие действия сохраняют требования к безопасности и приёмке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899CB-D90A-4337-9C23-0EF60557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2A989-9193-4FB3-9CC4-BA7D27F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1DF03-9DB1-433D-9D78-AA22906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41F9-5749-4E5E-B186-FCA136D9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Причина отклонений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3D0C8-6149-4579-8715-CCDCCB0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Задержка согласования обучения снизила EV относительно плана, дополнительные консультации увеличили AC.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9671F-F818-4B27-BE45-5D56DCCA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Рекомендуемые 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BC0B0-6CE8-4FAB-BCE2-FD8E9CC5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94ACB-ABA9-4F75-94DC-E1C481CA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127B7-4A2D-4350-96DE-91738D9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Зафиксировать решение по обучению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7AE10-8B93-4ECD-96C3-82EB46BF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Назначить одного согласующего, заместителя и дату обучения. Убрать повторные согласования программы.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85F3-205F-4388-8C02-939880F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40409-E504-4620-A067-67618AB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Оформить изменение базового плана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91D79-EFDA-4E61-9C87-858C15D1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Вынести спонсору EAC 291 667 ₽: увеличить BAC на 41 667 ₽ или сократить только некритичный объём.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72E11-1681-4204-9367-698CB63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AA0D0-1302-4EF9-964B-92000BB2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Контролировать восстановление еженедельно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1BBAA-9390-4787-9003-0BC410D3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03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Повторять PV, EV и AC по правилу 0/50/100. Не сокращать защиту данных, тестирование и критерий обучения 90%.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05B9B-4828-44AA-ADB8-61B1FC4D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Риски решения и меры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7715250" y="32575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нивелировать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снова сдвигается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Срок ответа, заместитель согласующего и календарь обучения, утверждённый спонсором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Ускорение ухудшит подготовку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3 дня тренингов и порог приёмки: 90% медсестёр сдали зачёт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Консультации увеличат AC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Ограничить часы, согласовать фиксированный пакет, превышения проводить через запрос на изменение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 1,18 недостижим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Пересмотреть BAC или срок решением спонсора, не скрывать сокращение объёма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5C093-13A0-4AD3-92F3-FFB52B0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409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DEBDF-3893-4637-A5A8-775D202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8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Контроль через неделю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AFE26-7C7F-400C-8381-2C04ABB1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4580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Если CPI или SPI остаются ниже 0,90, спонсор утверждает новый бюджет или срок.</a:t>
            </a:r>
          </a:p>
        </p:txBody>
      </p:sp>
    </p:spTree>
    <p:extLst>
      <p:ext uri="{BB962C8B-B14F-4D97-AF65-F5344CB8AC3E}">
        <p14:creationId xmlns:p14="http://schemas.microsoft.com/office/powerpoint/2010/main" val="1454824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2026-09-22T11:59:15.2870000Z</dcterms:created>
  <dcterms:modified xsi:type="dcterms:W3CDTF">2026-09-22T11:59:15.2870000Z</dcterms:modified>
</coreProperties>
</file>