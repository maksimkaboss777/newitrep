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edacae7f574211" /><Relationship Type="http://schemas.openxmlformats.org/officeDocument/2006/relationships/extended-properties" Target="/docProps/app.xml" Id="R94ce4089c84d4439" /><Relationship Type="http://schemas.openxmlformats.org/officeDocument/2006/relationships/officeDocument" Target="/ppt/presentation.xml" Id="R98d36c40b1a141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111329c9964c8f"/>
  </p:sldMasterIdLst>
  <p:notesMasterIdLst>
    <p:notesMasterId xmlns:r="http://schemas.openxmlformats.org/officeDocument/2006/relationships" r:id="Rcd1f3e44173043e0"/>
  </p:notesMasterIdLst>
  <p:sldIdLst>
    <p:sldId xmlns:r="http://schemas.openxmlformats.org/officeDocument/2006/relationships" id="256" r:id="Rf05b295450c343a5"/>
    <p:sldId xmlns:r="http://schemas.openxmlformats.org/officeDocument/2006/relationships" id="257" r:id="R4cf0c5bc95d14277"/>
    <p:sldId xmlns:r="http://schemas.openxmlformats.org/officeDocument/2006/relationships" id="258" r:id="Rd5e5aeee49ba45b0"/>
    <p:sldId xmlns:r="http://schemas.openxmlformats.org/officeDocument/2006/relationships" id="259" r:id="R8d8af45707814f23"/>
    <p:sldId xmlns:r="http://schemas.openxmlformats.org/officeDocument/2006/relationships" id="260" r:id="R8c18e2a7c76b47c7"/>
    <p:sldId xmlns:r="http://schemas.openxmlformats.org/officeDocument/2006/relationships" id="261" r:id="R9193237318ab48c3"/>
    <p:sldId xmlns:r="http://schemas.openxmlformats.org/officeDocument/2006/relationships" id="262" r:id="R3f3a7da0d8274219"/>
    <p:sldId xmlns:r="http://schemas.openxmlformats.org/officeDocument/2006/relationships" id="263" r:id="R3b6b310663e54bd5"/>
    <p:sldId xmlns:r="http://schemas.openxmlformats.org/officeDocument/2006/relationships" id="264" r:id="R88a9162bfa194eef"/>
    <p:sldId xmlns:r="http://schemas.openxmlformats.org/officeDocument/2006/relationships" id="265" r:id="Rdd6209800257409f"/>
    <p:sldId xmlns:r="http://schemas.openxmlformats.org/officeDocument/2006/relationships" id="266" r:id="Rc9dd615947cd46f0"/>
    <p:sldId xmlns:r="http://schemas.openxmlformats.org/officeDocument/2006/relationships" id="267" r:id="R716e494e0f284bc4"/>
    <p:sldId xmlns:r="http://schemas.openxmlformats.org/officeDocument/2006/relationships" id="268" r:id="Rd9288574269c405d"/>
    <p:sldId xmlns:r="http://schemas.openxmlformats.org/officeDocument/2006/relationships" id="269" r:id="R8f1639fab48e479c"/>
    <p:sldId xmlns:r="http://schemas.openxmlformats.org/officeDocument/2006/relationships" id="270" r:id="Rf0630a4ff1384e3c"/>
    <p:sldId xmlns:r="http://schemas.openxmlformats.org/officeDocument/2006/relationships" id="271" r:id="Rd604c986e4764d78"/>
    <p:sldId xmlns:r="http://schemas.openxmlformats.org/officeDocument/2006/relationships" id="272" r:id="R9ea76e30a7db4e33"/>
    <p:sldId xmlns:r="http://schemas.openxmlformats.org/officeDocument/2006/relationships" id="273" r:id="R7ba7722298734f12"/>
    <p:sldId xmlns:r="http://schemas.openxmlformats.org/officeDocument/2006/relationships" id="274" r:id="R0a09c3f7107d4dba"/>
    <p:sldId xmlns:r="http://schemas.openxmlformats.org/officeDocument/2006/relationships" id="275" r:id="R75e5881399424280"/>
    <p:sldId xmlns:r="http://schemas.openxmlformats.org/officeDocument/2006/relationships" id="276" r:id="R74cba682c11547b1"/>
    <p:sldId xmlns:r="http://schemas.openxmlformats.org/officeDocument/2006/relationships" id="277" r:id="Rd029b0ef4a8e4f03"/>
    <p:sldId xmlns:r="http://schemas.openxmlformats.org/officeDocument/2006/relationships" id="278" r:id="Re198fcaa708a448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40fad80df144c0" /><Relationship Type="http://schemas.openxmlformats.org/officeDocument/2006/relationships/slideMaster" Target="/ppt/slideMasters/slideMaster1.xml" Id="R67111329c9964c8f" /><Relationship Type="http://schemas.openxmlformats.org/officeDocument/2006/relationships/notesMaster" Target="/ppt/notesMasters/notesMaster1.xml" Id="Rcd1f3e44173043e0" /><Relationship Type="http://schemas.openxmlformats.org/officeDocument/2006/relationships/presProps" Target="/ppt/presProps.xml" Id="Rd2dbad3d2922450d" /><Relationship Type="http://schemas.openxmlformats.org/officeDocument/2006/relationships/viewProps" Target="/ppt/viewProps.xml" Id="R48b7642ce13b4467" /><Relationship Type="http://schemas.openxmlformats.org/officeDocument/2006/relationships/tableStyles" Target="/ppt/tableStyles.xml" Id="R0559befa18754992" /><Relationship Type="http://schemas.openxmlformats.org/officeDocument/2006/relationships/slide" Target="/ppt/slides/slide1.xml" Id="Rf05b295450c343a5" /><Relationship Type="http://schemas.openxmlformats.org/officeDocument/2006/relationships/slide" Target="/ppt/slides/slide2.xml" Id="R4cf0c5bc95d14277" /><Relationship Type="http://schemas.openxmlformats.org/officeDocument/2006/relationships/slide" Target="/ppt/slides/slide3.xml" Id="Rd5e5aeee49ba45b0" /><Relationship Type="http://schemas.openxmlformats.org/officeDocument/2006/relationships/slide" Target="/ppt/slides/slide4.xml" Id="R8d8af45707814f23" /><Relationship Type="http://schemas.openxmlformats.org/officeDocument/2006/relationships/slide" Target="/ppt/slides/slide5.xml" Id="R8c18e2a7c76b47c7" /><Relationship Type="http://schemas.openxmlformats.org/officeDocument/2006/relationships/slide" Target="/ppt/slides/slide6.xml" Id="R9193237318ab48c3" /><Relationship Type="http://schemas.openxmlformats.org/officeDocument/2006/relationships/slide" Target="/ppt/slides/slide7.xml" Id="R3f3a7da0d8274219" /><Relationship Type="http://schemas.openxmlformats.org/officeDocument/2006/relationships/slide" Target="/ppt/slides/slide8.xml" Id="R3b6b310663e54bd5" /><Relationship Type="http://schemas.openxmlformats.org/officeDocument/2006/relationships/slide" Target="/ppt/slides/slide9.xml" Id="R88a9162bfa194eef" /><Relationship Type="http://schemas.openxmlformats.org/officeDocument/2006/relationships/slide" Target="/ppt/slides/slide10.xml" Id="Rdd6209800257409f" /><Relationship Type="http://schemas.openxmlformats.org/officeDocument/2006/relationships/slide" Target="/ppt/slides/slide11.xml" Id="Rc9dd615947cd46f0" /><Relationship Type="http://schemas.openxmlformats.org/officeDocument/2006/relationships/slide" Target="/ppt/slides/slide12.xml" Id="R716e494e0f284bc4" /><Relationship Type="http://schemas.openxmlformats.org/officeDocument/2006/relationships/slide" Target="/ppt/slides/slide13.xml" Id="Rd9288574269c405d" /><Relationship Type="http://schemas.openxmlformats.org/officeDocument/2006/relationships/slide" Target="/ppt/slides/slide14.xml" Id="R8f1639fab48e479c" /><Relationship Type="http://schemas.openxmlformats.org/officeDocument/2006/relationships/slide" Target="/ppt/slides/slide15.xml" Id="Rf0630a4ff1384e3c" /><Relationship Type="http://schemas.openxmlformats.org/officeDocument/2006/relationships/slide" Target="/ppt/slides/slide16.xml" Id="Rd604c986e4764d78" /><Relationship Type="http://schemas.openxmlformats.org/officeDocument/2006/relationships/slide" Target="/ppt/slides/slide17.xml" Id="R9ea76e30a7db4e33" /><Relationship Type="http://schemas.openxmlformats.org/officeDocument/2006/relationships/slide" Target="/ppt/slides/slide18.xml" Id="R7ba7722298734f12" /><Relationship Type="http://schemas.openxmlformats.org/officeDocument/2006/relationships/slide" Target="/ppt/slides/slide19.xml" Id="R0a09c3f7107d4dba" /><Relationship Type="http://schemas.openxmlformats.org/officeDocument/2006/relationships/slide" Target="/ppt/slides/slide20.xml" Id="R75e5881399424280" /><Relationship Type="http://schemas.openxmlformats.org/officeDocument/2006/relationships/slide" Target="/ppt/slides/slide21.xml" Id="R74cba682c11547b1" /><Relationship Type="http://schemas.openxmlformats.org/officeDocument/2006/relationships/slide" Target="/ppt/slides/slide22.xml" Id="Rd029b0ef4a8e4f03" /><Relationship Type="http://schemas.openxmlformats.org/officeDocument/2006/relationships/slide" Target="/ppt/slides/slide23.xml" Id="Re198fcaa708a44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8274e1836946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dc4fb170964a01" /><Relationship Type="http://schemas.openxmlformats.org/officeDocument/2006/relationships/notesMaster" Target="/ppt/notesMasters/notesMaster1.xml" Id="R582ed335a7b545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fca738d86f4123" /><Relationship Type="http://schemas.openxmlformats.org/officeDocument/2006/relationships/notesMaster" Target="/ppt/notesMasters/notesMaster1.xml" Id="R6ee7cc2fa74741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dee9191a524ac7" /><Relationship Type="http://schemas.openxmlformats.org/officeDocument/2006/relationships/notesMaster" Target="/ppt/notesMasters/notesMaster1.xml" Id="Rcac3e79a1b334b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c7dc206ebb4c1e" /><Relationship Type="http://schemas.openxmlformats.org/officeDocument/2006/relationships/notesMaster" Target="/ppt/notesMasters/notesMaster1.xml" Id="R8ca01d6349b143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6825841eb74030" /><Relationship Type="http://schemas.openxmlformats.org/officeDocument/2006/relationships/notesMaster" Target="/ppt/notesMasters/notesMaster1.xml" Id="R467f4b8d2be74a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87a0b8a35648db" /><Relationship Type="http://schemas.openxmlformats.org/officeDocument/2006/relationships/notesMaster" Target="/ppt/notesMasters/notesMaster1.xml" Id="Ra647a4d576f042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a706ef46714c8a" /><Relationship Type="http://schemas.openxmlformats.org/officeDocument/2006/relationships/notesMaster" Target="/ppt/notesMasters/notesMaster1.xml" Id="Rc815fd47d8e945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06b04eaeba4f5c" /><Relationship Type="http://schemas.openxmlformats.org/officeDocument/2006/relationships/notesMaster" Target="/ppt/notesMasters/notesMaster1.xml" Id="Ra984dc5928b547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2de484f2ef43d7" /><Relationship Type="http://schemas.openxmlformats.org/officeDocument/2006/relationships/notesMaster" Target="/ppt/notesMasters/notesMaster1.xml" Id="Rc48057bd2d7c44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ff4d0a23984e7a" /><Relationship Type="http://schemas.openxmlformats.org/officeDocument/2006/relationships/notesMaster" Target="/ppt/notesMasters/notesMaster1.xml" Id="R3a670bad243d45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9720f609ac4425" /><Relationship Type="http://schemas.openxmlformats.org/officeDocument/2006/relationships/notesMaster" Target="/ppt/notesMasters/notesMaster1.xml" Id="R70416253d0ef4d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a04253682241cf" /><Relationship Type="http://schemas.openxmlformats.org/officeDocument/2006/relationships/notesMaster" Target="/ppt/notesMasters/notesMaster1.xml" Id="Rf4ca6fc62e8d47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78814ecff146a7" /><Relationship Type="http://schemas.openxmlformats.org/officeDocument/2006/relationships/notesMaster" Target="/ppt/notesMasters/notesMaster1.xml" Id="R58ff1164754441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5b831c52dd4f65" /><Relationship Type="http://schemas.openxmlformats.org/officeDocument/2006/relationships/notesMaster" Target="/ppt/notesMasters/notesMaster1.xml" Id="R29365c6541984e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1b24d025d34312" /><Relationship Type="http://schemas.openxmlformats.org/officeDocument/2006/relationships/notesMaster" Target="/ppt/notesMasters/notesMaster1.xml" Id="Rd6c1597f511945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8169e733134bb8" /><Relationship Type="http://schemas.openxmlformats.org/officeDocument/2006/relationships/notesMaster" Target="/ppt/notesMasters/notesMaster1.xml" Id="Rf3e034d1987046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6fd8132d704371" /><Relationship Type="http://schemas.openxmlformats.org/officeDocument/2006/relationships/notesMaster" Target="/ppt/notesMasters/notesMaster1.xml" Id="Rb056a838e83c4f3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8065807efb149b5" /><Relationship Type="http://schemas.openxmlformats.org/officeDocument/2006/relationships/notesMaster" Target="/ppt/notesMasters/notesMaster1.xml" Id="Ra6c30f8df2e44d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09705cbd354b8c" /><Relationship Type="http://schemas.openxmlformats.org/officeDocument/2006/relationships/notesMaster" Target="/ppt/notesMasters/notesMaster1.xml" Id="R4e2d74e5391b463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0a7185aab04a6c" /><Relationship Type="http://schemas.openxmlformats.org/officeDocument/2006/relationships/notesMaster" Target="/ppt/notesMasters/notesMaster1.xml" Id="R512455626be748c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0a8884d88da4c2d" /><Relationship Type="http://schemas.openxmlformats.org/officeDocument/2006/relationships/notesMaster" Target="/ppt/notesMasters/notesMaster1.xml" Id="R70c24da7db0b4e2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c91e58400d44a4" /><Relationship Type="http://schemas.openxmlformats.org/officeDocument/2006/relationships/notesMaster" Target="/ppt/notesMasters/notesMaster1.xml" Id="R63e7895cdd14425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04ac7bca99946db" /><Relationship Type="http://schemas.openxmlformats.org/officeDocument/2006/relationships/notesMaster" Target="/ppt/notesMasters/notesMaster1.xml" Id="R8f1b8297060541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семинар 8, задание для команды 3 — медицинская информационная система «МедКарта». Формулы EVM взяты из материалов семинара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Округление: индексы — до двух знаков; денежные показатели — до целого рубля. EAC рассчитан как BAC / CPI. TCPI рассчитан для исходного BAC.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Рекомендация использует порог 0,90 из материалов семинара 8. Сокращение требований безопасности и критериев приёмки не предлагается.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2c4b539cc44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646cdd41d44282" /><Relationship Type="http://schemas.openxmlformats.org/officeDocument/2006/relationships/slideLayout" Target="/ppt/slideLayouts/slideLayout1.xml" Id="R6bd6c2c14f0b48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d6c2c14f0b48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fcc194a49454f" /><Relationship Type="http://schemas.openxmlformats.org/officeDocument/2006/relationships/notesSlide" Target="/ppt/notesSlides/notesSlide1.xml" Id="Rdb4777408dee4a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87fc8e03d4993" /><Relationship Type="http://schemas.openxmlformats.org/officeDocument/2006/relationships/notesSlide" Target="/ppt/notesSlides/notesSlide2.xml" Id="Re734d4e3006242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9772df48142cd" /><Relationship Type="http://schemas.openxmlformats.org/officeDocument/2006/relationships/notesSlide" Target="/ppt/notesSlides/notesSlide3.xml" Id="R8753db24b2c34e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a35323b454db0" /><Relationship Type="http://schemas.openxmlformats.org/officeDocument/2006/relationships/notesSlide" Target="/ppt/notesSlides/notesSlide4.xml" Id="R2ae1519dea5a43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eb80a024b4aea" /><Relationship Type="http://schemas.openxmlformats.org/officeDocument/2006/relationships/notesSlide" Target="/ppt/notesSlides/notesSlide5.xml" Id="Rdde6aae10ce64d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0dc5078db49ea" /><Relationship Type="http://schemas.openxmlformats.org/officeDocument/2006/relationships/notesSlide" Target="/ppt/notesSlides/notesSlide6.xml" Id="R88628541751041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fd44d6c124cdd" /><Relationship Type="http://schemas.openxmlformats.org/officeDocument/2006/relationships/notesSlide" Target="/ppt/notesSlides/notesSlide7.xml" Id="R3f0cda869ed54e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6d4f52e3b4d0a" /><Relationship Type="http://schemas.openxmlformats.org/officeDocument/2006/relationships/notesSlide" Target="/ppt/notesSlides/notesSlide8.xml" Id="R9470e0407ad943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ea5340d274793" /><Relationship Type="http://schemas.openxmlformats.org/officeDocument/2006/relationships/notesSlide" Target="/ppt/notesSlides/notesSlide9.xml" Id="R71c46e1f79174a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fa1d914be4e1a" /><Relationship Type="http://schemas.openxmlformats.org/officeDocument/2006/relationships/notesSlide" Target="/ppt/notesSlides/notesSlide10.xml" Id="R81e478b083494e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eb26ac22948e7" /><Relationship Type="http://schemas.openxmlformats.org/officeDocument/2006/relationships/notesSlide" Target="/ppt/notesSlides/notesSlide11.xml" Id="R8eacdcd0250a4b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6c8e927cd440c" /><Relationship Type="http://schemas.openxmlformats.org/officeDocument/2006/relationships/notesSlide" Target="/ppt/notesSlides/notesSlide12.xml" Id="Rd018d7c04a7943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96221ee6f4323" /><Relationship Type="http://schemas.openxmlformats.org/officeDocument/2006/relationships/notesSlide" Target="/ppt/notesSlides/notesSlide13.xml" Id="Rb3e17334583a47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0f2d1a7fe4313" /><Relationship Type="http://schemas.openxmlformats.org/officeDocument/2006/relationships/notesSlide" Target="/ppt/notesSlides/notesSlide14.xml" Id="R655a48b7fd7844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99e7e50974c50" /><Relationship Type="http://schemas.openxmlformats.org/officeDocument/2006/relationships/notesSlide" Target="/ppt/notesSlides/notesSlide15.xml" Id="R49e9ceb4c46542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17aaf7c624879" /><Relationship Type="http://schemas.openxmlformats.org/officeDocument/2006/relationships/notesSlide" Target="/ppt/notesSlides/notesSlide16.xml" Id="R2fd4e84dfb6c41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f24126da0445e" /><Relationship Type="http://schemas.openxmlformats.org/officeDocument/2006/relationships/notesSlide" Target="/ppt/notesSlides/notesSlide17.xml" Id="R597755c93fdc4a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e804e02cd4b24" /><Relationship Type="http://schemas.openxmlformats.org/officeDocument/2006/relationships/notesSlide" Target="/ppt/notesSlides/notesSlide18.xml" Id="R9bf459f3ce4547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bf3124eaa4e3d" /><Relationship Type="http://schemas.openxmlformats.org/officeDocument/2006/relationships/notesSlide" Target="/ppt/notesSlides/notesSlide19.xml" Id="Reec529b7f55141e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52dd301e34db9" /><Relationship Type="http://schemas.openxmlformats.org/officeDocument/2006/relationships/notesSlide" Target="/ppt/notesSlides/notesSlide20.xml" Id="R8a9a4f6cbbea4f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087a619624461" /><Relationship Type="http://schemas.openxmlformats.org/officeDocument/2006/relationships/notesSlide" Target="/ppt/notesSlides/notesSlide21.xml" Id="R935c577ab3cc431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93591865f40de" /><Relationship Type="http://schemas.openxmlformats.org/officeDocument/2006/relationships/notesSlide" Target="/ppt/notesSlides/notesSlide22.xml" Id="Re2ccb4500b604e0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e5da9557d49d9" /><Relationship Type="http://schemas.openxmlformats.org/officeDocument/2006/relationships/notesSlide" Target="/ppt/notesSlides/notesSlide23.xml" Id="R74da7fd1fd214e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-1">
            <a:extLst xmlns:a="http://schemas.openxmlformats.org/drawingml/2006/main">
              <a:ext uri="{FF2B5EF4-FFF2-40B4-BE49-F238E27FC236}">
                <a16:creationId xmlns:a16="http://schemas.microsoft.com/office/drawing/2014/main" id="{59EC390C-C120-4492-963B-48DCED5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05225"/>
            <a:ext cx="1238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6600">
                <a:solidFill>
                  <a:srgbClr val="22252A"/>
                </a:solidFill>
                <a:latin typeface="Arial"/>
                <a:ea typeface="Arial"/>
                <a:cs typeface="Arial"/>
              </a:rPr>
              <a:t>МедКарта</a:t>
            </a:r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B1E63E78-E44E-46A1-8E9C-0C4FEB47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62675"/>
            <a:ext cx="4857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9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Алимова Анастасия</a:t>
            </a:r>
          </a:p>
          <a:p xmlns:a="http://schemas.openxmlformats.org/drawingml/2006/main">
            <a:pPr algn="r">
              <a:buNone/>
              <a:defRPr sz="19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Базанов Максим</a:t>
            </a:r>
          </a:p>
          <a:p xmlns:a="http://schemas.openxmlformats.org/drawingml/2006/main">
            <a:pPr algn="r">
              <a:buNone/>
              <a:defRPr sz="19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Гусельникова Кристина</a:t>
            </a:r>
          </a:p>
          <a:p xmlns:a="http://schemas.openxmlformats.org/drawingml/2006/main">
            <a:pPr algn="r">
              <a:buNone/>
              <a:defRPr sz="19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Долотин Артур</a:t>
            </a:r>
          </a:p>
          <a:p xmlns:a="http://schemas.openxmlformats.org/drawingml/2006/main">
            <a:pPr algn="r">
              <a:buNone/>
              <a:defRPr sz="19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Суворов Максим</a:t>
            </a:r>
          </a:p>
        </p:txBody>
      </p:sp>
    </p:spTree>
    <p:extLst>
      <p:ext uri="{BB962C8B-B14F-4D97-AF65-F5344CB8AC3E}">
        <p14:creationId xmlns:p14="http://schemas.microsoft.com/office/powerpoint/2010/main" val="7893523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shape-3">
            <a:extLst xmlns:a="http://schemas.openxmlformats.org/drawingml/2006/main">
              <a:ext uri="{FF2B5EF4-FFF2-40B4-BE49-F238E27FC236}">
                <a16:creationId xmlns:a16="http://schemas.microsoft.com/office/drawing/2014/main" id="{1B9BFF6C-B8DA-41EC-B0BA-10EA2099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8125"/>
            <a:ext cx="3333750" cy="59245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1"/>
            </a:solidFill>
          </a:ln>
        </p:spPr>
      </p:sp>
      <p:sp>
        <p:nvSpPr>
          <p:cNvPr id="2" name="shape-4">
            <a:extLst xmlns:a="http://schemas.openxmlformats.org/drawingml/2006/main">
              <a:ext uri="{FF2B5EF4-FFF2-40B4-BE49-F238E27FC236}">
                <a16:creationId xmlns:a16="http://schemas.microsoft.com/office/drawing/2014/main" id="{2DA09DD9-9CF9-47C4-9965-ECA74511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8125"/>
            <a:ext cx="11220450" cy="5924550"/>
          </a:xfrm>
          <a:prstGeom xmlns:a="http://schemas.openxmlformats.org/drawingml/2006/main" prst="roundRect">
            <a:avLst>
              <a:gd name="adj" fmla="val 45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1"/>
            </a:solidFill>
          </a:ln>
        </p:spPr>
      </p:sp>
      <p:sp>
        <p:nvSpPr>
          <p:cNvPr id="3" name="shape-5">
            <a:extLst xmlns:a="http://schemas.openxmlformats.org/drawingml/2006/main">
              <a:ext uri="{FF2B5EF4-FFF2-40B4-BE49-F238E27FC236}">
                <a16:creationId xmlns:a16="http://schemas.microsoft.com/office/drawing/2014/main" id="{C4C264EE-35B7-43E0-82D8-926EEF54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334125"/>
            <a:ext cx="14706600" cy="1971675"/>
          </a:xfrm>
          <a:prstGeom xmlns:a="http://schemas.openxmlformats.org/drawingml/2006/main" prst="roundRect">
            <a:avLst>
              <a:gd name="adj" fmla="val 135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1"/>
            </a:solidFill>
          </a:ln>
        </p:spPr>
      </p:sp>
      <p:sp>
        <p:nvSpPr>
          <p:cNvPr id="4" name="shape-6">
            <a:extLst xmlns:a="http://schemas.openxmlformats.org/drawingml/2006/main">
              <a:ext uri="{FF2B5EF4-FFF2-40B4-BE49-F238E27FC236}">
                <a16:creationId xmlns:a16="http://schemas.microsoft.com/office/drawing/2014/main" id="{D7CCB989-D57A-4824-A8D9-68C9E2B2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Методология</a:t>
            </a:r>
          </a:p>
        </p:txBody>
      </p:sp>
      <p:sp>
        <p:nvSpPr>
          <p:cNvPr id="5" name="shape-7">
            <a:extLst xmlns:a="http://schemas.openxmlformats.org/drawingml/2006/main">
              <a:ext uri="{FF2B5EF4-FFF2-40B4-BE49-F238E27FC236}">
                <a16:creationId xmlns:a16="http://schemas.microsoft.com/office/drawing/2014/main" id="{47910DA8-C064-4FCF-94D3-C9D5161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2609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9"/>
          </a:solidFill>
          <a:ln xmlns:a="http://schemas.openxmlformats.org/drawingml/2006/main" w="0">
            <a:noFill/>
          </a:ln>
        </p:spPr>
      </p:sp>
      <p:sp>
        <p:nvSpPr>
          <p:cNvPr id="6" name="shape-8">
            <a:extLst xmlns:a="http://schemas.openxmlformats.org/drawingml/2006/main">
              <a:ext uri="{FF2B5EF4-FFF2-40B4-BE49-F238E27FC236}">
                <a16:creationId xmlns:a16="http://schemas.microsoft.com/office/drawing/2014/main" id="{2705C6E3-3C0F-497B-B711-00401D9F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38225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PRINCE2</a:t>
            </a:r>
          </a:p>
        </p:txBody>
      </p:sp>
      <p:sp>
        <p:nvSpPr>
          <p:cNvPr id="7" name="shape-9">
            <a:extLst xmlns:a="http://schemas.openxmlformats.org/drawingml/2006/main">
              <a:ext uri="{FF2B5EF4-FFF2-40B4-BE49-F238E27FC236}">
                <a16:creationId xmlns:a16="http://schemas.microsoft.com/office/drawing/2014/main" id="{2A779A1A-7AB6-4E28-A003-95DBE507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609725"/>
            <a:ext cx="2933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EBC"/>
          </a:solidFill>
          <a:ln xmlns:a="http://schemas.openxmlformats.org/drawingml/2006/main" w="0">
            <a:noFill/>
          </a:ln>
        </p:spPr>
      </p:sp>
      <p:sp>
        <p:nvSpPr>
          <p:cNvPr id="8" name="shape-10">
            <a:extLst xmlns:a="http://schemas.openxmlformats.org/drawingml/2006/main">
              <a:ext uri="{FF2B5EF4-FFF2-40B4-BE49-F238E27FC236}">
                <a16:creationId xmlns:a16="http://schemas.microsoft.com/office/drawing/2014/main" id="{7F033242-F6AE-4C31-A275-8FD9344B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24025"/>
            <a:ext cx="27051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Безопасность пациента</a:t>
            </a:r>
          </a:p>
        </p:txBody>
      </p:sp>
      <p:sp>
        <p:nvSpPr>
          <p:cNvPr id="9" name="shape-11">
            <a:extLst xmlns:a="http://schemas.openxmlformats.org/drawingml/2006/main">
              <a:ext uri="{FF2B5EF4-FFF2-40B4-BE49-F238E27FC236}">
                <a16:creationId xmlns:a16="http://schemas.microsoft.com/office/drawing/2014/main" id="{A8A4E556-FF2C-4F38-AC11-5BE814E2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55495"/>
            <a:ext cx="27051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Высокая цена ошибки требует формального контроля качества и приемки по этапам</a:t>
            </a:r>
          </a:p>
        </p:txBody>
      </p:sp>
      <p:sp>
        <p:nvSpPr>
          <p:cNvPr id="10" name="shape-12">
            <a:extLst xmlns:a="http://schemas.openxmlformats.org/drawingml/2006/main">
              <a:ext uri="{FF2B5EF4-FFF2-40B4-BE49-F238E27FC236}">
                <a16:creationId xmlns:a16="http://schemas.microsoft.com/office/drawing/2014/main" id="{D4F97AA0-0CCC-4D41-B7C6-0372735A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048000"/>
            <a:ext cx="2933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EBC"/>
          </a:solidFill>
          <a:ln xmlns:a="http://schemas.openxmlformats.org/drawingml/2006/main" w="0">
            <a:noFill/>
          </a:ln>
        </p:spPr>
      </p:sp>
      <p:sp>
        <p:nvSpPr>
          <p:cNvPr id="11" name="shape-13">
            <a:extLst xmlns:a="http://schemas.openxmlformats.org/drawingml/2006/main">
              <a:ext uri="{FF2B5EF4-FFF2-40B4-BE49-F238E27FC236}">
                <a16:creationId xmlns:a16="http://schemas.microsoft.com/office/drawing/2014/main" id="{D86C1B70-379B-4C5B-9D27-D9CC99CC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27051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Много стейкхолдеров</a:t>
            </a:r>
          </a:p>
        </p:txBody>
      </p:sp>
      <p:sp>
        <p:nvSpPr>
          <p:cNvPr id="12" name="shape-14">
            <a:extLst xmlns:a="http://schemas.openxmlformats.org/drawingml/2006/main">
              <a:ext uri="{FF2B5EF4-FFF2-40B4-BE49-F238E27FC236}">
                <a16:creationId xmlns:a16="http://schemas.microsoft.com/office/drawing/2014/main" id="{028F9CE6-1AAF-49A4-A4B4-43BF1F06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93770"/>
            <a:ext cx="27051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Врачи, администрация, ИТ, регуляторы и подрядчик, пациенты. PRINCE2 помогает четко распределить роли и ответственность</a:t>
            </a:r>
          </a:p>
        </p:txBody>
      </p:sp>
      <p:sp>
        <p:nvSpPr>
          <p:cNvPr id="13" name="shape-15">
            <a:extLst xmlns:a="http://schemas.openxmlformats.org/drawingml/2006/main">
              <a:ext uri="{FF2B5EF4-FFF2-40B4-BE49-F238E27FC236}">
                <a16:creationId xmlns:a16="http://schemas.microsoft.com/office/drawing/2014/main" id="{9C8980DC-A48C-4612-87C4-D30DAB6C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86275"/>
            <a:ext cx="2933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EBC"/>
          </a:solidFill>
          <a:ln xmlns:a="http://schemas.openxmlformats.org/drawingml/2006/main" w="0">
            <a:noFill/>
          </a:ln>
        </p:spPr>
      </p:sp>
      <p:sp>
        <p:nvSpPr>
          <p:cNvPr id="14" name="shape-16">
            <a:extLst xmlns:a="http://schemas.openxmlformats.org/drawingml/2006/main">
              <a:ext uri="{FF2B5EF4-FFF2-40B4-BE49-F238E27FC236}">
                <a16:creationId xmlns:a16="http://schemas.microsoft.com/office/drawing/2014/main" id="{7C39F2FA-B61E-482B-B583-0B5AF147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00575"/>
            <a:ext cx="27051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Миграция и интеграции</a:t>
            </a:r>
          </a:p>
        </p:txBody>
      </p:sp>
      <p:sp>
        <p:nvSpPr>
          <p:cNvPr id="15" name="shape-17">
            <a:extLst xmlns:a="http://schemas.openxmlformats.org/drawingml/2006/main">
              <a:ext uri="{FF2B5EF4-FFF2-40B4-BE49-F238E27FC236}">
                <a16:creationId xmlns:a16="http://schemas.microsoft.com/office/drawing/2014/main" id="{CEE30879-3D6C-4E95-813D-B74353F0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32045"/>
            <a:ext cx="270510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Поэтапный запуск и контроль изменений в PRINCE2 снижают риски ошибок при миграции данных и интеграции системы</a:t>
            </a:r>
          </a:p>
        </p:txBody>
      </p:sp>
      <p:sp>
        <p:nvSpPr>
          <p:cNvPr id="16" name="shape-18">
            <a:extLst xmlns:a="http://schemas.openxmlformats.org/drawingml/2006/main">
              <a:ext uri="{FF2B5EF4-FFF2-40B4-BE49-F238E27FC236}">
                <a16:creationId xmlns:a16="http://schemas.microsoft.com/office/drawing/2014/main" id="{A423A32D-882B-441E-9EEC-7BBD41A7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"/>
            <a:ext cx="1083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3D-диагностика:</a:t>
            </a:r>
          </a:p>
        </p:txBody>
      </p:sp>
      <p:sp>
        <p:nvSpPr>
          <p:cNvPr id="17" name="shape-19">
            <a:extLst xmlns:a="http://schemas.openxmlformats.org/drawingml/2006/main">
              <a:ext uri="{FF2B5EF4-FFF2-40B4-BE49-F238E27FC236}">
                <a16:creationId xmlns:a16="http://schemas.microsoft.com/office/drawing/2014/main" id="{DBDDAEBD-9655-4967-B634-27F332DE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763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Рациональное (3/3)</a:t>
            </a:r>
          </a:p>
        </p:txBody>
      </p:sp>
      <p:sp>
        <p:nvSpPr>
          <p:cNvPr id="18" name="shape-20">
            <a:extLst xmlns:a="http://schemas.openxmlformats.org/drawingml/2006/main">
              <a:ext uri="{FF2B5EF4-FFF2-40B4-BE49-F238E27FC236}">
                <a16:creationId xmlns:a16="http://schemas.microsoft.com/office/drawing/2014/main" id="{06613982-581B-4F2F-BDC4-811E7146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8763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Психосоциальное (2/3)</a:t>
            </a:r>
          </a:p>
        </p:txBody>
      </p:sp>
      <p:sp>
        <p:nvSpPr>
          <p:cNvPr id="19" name="shape-21">
            <a:extLst xmlns:a="http://schemas.openxmlformats.org/drawingml/2006/main">
              <a:ext uri="{FF2B5EF4-FFF2-40B4-BE49-F238E27FC236}">
                <a16:creationId xmlns:a16="http://schemas.microsoft.com/office/drawing/2014/main" id="{9C5A6A6B-541D-4BF3-A31D-D8FB2919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8763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Политическое (2/3)</a:t>
            </a:r>
          </a:p>
        </p:txBody>
      </p:sp>
      <p:sp>
        <p:nvSpPr>
          <p:cNvPr id="20" name="shape-22">
            <a:extLst xmlns:a="http://schemas.openxmlformats.org/drawingml/2006/main">
              <a:ext uri="{FF2B5EF4-FFF2-40B4-BE49-F238E27FC236}">
                <a16:creationId xmlns:a16="http://schemas.microsoft.com/office/drawing/2014/main" id="{97B18CFF-81B8-414F-8E0E-27A5920D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295400"/>
            <a:ext cx="33813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E6"/>
          </a:solidFill>
          <a:ln xmlns:a="http://schemas.openxmlformats.org/drawingml/2006/main" w="0">
            <a:noFill/>
          </a:ln>
        </p:spPr>
      </p:sp>
      <p:sp>
        <p:nvSpPr>
          <p:cNvPr id="21" name="shape-23">
            <a:extLst xmlns:a="http://schemas.openxmlformats.org/drawingml/2006/main">
              <a:ext uri="{FF2B5EF4-FFF2-40B4-BE49-F238E27FC236}">
                <a16:creationId xmlns:a16="http://schemas.microsoft.com/office/drawing/2014/main" id="{C803A1D3-F00D-4C9B-A461-B9D13CAB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400175"/>
            <a:ext cx="31718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 Сроки, бюджет и качество</a:t>
            </a:r>
          </a:p>
        </p:txBody>
      </p:sp>
      <p:sp>
        <p:nvSpPr>
          <p:cNvPr id="22" name="shape-24">
            <a:extLst xmlns:a="http://schemas.openxmlformats.org/drawingml/2006/main">
              <a:ext uri="{FF2B5EF4-FFF2-40B4-BE49-F238E27FC236}">
                <a16:creationId xmlns:a16="http://schemas.microsoft.com/office/drawing/2014/main" id="{4FA8C14E-7E42-45D8-81D7-E1940722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31645"/>
            <a:ext cx="3171825" cy="63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Критерии удобства, безопасности и скорости работы согласованы лишь частично</a:t>
            </a:r>
          </a:p>
        </p:txBody>
      </p:sp>
      <p:sp>
        <p:nvSpPr>
          <p:cNvPr id="23" name="shape-25">
            <a:extLst xmlns:a="http://schemas.openxmlformats.org/drawingml/2006/main">
              <a:ext uri="{FF2B5EF4-FFF2-40B4-BE49-F238E27FC236}">
                <a16:creationId xmlns:a16="http://schemas.microsoft.com/office/drawing/2014/main" id="{BCFACB1D-15E2-4D34-A226-1D359DE2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90800"/>
            <a:ext cx="33813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E6"/>
          </a:solidFill>
          <a:ln xmlns:a="http://schemas.openxmlformats.org/drawingml/2006/main" w="0">
            <a:noFill/>
          </a:ln>
        </p:spPr>
      </p:sp>
      <p:sp>
        <p:nvSpPr>
          <p:cNvPr id="24" name="shape-26">
            <a:extLst xmlns:a="http://schemas.openxmlformats.org/drawingml/2006/main">
              <a:ext uri="{FF2B5EF4-FFF2-40B4-BE49-F238E27FC236}">
                <a16:creationId xmlns:a16="http://schemas.microsoft.com/office/drawing/2014/main" id="{2BCC6E3D-CA63-48EB-A763-0E22C307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95575"/>
            <a:ext cx="31718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2. Изменения требований</a:t>
            </a:r>
          </a:p>
        </p:txBody>
      </p:sp>
      <p:sp>
        <p:nvSpPr>
          <p:cNvPr id="25" name="shape-27">
            <a:extLst xmlns:a="http://schemas.openxmlformats.org/drawingml/2006/main">
              <a:ext uri="{FF2B5EF4-FFF2-40B4-BE49-F238E27FC236}">
                <a16:creationId xmlns:a16="http://schemas.microsoft.com/office/drawing/2014/main" id="{72E1938B-C94A-4515-9F00-3ECFFD39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27045"/>
            <a:ext cx="3171825" cy="63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На пилоте врачи и другие пользовали могут менять требования к интерфейсу и функционалу</a:t>
            </a:r>
          </a:p>
        </p:txBody>
      </p:sp>
      <p:sp>
        <p:nvSpPr>
          <p:cNvPr id="26" name="shape-28">
            <a:extLst xmlns:a="http://schemas.openxmlformats.org/drawingml/2006/main">
              <a:ext uri="{FF2B5EF4-FFF2-40B4-BE49-F238E27FC236}">
                <a16:creationId xmlns:a16="http://schemas.microsoft.com/office/drawing/2014/main" id="{EF7E4461-3986-45F5-9717-B514A3A5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86200"/>
            <a:ext cx="33813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E6"/>
          </a:solidFill>
          <a:ln xmlns:a="http://schemas.openxmlformats.org/drawingml/2006/main" w="0">
            <a:noFill/>
          </a:ln>
        </p:spPr>
      </p:sp>
      <p:sp>
        <p:nvSpPr>
          <p:cNvPr id="27" name="shape-29">
            <a:extLst xmlns:a="http://schemas.openxmlformats.org/drawingml/2006/main">
              <a:ext uri="{FF2B5EF4-FFF2-40B4-BE49-F238E27FC236}">
                <a16:creationId xmlns:a16="http://schemas.microsoft.com/office/drawing/2014/main" id="{1EE637CE-A675-4AFF-B421-8B53D197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90975"/>
            <a:ext cx="31718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3.Неопределенность данных</a:t>
            </a:r>
          </a:p>
        </p:txBody>
      </p:sp>
      <p:sp>
        <p:nvSpPr>
          <p:cNvPr id="28" name="shape-30">
            <a:extLst xmlns:a="http://schemas.openxmlformats.org/drawingml/2006/main">
              <a:ext uri="{FF2B5EF4-FFF2-40B4-BE49-F238E27FC236}">
                <a16:creationId xmlns:a16="http://schemas.microsoft.com/office/drawing/2014/main" id="{3B65B477-EEED-445E-A05B-B917E4E7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22445"/>
            <a:ext cx="3171825" cy="63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Объем очистки старых записей, качество данных и трудоемкость интеграции заранее неизвестны</a:t>
            </a:r>
          </a:p>
        </p:txBody>
      </p:sp>
      <p:sp>
        <p:nvSpPr>
          <p:cNvPr id="29" name="shape-31">
            <a:extLst xmlns:a="http://schemas.openxmlformats.org/drawingml/2006/main">
              <a:ext uri="{FF2B5EF4-FFF2-40B4-BE49-F238E27FC236}">
                <a16:creationId xmlns:a16="http://schemas.microsoft.com/office/drawing/2014/main" id="{565D9E1C-612D-470C-A89B-15EC7E71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295400"/>
            <a:ext cx="33813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E6"/>
          </a:solidFill>
          <a:ln xmlns:a="http://schemas.openxmlformats.org/drawingml/2006/main" w="0">
            <a:noFill/>
          </a:ln>
        </p:spPr>
      </p:sp>
      <p:sp>
        <p:nvSpPr>
          <p:cNvPr id="30" name="shape-32">
            <a:extLst xmlns:a="http://schemas.openxmlformats.org/drawingml/2006/main">
              <a:ext uri="{FF2B5EF4-FFF2-40B4-BE49-F238E27FC236}">
                <a16:creationId xmlns:a16="http://schemas.microsoft.com/office/drawing/2014/main" id="{89E77BBC-EECB-4960-975E-96426271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00175"/>
            <a:ext cx="31718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4. Цель и ожидания</a:t>
            </a:r>
          </a:p>
        </p:txBody>
      </p:sp>
      <p:sp>
        <p:nvSpPr>
          <p:cNvPr id="31" name="shape-33">
            <a:extLst xmlns:a="http://schemas.openxmlformats.org/drawingml/2006/main">
              <a:ext uri="{FF2B5EF4-FFF2-40B4-BE49-F238E27FC236}">
                <a16:creationId xmlns:a16="http://schemas.microsoft.com/office/drawing/2014/main" id="{79E81F1D-D9C9-4014-9D8E-20A9F4F6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31645"/>
            <a:ext cx="3171825" cy="63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Администрации нужна отчетность, а врачам важно сократить время на ввод данных</a:t>
            </a:r>
          </a:p>
        </p:txBody>
      </p:sp>
      <p:sp>
        <p:nvSpPr>
          <p:cNvPr id="32" name="shape-34">
            <a:extLst xmlns:a="http://schemas.openxmlformats.org/drawingml/2006/main">
              <a:ext uri="{FF2B5EF4-FFF2-40B4-BE49-F238E27FC236}">
                <a16:creationId xmlns:a16="http://schemas.microsoft.com/office/drawing/2014/main" id="{8A4B8C9C-7F88-4355-8294-BA3A1DD1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90800"/>
            <a:ext cx="33813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E6"/>
          </a:solidFill>
          <a:ln xmlns:a="http://schemas.openxmlformats.org/drawingml/2006/main" w="0">
            <a:noFill/>
          </a:ln>
        </p:spPr>
      </p:sp>
      <p:sp>
        <p:nvSpPr>
          <p:cNvPr id="33" name="shape-35">
            <a:extLst xmlns:a="http://schemas.openxmlformats.org/drawingml/2006/main">
              <a:ext uri="{FF2B5EF4-FFF2-40B4-BE49-F238E27FC236}">
                <a16:creationId xmlns:a16="http://schemas.microsoft.com/office/drawing/2014/main" id="{6A95A724-A138-49DE-9329-6FDCF669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95575"/>
            <a:ext cx="31718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5. Скрытое сопротивление</a:t>
            </a:r>
          </a:p>
        </p:txBody>
      </p:sp>
      <p:sp>
        <p:nvSpPr>
          <p:cNvPr id="34" name="shape-36">
            <a:extLst xmlns:a="http://schemas.openxmlformats.org/drawingml/2006/main">
              <a:ext uri="{FF2B5EF4-FFF2-40B4-BE49-F238E27FC236}">
                <a16:creationId xmlns:a16="http://schemas.microsoft.com/office/drawing/2014/main" id="{E5CBB172-DE2F-4CC0-B3B4-8C71BAD3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27045"/>
            <a:ext cx="3171825" cy="63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Часть врачей формально может поддерживать проект, но фактически избегать использования</a:t>
            </a:r>
          </a:p>
        </p:txBody>
      </p:sp>
      <p:sp>
        <p:nvSpPr>
          <p:cNvPr id="35" name="shape-37">
            <a:extLst xmlns:a="http://schemas.openxmlformats.org/drawingml/2006/main">
              <a:ext uri="{FF2B5EF4-FFF2-40B4-BE49-F238E27FC236}">
                <a16:creationId xmlns:a16="http://schemas.microsoft.com/office/drawing/2014/main" id="{58074718-2AFB-4D58-9D92-AA3E7563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86200"/>
            <a:ext cx="33813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D8"/>
          </a:solidFill>
          <a:ln xmlns:a="http://schemas.openxmlformats.org/drawingml/2006/main" w="0">
            <a:noFill/>
          </a:ln>
        </p:spPr>
      </p:sp>
      <p:sp>
        <p:nvSpPr>
          <p:cNvPr id="36" name="shape-38">
            <a:extLst xmlns:a="http://schemas.openxmlformats.org/drawingml/2006/main">
              <a:ext uri="{FF2B5EF4-FFF2-40B4-BE49-F238E27FC236}">
                <a16:creationId xmlns:a16="http://schemas.microsoft.com/office/drawing/2014/main" id="{7C93616A-F0A2-4934-AFB8-A88BD584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90975"/>
            <a:ext cx="31718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6. Критерии провала</a:t>
            </a:r>
          </a:p>
        </p:txBody>
      </p:sp>
      <p:sp>
        <p:nvSpPr>
          <p:cNvPr id="37" name="shape-39">
            <a:extLst xmlns:a="http://schemas.openxmlformats.org/drawingml/2006/main">
              <a:ext uri="{FF2B5EF4-FFF2-40B4-BE49-F238E27FC236}">
                <a16:creationId xmlns:a16="http://schemas.microsoft.com/office/drawing/2014/main" id="{8A494C5A-F1FB-4040-805B-10721270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22445"/>
            <a:ext cx="3171825" cy="63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Основные причины неудачи можно определить заранее: ошибки миграции, перегрузка пользователей, отказ от использования системы</a:t>
            </a:r>
          </a:p>
        </p:txBody>
      </p:sp>
      <p:sp>
        <p:nvSpPr>
          <p:cNvPr id="38" name="shape-40">
            <a:extLst xmlns:a="http://schemas.openxmlformats.org/drawingml/2006/main">
              <a:ext uri="{FF2B5EF4-FFF2-40B4-BE49-F238E27FC236}">
                <a16:creationId xmlns:a16="http://schemas.microsoft.com/office/drawing/2014/main" id="{23856598-741C-4EB1-A3C7-D0BA9EBC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295400"/>
            <a:ext cx="33813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E6"/>
          </a:solidFill>
          <a:ln xmlns:a="http://schemas.openxmlformats.org/drawingml/2006/main" w="0">
            <a:noFill/>
          </a:ln>
        </p:spPr>
      </p:sp>
      <p:sp>
        <p:nvSpPr>
          <p:cNvPr id="39" name="shape-41">
            <a:extLst xmlns:a="http://schemas.openxmlformats.org/drawingml/2006/main">
              <a:ext uri="{FF2B5EF4-FFF2-40B4-BE49-F238E27FC236}">
                <a16:creationId xmlns:a16="http://schemas.microsoft.com/office/drawing/2014/main" id="{EA77F3BE-4D8B-4513-B376-A95E818D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400175"/>
            <a:ext cx="31718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7. Власть и влияние</a:t>
            </a:r>
          </a:p>
        </p:txBody>
      </p:sp>
      <p:sp>
        <p:nvSpPr>
          <p:cNvPr id="40" name="shape-42">
            <a:extLst xmlns:a="http://schemas.openxmlformats.org/drawingml/2006/main">
              <a:ext uri="{FF2B5EF4-FFF2-40B4-BE49-F238E27FC236}">
                <a16:creationId xmlns:a16="http://schemas.microsoft.com/office/drawing/2014/main" id="{DE7343EB-9EB7-45B3-AC46-B7B7F81B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731645"/>
            <a:ext cx="3171825" cy="63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Формальный спонсор решает не всё: заведующие и ведущие врачи влияют могут существенно влиять на решения по проекту</a:t>
            </a:r>
          </a:p>
        </p:txBody>
      </p:sp>
      <p:sp>
        <p:nvSpPr>
          <p:cNvPr id="41" name="shape-43">
            <a:extLst xmlns:a="http://schemas.openxmlformats.org/drawingml/2006/main">
              <a:ext uri="{FF2B5EF4-FFF2-40B4-BE49-F238E27FC236}">
                <a16:creationId xmlns:a16="http://schemas.microsoft.com/office/drawing/2014/main" id="{CADABAB5-B279-4E7F-86EC-8D9CD89F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590800"/>
            <a:ext cx="33813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CE6"/>
          </a:solidFill>
          <a:ln xmlns:a="http://schemas.openxmlformats.org/drawingml/2006/main" w="0">
            <a:noFill/>
          </a:ln>
        </p:spPr>
      </p:sp>
      <p:sp>
        <p:nvSpPr>
          <p:cNvPr id="42" name="shape-44">
            <a:extLst xmlns:a="http://schemas.openxmlformats.org/drawingml/2006/main">
              <a:ext uri="{FF2B5EF4-FFF2-40B4-BE49-F238E27FC236}">
                <a16:creationId xmlns:a16="http://schemas.microsoft.com/office/drawing/2014/main" id="{9D95BF44-DD1E-42AA-9556-5C6AC1DC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95575"/>
            <a:ext cx="31718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8. Конкуренция интересов</a:t>
            </a:r>
          </a:p>
        </p:txBody>
      </p:sp>
      <p:sp>
        <p:nvSpPr>
          <p:cNvPr id="43" name="shape-45">
            <a:extLst xmlns:a="http://schemas.openxmlformats.org/drawingml/2006/main">
              <a:ext uri="{FF2B5EF4-FFF2-40B4-BE49-F238E27FC236}">
                <a16:creationId xmlns:a16="http://schemas.microsoft.com/office/drawing/2014/main" id="{F6AE7461-5670-4766-BD3E-F803EA4E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027045"/>
            <a:ext cx="3171825" cy="63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Подразделения могут конкурировать за бюджет, сроки внедрения и приоритеты процессов</a:t>
            </a:r>
          </a:p>
        </p:txBody>
      </p:sp>
      <p:sp>
        <p:nvSpPr>
          <p:cNvPr id="44" name="shape-46">
            <a:extLst xmlns:a="http://schemas.openxmlformats.org/drawingml/2006/main">
              <a:ext uri="{FF2B5EF4-FFF2-40B4-BE49-F238E27FC236}">
                <a16:creationId xmlns:a16="http://schemas.microsoft.com/office/drawing/2014/main" id="{8CBBCFB6-B7CC-423A-9298-186FFE1C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886200"/>
            <a:ext cx="33813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D8"/>
          </a:solidFill>
          <a:ln xmlns:a="http://schemas.openxmlformats.org/drawingml/2006/main" w="0">
            <a:noFill/>
          </a:ln>
        </p:spPr>
      </p:sp>
      <p:sp>
        <p:nvSpPr>
          <p:cNvPr id="45" name="shape-47">
            <a:extLst xmlns:a="http://schemas.openxmlformats.org/drawingml/2006/main">
              <a:ext uri="{FF2B5EF4-FFF2-40B4-BE49-F238E27FC236}">
                <a16:creationId xmlns:a16="http://schemas.microsoft.com/office/drawing/2014/main" id="{FC8EAE52-427B-4CAD-B878-4E2D1B65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990975"/>
            <a:ext cx="317182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9. Смена спонсора</a:t>
            </a:r>
          </a:p>
        </p:txBody>
      </p:sp>
      <p:sp>
        <p:nvSpPr>
          <p:cNvPr id="46" name="shape-48">
            <a:extLst xmlns:a="http://schemas.openxmlformats.org/drawingml/2006/main">
              <a:ext uri="{FF2B5EF4-FFF2-40B4-BE49-F238E27FC236}">
                <a16:creationId xmlns:a16="http://schemas.microsoft.com/office/drawing/2014/main" id="{A8987FE3-01C0-4A2F-A2E0-3E881439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22445"/>
            <a:ext cx="3171825" cy="63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Проект может замедлиться, но вряд ли остановится из-за обязательных требований организации</a:t>
            </a:r>
          </a:p>
        </p:txBody>
      </p:sp>
      <p:sp>
        <p:nvSpPr>
          <p:cNvPr id="47" name="shape-49">
            <a:extLst xmlns:a="http://schemas.openxmlformats.org/drawingml/2006/main">
              <a:ext uri="{FF2B5EF4-FFF2-40B4-BE49-F238E27FC236}">
                <a16:creationId xmlns:a16="http://schemas.microsoft.com/office/drawing/2014/main" id="{A3225DAD-69DC-409D-9E21-859C9642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2447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8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38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Итог: 7 проблем из 9</a:t>
            </a:r>
          </a:p>
        </p:txBody>
      </p:sp>
      <p:sp>
        <p:nvSpPr>
          <p:cNvPr id="48" name="shape-50">
            <a:extLst xmlns:a="http://schemas.openxmlformats.org/drawingml/2006/main">
              <a:ext uri="{FF2B5EF4-FFF2-40B4-BE49-F238E27FC236}">
                <a16:creationId xmlns:a16="http://schemas.microsoft.com/office/drawing/2014/main" id="{E5DD1A04-14C7-4565-B2BF-637AFB6D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95950"/>
            <a:ext cx="1071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Уровень 7/9, совпадает с предварительной оценкой куратора</a:t>
            </a:r>
          </a:p>
        </p:txBody>
      </p:sp>
      <p:sp>
        <p:nvSpPr>
          <p:cNvPr id="49" name="shape-51">
            <a:extLst xmlns:a="http://schemas.openxmlformats.org/drawingml/2006/main">
              <a:ext uri="{FF2B5EF4-FFF2-40B4-BE49-F238E27FC236}">
                <a16:creationId xmlns:a16="http://schemas.microsoft.com/office/drawing/2014/main" id="{C1EBCFDF-F39D-44EE-93A7-8199853D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1400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Почему проекты ЭМК проваливаются</a:t>
            </a:r>
          </a:p>
        </p:txBody>
      </p:sp>
      <p:sp>
        <p:nvSpPr>
          <p:cNvPr id="50" name="shape-52">
            <a:extLst xmlns:a="http://schemas.openxmlformats.org/drawingml/2006/main">
              <a:ext uri="{FF2B5EF4-FFF2-40B4-BE49-F238E27FC236}">
                <a16:creationId xmlns:a16="http://schemas.microsoft.com/office/drawing/2014/main" id="{424BB978-5973-44E6-BE5E-6CBA89A5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953250"/>
            <a:ext cx="3381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BD"/>
          </a:solidFill>
          <a:ln xmlns:a="http://schemas.openxmlformats.org/drawingml/2006/main" w="0">
            <a:noFill/>
          </a:ln>
        </p:spPr>
      </p:sp>
      <p:sp>
        <p:nvSpPr>
          <p:cNvPr id="51" name="shape-53">
            <a:extLst xmlns:a="http://schemas.openxmlformats.org/drawingml/2006/main">
              <a:ext uri="{FF2B5EF4-FFF2-40B4-BE49-F238E27FC236}">
                <a16:creationId xmlns:a16="http://schemas.microsoft.com/office/drawing/2014/main" id="{002F2C3F-F0A4-4A12-B15E-4D5847C0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7048500"/>
            <a:ext cx="3190875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 Система увеличивает нагрузку на врачей</a:t>
            </a:r>
          </a:p>
        </p:txBody>
      </p:sp>
      <p:sp>
        <p:nvSpPr>
          <p:cNvPr id="52" name="shape-54">
            <a:extLst xmlns:a="http://schemas.openxmlformats.org/drawingml/2006/main">
              <a:ext uri="{FF2B5EF4-FFF2-40B4-BE49-F238E27FC236}">
                <a16:creationId xmlns:a16="http://schemas.microsoft.com/office/drawing/2014/main" id="{C308980D-92A0-4269-89D7-B865F79F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7616190"/>
            <a:ext cx="3190875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Неудобный интерфейс и дополнительный ввод снижают принятие системы</a:t>
            </a:r>
          </a:p>
        </p:txBody>
      </p:sp>
      <p:sp>
        <p:nvSpPr>
          <p:cNvPr id="53" name="shape-55">
            <a:extLst xmlns:a="http://schemas.openxmlformats.org/drawingml/2006/main">
              <a:ext uri="{FF2B5EF4-FFF2-40B4-BE49-F238E27FC236}">
                <a16:creationId xmlns:a16="http://schemas.microsoft.com/office/drawing/2014/main" id="{86AF3B62-3C7B-4731-8969-0F019E3D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953250"/>
            <a:ext cx="3381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BD"/>
          </a:solidFill>
          <a:ln xmlns:a="http://schemas.openxmlformats.org/drawingml/2006/main" w="0">
            <a:noFill/>
          </a:ln>
        </p:spPr>
      </p:sp>
      <p:sp>
        <p:nvSpPr>
          <p:cNvPr id="54" name="shape-56">
            <a:extLst xmlns:a="http://schemas.openxmlformats.org/drawingml/2006/main">
              <a:ext uri="{FF2B5EF4-FFF2-40B4-BE49-F238E27FC236}">
                <a16:creationId xmlns:a16="http://schemas.microsoft.com/office/drawing/2014/main" id="{5B346B78-87C6-45BE-BB0F-CCD529B4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7048500"/>
            <a:ext cx="3190875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2. Недооценена миграция данных</a:t>
            </a:r>
          </a:p>
        </p:txBody>
      </p:sp>
      <p:sp>
        <p:nvSpPr>
          <p:cNvPr id="55" name="shape-57">
            <a:extLst xmlns:a="http://schemas.openxmlformats.org/drawingml/2006/main">
              <a:ext uri="{FF2B5EF4-FFF2-40B4-BE49-F238E27FC236}">
                <a16:creationId xmlns:a16="http://schemas.microsoft.com/office/drawing/2014/main" id="{6CDF8B0B-251C-4A73-B117-A1C2C0C7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7616190"/>
            <a:ext cx="3190875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Дубли, старые форматы и плохое качество данных увеличивают риск срыва запуска</a:t>
            </a:r>
          </a:p>
        </p:txBody>
      </p:sp>
      <p:sp>
        <p:nvSpPr>
          <p:cNvPr id="56" name="shape-58">
            <a:extLst xmlns:a="http://schemas.openxmlformats.org/drawingml/2006/main">
              <a:ext uri="{FF2B5EF4-FFF2-40B4-BE49-F238E27FC236}">
                <a16:creationId xmlns:a16="http://schemas.microsoft.com/office/drawing/2014/main" id="{CCB7E74D-D931-4274-8F03-D7738150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953250"/>
            <a:ext cx="3381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BD"/>
          </a:solidFill>
          <a:ln xmlns:a="http://schemas.openxmlformats.org/drawingml/2006/main" w="0">
            <a:noFill/>
          </a:ln>
        </p:spPr>
      </p:sp>
      <p:sp>
        <p:nvSpPr>
          <p:cNvPr id="57" name="shape-59">
            <a:extLst xmlns:a="http://schemas.openxmlformats.org/drawingml/2006/main">
              <a:ext uri="{FF2B5EF4-FFF2-40B4-BE49-F238E27FC236}">
                <a16:creationId xmlns:a16="http://schemas.microsoft.com/office/drawing/2014/main" id="{07211F56-C3E1-4E95-82A3-6A42AD60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048500"/>
            <a:ext cx="3190875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3. Нет единого владельца решений</a:t>
            </a:r>
          </a:p>
        </p:txBody>
      </p:sp>
      <p:sp>
        <p:nvSpPr>
          <p:cNvPr id="58" name="shape-60">
            <a:extLst xmlns:a="http://schemas.openxmlformats.org/drawingml/2006/main">
              <a:ext uri="{FF2B5EF4-FFF2-40B4-BE49-F238E27FC236}">
                <a16:creationId xmlns:a16="http://schemas.microsoft.com/office/drawing/2014/main" id="{77DF92F1-416C-4CD1-9B89-FC4EA7C8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616190"/>
            <a:ext cx="3190875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Разные стейкхолдеры долго согласуют требования и приоритеты, из-за чего растут сроки и бюджет</a:t>
            </a:r>
          </a:p>
        </p:txBody>
      </p:sp>
    </p:spTree>
    <p:extLst>
      <p:ext uri="{BB962C8B-B14F-4D97-AF65-F5344CB8AC3E}">
        <p14:creationId xmlns:p14="http://schemas.microsoft.com/office/powerpoint/2010/main" val="19257939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61">
            <a:extLst xmlns:a="http://schemas.openxmlformats.org/drawingml/2006/main">
              <a:ext uri="{FF2B5EF4-FFF2-40B4-BE49-F238E27FC236}">
                <a16:creationId xmlns:a16="http://schemas.microsoft.com/office/drawing/2014/main" id="{24F30FEB-DCB6-4429-8718-DD2FDBCC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"/>
            <a:ext cx="9334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1"/>
            </a:solidFill>
          </a:ln>
        </p:spPr>
      </p:sp>
      <p:sp>
        <p:nvSpPr>
          <p:cNvPr id="2" name="shape-62">
            <a:extLst xmlns:a="http://schemas.openxmlformats.org/drawingml/2006/main">
              <a:ext uri="{FF2B5EF4-FFF2-40B4-BE49-F238E27FC236}">
                <a16:creationId xmlns:a16="http://schemas.microsoft.com/office/drawing/2014/main" id="{9C031CA3-A68A-42F3-9B0D-F269A75C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Устав проекта</a:t>
            </a:r>
          </a:p>
        </p:txBody>
      </p:sp>
      <p:sp>
        <p:nvSpPr>
          <p:cNvPr id="3" name="shape-63">
            <a:extLst xmlns:a="http://schemas.openxmlformats.org/drawingml/2006/main">
              <a:ext uri="{FF2B5EF4-FFF2-40B4-BE49-F238E27FC236}">
                <a16:creationId xmlns:a16="http://schemas.microsoft.com/office/drawing/2014/main" id="{52FC52F9-5F1C-42DF-A201-C2EA6F5C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62025"/>
            <a:ext cx="1181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Описание, цель и границы двухмесячного пилота в кардиологии</a:t>
            </a:r>
          </a:p>
        </p:txBody>
      </p:sp>
      <p:sp>
        <p:nvSpPr>
          <p:cNvPr id="4" name="shape-64">
            <a:extLst xmlns:a="http://schemas.openxmlformats.org/drawingml/2006/main">
              <a:ext uri="{FF2B5EF4-FFF2-40B4-BE49-F238E27FC236}">
                <a16:creationId xmlns:a16="http://schemas.microsoft.com/office/drawing/2014/main" id="{2CAB9431-4A44-4C29-BE42-CDE506AF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14478000" cy="6810375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1"/>
            </a:solidFill>
          </a:ln>
        </p:spPr>
      </p:sp>
      <p:sp>
        <p:nvSpPr>
          <p:cNvPr id="6" name="shape-66">
            <a:extLst xmlns:a="http://schemas.openxmlformats.org/drawingml/2006/main">
              <a:ext uri="{FF2B5EF4-FFF2-40B4-BE49-F238E27FC236}">
                <a16:creationId xmlns:a16="http://schemas.microsoft.com/office/drawing/2014/main" id="{DBEF78AB-E0AB-4A4D-8327-46E7BAE0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47825"/>
            <a:ext cx="457200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DCEFF9"/>
          </a:solidFill>
          <a:ln xmlns:a="http://schemas.openxmlformats.org/drawingml/2006/main" w="0">
            <a:noFill/>
          </a:ln>
        </p:spPr>
      </p:sp>
      <p:sp>
        <p:nvSpPr>
          <p:cNvPr id="7" name="shape-67">
            <a:extLst xmlns:a="http://schemas.openxmlformats.org/drawingml/2006/main">
              <a:ext uri="{FF2B5EF4-FFF2-40B4-BE49-F238E27FC236}">
                <a16:creationId xmlns:a16="http://schemas.microsoft.com/office/drawing/2014/main" id="{70A39AC6-65CE-475C-A82D-B564D00E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41529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 Наименование и описание</a:t>
            </a:r>
          </a:p>
        </p:txBody>
      </p:sp>
      <p:sp>
        <p:nvSpPr>
          <p:cNvPr id="8" name="shape-68">
            <a:extLst xmlns:a="http://schemas.openxmlformats.org/drawingml/2006/main">
              <a:ext uri="{FF2B5EF4-FFF2-40B4-BE49-F238E27FC236}">
                <a16:creationId xmlns:a16="http://schemas.microsoft.com/office/drawing/2014/main" id="{829337AB-C4D1-4D73-8B4D-E0B4AF52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9711"/>
            <a:ext cx="4152900" cy="1435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Внедрение медицинской информационной системы «МедКарта» в отделении кардиологии. Формат: пилот на 2 месяца с отдельным решением о масштабировании.</a:t>
            </a:r>
          </a:p>
        </p:txBody>
      </p:sp>
      <p:sp>
        <p:nvSpPr>
          <p:cNvPr id="9" name="shape-69">
            <a:extLst xmlns:a="http://schemas.openxmlformats.org/drawingml/2006/main">
              <a:ext uri="{FF2B5EF4-FFF2-40B4-BE49-F238E27FC236}">
                <a16:creationId xmlns:a16="http://schemas.microsoft.com/office/drawing/2014/main" id="{5FF6E3C9-9FC3-4912-9254-332F968E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47825"/>
            <a:ext cx="457200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FFDEBC"/>
          </a:solidFill>
          <a:ln xmlns:a="http://schemas.openxmlformats.org/drawingml/2006/main" w="0">
            <a:noFill/>
          </a:ln>
        </p:spPr>
      </p:sp>
      <p:sp>
        <p:nvSpPr>
          <p:cNvPr id="10" name="shape-70">
            <a:extLst xmlns:a="http://schemas.openxmlformats.org/drawingml/2006/main">
              <a:ext uri="{FF2B5EF4-FFF2-40B4-BE49-F238E27FC236}">
                <a16:creationId xmlns:a16="http://schemas.microsoft.com/office/drawing/2014/main" id="{A6328220-8B07-4F5C-AFA0-B430D821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57375"/>
            <a:ext cx="41529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2. Бизнес обоснование</a:t>
            </a:r>
          </a:p>
        </p:txBody>
      </p:sp>
      <p:sp>
        <p:nvSpPr>
          <p:cNvPr id="11" name="shape-71">
            <a:extLst xmlns:a="http://schemas.openxmlformats.org/drawingml/2006/main">
              <a:ext uri="{FF2B5EF4-FFF2-40B4-BE49-F238E27FC236}">
                <a16:creationId xmlns:a16="http://schemas.microsoft.com/office/drawing/2014/main" id="{BBDA9921-3C61-4534-BCFA-74D99287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59711"/>
            <a:ext cx="4152900" cy="1435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Цель инициативы: сократить время приёма за счёт электронной медицинской карты. Ожидаемый эффект: выше эффективность врачей и меньше средняя длительность приёма.</a:t>
            </a:r>
          </a:p>
        </p:txBody>
      </p:sp>
      <p:sp>
        <p:nvSpPr>
          <p:cNvPr id="12" name="shape-72">
            <a:extLst xmlns:a="http://schemas.openxmlformats.org/drawingml/2006/main">
              <a:ext uri="{FF2B5EF4-FFF2-40B4-BE49-F238E27FC236}">
                <a16:creationId xmlns:a16="http://schemas.microsoft.com/office/drawing/2014/main" id="{928990A9-2DE9-4B44-80D6-84D1BFAD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47825"/>
            <a:ext cx="457200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0">
            <a:noFill/>
          </a:ln>
        </p:spPr>
      </p:sp>
      <p:sp>
        <p:nvSpPr>
          <p:cNvPr id="13" name="shape-73">
            <a:extLst xmlns:a="http://schemas.openxmlformats.org/drawingml/2006/main">
              <a:ext uri="{FF2B5EF4-FFF2-40B4-BE49-F238E27FC236}">
                <a16:creationId xmlns:a16="http://schemas.microsoft.com/office/drawing/2014/main" id="{2C2D607A-77ED-4D6A-BEE5-B59B3DCD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57375"/>
            <a:ext cx="41529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3. SMART цель</a:t>
            </a:r>
          </a:p>
        </p:txBody>
      </p:sp>
      <p:sp>
        <p:nvSpPr>
          <p:cNvPr id="14" name="shape-74">
            <a:extLst xmlns:a="http://schemas.openxmlformats.org/drawingml/2006/main">
              <a:ext uri="{FF2B5EF4-FFF2-40B4-BE49-F238E27FC236}">
                <a16:creationId xmlns:a16="http://schemas.microsoft.com/office/drawing/2014/main" id="{B61D4276-4824-41D9-8FCC-F04EA8B8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59711"/>
            <a:ext cx="4152900" cy="1435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Сократить среднее время приёма пациента в кардиологии на 20% за 2 месяца пилота с помощью электронной карты и расписания.</a:t>
            </a:r>
          </a:p>
        </p:txBody>
      </p:sp>
      <p:sp>
        <p:nvSpPr>
          <p:cNvPr id="15" name="shape-75">
            <a:extLst xmlns:a="http://schemas.openxmlformats.org/drawingml/2006/main">
              <a:ext uri="{FF2B5EF4-FFF2-40B4-BE49-F238E27FC236}">
                <a16:creationId xmlns:a16="http://schemas.microsoft.com/office/drawing/2014/main" id="{ADCC47A6-29C3-46A0-BEDF-9F822879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476875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0">
            <a:noFill/>
          </a:ln>
        </p:spPr>
      </p:sp>
      <p:sp>
        <p:nvSpPr>
          <p:cNvPr id="16" name="shape-76">
            <a:extLst xmlns:a="http://schemas.openxmlformats.org/drawingml/2006/main">
              <a:ext uri="{FF2B5EF4-FFF2-40B4-BE49-F238E27FC236}">
                <a16:creationId xmlns:a16="http://schemas.microsoft.com/office/drawing/2014/main" id="{B2353E9E-EE77-446C-9DD3-579DEEC0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057775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4. Ограничения и допущения</a:t>
            </a:r>
          </a:p>
        </p:txBody>
      </p:sp>
      <p:sp>
        <p:nvSpPr>
          <p:cNvPr id="17" name="shape-77">
            <a:extLst xmlns:a="http://schemas.openxmlformats.org/drawingml/2006/main">
              <a:ext uri="{FF2B5EF4-FFF2-40B4-BE49-F238E27FC236}">
                <a16:creationId xmlns:a16="http://schemas.microsoft.com/office/drawing/2014/main" id="{600D839E-F6FD-487F-B276-5856F335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7636"/>
            <a:ext cx="5057775" cy="3036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Ограничения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пилот проводится только в кардиологии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срок пилота: 2 месяца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интеграции с внешними системами не входят в текущую фазу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соблюдаются требования к обработке персональных данных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предзаполненные поля врач подтверждает вручную</a:t>
            </a:r>
          </a:p>
          <a:p xmlns:a="http://schemas.openxmlformats.org/drawingml/2006/main">
            <a:endParaRPr sz="1575" b="0">
              <a:solidFill>
                <a:srgbClr val="2225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Допущение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После пилота руководство отдельно решает вопрос о масштабировании.</a:t>
            </a:r>
          </a:p>
        </p:txBody>
      </p:sp>
      <p:sp>
        <p:nvSpPr>
          <p:cNvPr id="18" name="shape-78">
            <a:extLst xmlns:a="http://schemas.openxmlformats.org/drawingml/2006/main">
              <a:ext uri="{FF2B5EF4-FFF2-40B4-BE49-F238E27FC236}">
                <a16:creationId xmlns:a16="http://schemas.microsoft.com/office/drawing/2014/main" id="{3A569540-5E5C-4E23-82A3-D34B41A8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83058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5F1D8"/>
          </a:solidFill>
          <a:ln xmlns:a="http://schemas.openxmlformats.org/drawingml/2006/main" w="0">
            <a:noFill/>
          </a:ln>
        </p:spPr>
      </p:sp>
      <p:sp>
        <p:nvSpPr>
          <p:cNvPr id="19" name="shape-79">
            <a:extLst xmlns:a="http://schemas.openxmlformats.org/drawingml/2006/main">
              <a:ext uri="{FF2B5EF4-FFF2-40B4-BE49-F238E27FC236}">
                <a16:creationId xmlns:a16="http://schemas.microsoft.com/office/drawing/2014/main" id="{388E8662-16B8-4AC6-8D27-CE9D3132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78867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5. Границы проекта по MoSCoW</a:t>
            </a:r>
          </a:p>
        </p:txBody>
      </p:sp>
      <p:sp>
        <p:nvSpPr>
          <p:cNvPr id="20" name="shape-80">
            <a:extLst xmlns:a="http://schemas.openxmlformats.org/drawingml/2006/main">
              <a:ext uri="{FF2B5EF4-FFF2-40B4-BE49-F238E27FC236}">
                <a16:creationId xmlns:a16="http://schemas.microsoft.com/office/drawing/2014/main" id="{BF4A0F01-2E2B-470F-A615-E1DA2560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7636"/>
            <a:ext cx="7886700" cy="3036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13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Must have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Электронная карта, автозаполнение из предыдущих визитов с подтверждением врача, расписание, ручной ввод анализов, защита ПДн, замеры времени, тренинги медсестёр и отчёт по пилоту.</a:t>
            </a:r>
          </a:p>
          <a:p xmlns:a="http://schemas.openxmlformats.org/drawingml/2006/main">
            <a:endParaRPr sz="1613" b="0">
              <a:solidFill>
                <a:srgbClr val="2225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613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Should have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Инструкции, представления расписания, валидация анализов.</a:t>
            </a:r>
          </a:p>
          <a:p xmlns:a="http://schemas.openxmlformats.org/drawingml/2006/main">
            <a:endParaRPr sz="1613" b="0">
              <a:solidFill>
                <a:srgbClr val="2225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613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Could have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Расширенные шаблоны и сбор обратной связи в системе.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endParaRPr sz="1613" b="0">
              <a:solidFill>
                <a:srgbClr val="2225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613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Фаза 2</a:t>
            </a:r>
          </a:p>
          <a:p xmlns:a="http://schemas.openxmlformats.org/drawingml/2006/main">
            <a:pPr algn="l">
              <a:buNone/>
              <a:defRPr sz="1613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Интеграция с ЛИС, печать и выгрузка выписки.</a:t>
            </a:r>
          </a:p>
        </p:txBody>
      </p:sp>
    </p:spTree>
    <p:extLst>
      <p:ext uri="{BB962C8B-B14F-4D97-AF65-F5344CB8AC3E}">
        <p14:creationId xmlns:p14="http://schemas.microsoft.com/office/powerpoint/2010/main" val="2056818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hape-81">
            <a:extLst xmlns:a="http://schemas.openxmlformats.org/drawingml/2006/main">
              <a:ext uri="{FF2B5EF4-FFF2-40B4-BE49-F238E27FC236}">
                <a16:creationId xmlns:a16="http://schemas.microsoft.com/office/drawing/2014/main" id="{3DDAA1A3-10F7-4864-BD83-C06062D6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"/>
            <a:ext cx="9334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1"/>
            </a:solidFill>
          </a:ln>
        </p:spPr>
      </p:sp>
      <p:sp>
        <p:nvSpPr>
          <p:cNvPr id="2" name="shape-82">
            <a:extLst xmlns:a="http://schemas.openxmlformats.org/drawingml/2006/main">
              <a:ext uri="{FF2B5EF4-FFF2-40B4-BE49-F238E27FC236}">
                <a16:creationId xmlns:a16="http://schemas.microsoft.com/office/drawing/2014/main" id="{7709D234-4537-4C40-A69A-F6AD4094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Управление пилотом</a:t>
            </a:r>
          </a:p>
        </p:txBody>
      </p:sp>
      <p:sp>
        <p:nvSpPr>
          <p:cNvPr id="3" name="shape-83">
            <a:extLst xmlns:a="http://schemas.openxmlformats.org/drawingml/2006/main">
              <a:ext uri="{FF2B5EF4-FFF2-40B4-BE49-F238E27FC236}">
                <a16:creationId xmlns:a16="http://schemas.microsoft.com/office/drawing/2014/main" id="{BB957B7F-22BF-4958-BCAB-46C720CE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62025"/>
            <a:ext cx="1181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Бюджет, вехи, участники, полномочия и приёмка</a:t>
            </a:r>
          </a:p>
        </p:txBody>
      </p:sp>
      <p:sp>
        <p:nvSpPr>
          <p:cNvPr id="4" name="shape-84">
            <a:extLst xmlns:a="http://schemas.openxmlformats.org/drawingml/2006/main">
              <a:ext uri="{FF2B5EF4-FFF2-40B4-BE49-F238E27FC236}">
                <a16:creationId xmlns:a16="http://schemas.microsoft.com/office/drawing/2014/main" id="{38F616CF-85C4-430F-B540-E7523F3A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14478000" cy="6810375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1"/>
            </a:solidFill>
          </a:ln>
        </p:spPr>
      </p:sp>
      <p:sp>
        <p:nvSpPr>
          <p:cNvPr id="6" name="shape-86">
            <a:extLst xmlns:a="http://schemas.openxmlformats.org/drawingml/2006/main">
              <a:ext uri="{FF2B5EF4-FFF2-40B4-BE49-F238E27FC236}">
                <a16:creationId xmlns:a16="http://schemas.microsoft.com/office/drawing/2014/main" id="{88909BB1-9F1C-45CA-87A3-687BEFB8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47825"/>
            <a:ext cx="457200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DCEFF9"/>
          </a:solidFill>
          <a:ln xmlns:a="http://schemas.openxmlformats.org/drawingml/2006/main" w="0">
            <a:noFill/>
          </a:ln>
        </p:spPr>
      </p:sp>
      <p:sp>
        <p:nvSpPr>
          <p:cNvPr id="7" name="shape-87">
            <a:extLst xmlns:a="http://schemas.openxmlformats.org/drawingml/2006/main">
              <a:ext uri="{FF2B5EF4-FFF2-40B4-BE49-F238E27FC236}">
                <a16:creationId xmlns:a16="http://schemas.microsoft.com/office/drawing/2014/main" id="{7ACBFB27-70AB-4AA3-81B1-0C34C829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41529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6. Бюджет</a:t>
            </a:r>
          </a:p>
        </p:txBody>
      </p:sp>
      <p:sp>
        <p:nvSpPr>
          <p:cNvPr id="8" name="shape-88">
            <a:extLst xmlns:a="http://schemas.openxmlformats.org/drawingml/2006/main">
              <a:ext uri="{FF2B5EF4-FFF2-40B4-BE49-F238E27FC236}">
                <a16:creationId xmlns:a16="http://schemas.microsoft.com/office/drawing/2014/main" id="{B2B3DC03-A507-40F0-9804-03EAA04E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9711"/>
            <a:ext cx="4152900" cy="1435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Бюджет в брифе не указан. Сумму и источник финансирования нужно согласовать с главным врачом и ИТ отделом больницы до утверждения устава.</a:t>
            </a:r>
          </a:p>
        </p:txBody>
      </p:sp>
      <p:sp>
        <p:nvSpPr>
          <p:cNvPr id="9" name="shape-89">
            <a:extLst xmlns:a="http://schemas.openxmlformats.org/drawingml/2006/main">
              <a:ext uri="{FF2B5EF4-FFF2-40B4-BE49-F238E27FC236}">
                <a16:creationId xmlns:a16="http://schemas.microsoft.com/office/drawing/2014/main" id="{83BDB5D6-6041-4B21-96AB-FE06AE1C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47825"/>
            <a:ext cx="457200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FFDEBC"/>
          </a:solidFill>
          <a:ln xmlns:a="http://schemas.openxmlformats.org/drawingml/2006/main" w="0">
            <a:noFill/>
          </a:ln>
        </p:spPr>
      </p:sp>
      <p:sp>
        <p:nvSpPr>
          <p:cNvPr id="10" name="shape-90">
            <a:extLst xmlns:a="http://schemas.openxmlformats.org/drawingml/2006/main">
              <a:ext uri="{FF2B5EF4-FFF2-40B4-BE49-F238E27FC236}">
                <a16:creationId xmlns:a16="http://schemas.microsoft.com/office/drawing/2014/main" id="{C8158C3E-0A5D-4CCA-A92F-96B439BB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57375"/>
            <a:ext cx="41529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7. Вехи</a:t>
            </a:r>
          </a:p>
        </p:txBody>
      </p:sp>
      <p:sp>
        <p:nvSpPr>
          <p:cNvPr id="11" name="shape-91">
            <a:extLst xmlns:a="http://schemas.openxmlformats.org/drawingml/2006/main">
              <a:ext uri="{FF2B5EF4-FFF2-40B4-BE49-F238E27FC236}">
                <a16:creationId xmlns:a16="http://schemas.microsoft.com/office/drawing/2014/main" id="{3C4BF21A-222B-41F5-847B-56F2EEDB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59711"/>
            <a:ext cx="4152900" cy="1435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Месяц 1: настройка карты пациента и расписания.</a:t>
            </a:r>
          </a:p>
          <a:p xmlns:a="http://schemas.openxmlformats.org/drawingml/2006/main">
            <a:endParaRPr sz="1538" b="0">
              <a:solidFill>
                <a:srgbClr val="2225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38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Месяц 2: пилотная эксплуатация, ручной ввод анализов, замер времени приёма и подведение итогов.</a:t>
            </a:r>
          </a:p>
        </p:txBody>
      </p:sp>
      <p:sp>
        <p:nvSpPr>
          <p:cNvPr id="12" name="shape-92">
            <a:extLst xmlns:a="http://schemas.openxmlformats.org/drawingml/2006/main">
              <a:ext uri="{FF2B5EF4-FFF2-40B4-BE49-F238E27FC236}">
                <a16:creationId xmlns:a16="http://schemas.microsoft.com/office/drawing/2014/main" id="{454D2413-3382-47B3-9278-8AC71280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47825"/>
            <a:ext cx="457200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0">
            <a:noFill/>
          </a:ln>
        </p:spPr>
      </p:sp>
      <p:sp>
        <p:nvSpPr>
          <p:cNvPr id="13" name="shape-93">
            <a:extLst xmlns:a="http://schemas.openxmlformats.org/drawingml/2006/main">
              <a:ext uri="{FF2B5EF4-FFF2-40B4-BE49-F238E27FC236}">
                <a16:creationId xmlns:a16="http://schemas.microsoft.com/office/drawing/2014/main" id="{79DBCA02-FD1E-4774-977A-46DD98F3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57375"/>
            <a:ext cx="41529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8. Стейкхолдеры</a:t>
            </a:r>
          </a:p>
        </p:txBody>
      </p:sp>
      <p:sp>
        <p:nvSpPr>
          <p:cNvPr id="14" name="shape-94">
            <a:extLst xmlns:a="http://schemas.openxmlformats.org/drawingml/2006/main">
              <a:ext uri="{FF2B5EF4-FFF2-40B4-BE49-F238E27FC236}">
                <a16:creationId xmlns:a16="http://schemas.microsoft.com/office/drawing/2014/main" id="{1B36BA14-B29D-496C-A7AF-732493C9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59711"/>
            <a:ext cx="4152900" cy="1435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Главный врач (спонсор), заведующий кардиологией, ИТ отдел больницы и медсёстры. Вендор ЛИС не участвует в пилоте, но может консультировать при подготовке второй фазы.</a:t>
            </a:r>
          </a:p>
        </p:txBody>
      </p:sp>
      <p:sp>
        <p:nvSpPr>
          <p:cNvPr id="15" name="shape-95">
            <a:extLst xmlns:a="http://schemas.openxmlformats.org/drawingml/2006/main">
              <a:ext uri="{FF2B5EF4-FFF2-40B4-BE49-F238E27FC236}">
                <a16:creationId xmlns:a16="http://schemas.microsoft.com/office/drawing/2014/main" id="{EE49D548-6534-4C1B-8EC2-4050CD1D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476875" cy="3400425"/>
          </a:xfrm>
          <a:prstGeom xmlns:a="http://schemas.openxmlformats.org/drawingml/2006/main" prst="roundRect">
            <a:avLst>
              <a:gd name="adj" fmla="val 2241"/>
            </a:avLst>
          </a:prstGeom>
          <a:solidFill xmlns:a="http://schemas.openxmlformats.org/drawingml/2006/main">
            <a:srgbClr val="DCEFF9"/>
          </a:solidFill>
          <a:ln xmlns:a="http://schemas.openxmlformats.org/drawingml/2006/main" w="0">
            <a:noFill/>
          </a:ln>
        </p:spPr>
      </p:sp>
      <p:sp>
        <p:nvSpPr>
          <p:cNvPr id="16" name="shape-96">
            <a:extLst xmlns:a="http://schemas.openxmlformats.org/drawingml/2006/main">
              <a:ext uri="{FF2B5EF4-FFF2-40B4-BE49-F238E27FC236}">
                <a16:creationId xmlns:a16="http://schemas.microsoft.com/office/drawing/2014/main" id="{AB7C86B5-B569-4A77-8A48-1032F9E7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057775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9. Куратор и руководитель проекта</a:t>
            </a:r>
          </a:p>
        </p:txBody>
      </p:sp>
      <p:sp>
        <p:nvSpPr>
          <p:cNvPr id="17" name="shape-97">
            <a:extLst xmlns:a="http://schemas.openxmlformats.org/drawingml/2006/main">
              <a:ext uri="{FF2B5EF4-FFF2-40B4-BE49-F238E27FC236}">
                <a16:creationId xmlns:a16="http://schemas.microsoft.com/office/drawing/2014/main" id="{389E0AE3-C2EF-413A-8E27-9954DB2C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7636"/>
            <a:ext cx="5057775" cy="2578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Куратор: главный врач как спонсор. Он утверждает бюджет, вехи и решение о масштабировании.</a:t>
            </a:r>
          </a:p>
          <a:p xmlns:a="http://schemas.openxmlformats.org/drawingml/2006/main">
            <a:endParaRPr sz="1800" b="0">
              <a:solidFill>
                <a:srgbClr val="2225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Руководитель проекта в брифе не назначен. До старта пилота администрация больницы должна назначить его и закрепить полномочия в уставе.</a:t>
            </a:r>
          </a:p>
        </p:txBody>
      </p:sp>
      <p:sp>
        <p:nvSpPr>
          <p:cNvPr id="18" name="shape-98">
            <a:extLst xmlns:a="http://schemas.openxmlformats.org/drawingml/2006/main">
              <a:ext uri="{FF2B5EF4-FFF2-40B4-BE49-F238E27FC236}">
                <a16:creationId xmlns:a16="http://schemas.microsoft.com/office/drawing/2014/main" id="{FF47E759-1EB4-4EF7-A5BB-6FF1E2BA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8305800" cy="3400425"/>
          </a:xfrm>
          <a:prstGeom xmlns:a="http://schemas.openxmlformats.org/drawingml/2006/main" prst="roundRect">
            <a:avLst>
              <a:gd name="adj" fmla="val 2241"/>
            </a:avLst>
          </a:prstGeom>
          <a:solidFill xmlns:a="http://schemas.openxmlformats.org/drawingml/2006/main">
            <a:srgbClr val="FFF3BD"/>
          </a:solidFill>
          <a:ln xmlns:a="http://schemas.openxmlformats.org/drawingml/2006/main" w="0">
            <a:noFill/>
          </a:ln>
        </p:spPr>
      </p:sp>
      <p:sp>
        <p:nvSpPr>
          <p:cNvPr id="19" name="shape-99">
            <a:extLst xmlns:a="http://schemas.openxmlformats.org/drawingml/2006/main">
              <a:ext uri="{FF2B5EF4-FFF2-40B4-BE49-F238E27FC236}">
                <a16:creationId xmlns:a16="http://schemas.microsoft.com/office/drawing/2014/main" id="{3B377AD0-6FA7-4F45-A070-AAF8376A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7886700" cy="307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10. Критерии успеха</a:t>
            </a:r>
          </a:p>
        </p:txBody>
      </p:sp>
      <p:sp>
        <p:nvSpPr>
          <p:cNvPr id="20" name="shape-100">
            <a:extLst xmlns:a="http://schemas.openxmlformats.org/drawingml/2006/main">
              <a:ext uri="{FF2B5EF4-FFF2-40B4-BE49-F238E27FC236}">
                <a16:creationId xmlns:a16="http://schemas.microsoft.com/office/drawing/2014/main" id="{DDA326FF-0051-45E6-8ABE-47FA338C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7636"/>
            <a:ext cx="7886700" cy="2578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среднее время приёма в кардиологии снижается на 20% за 2 месяца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система готова к пилотной работе в согласованном масштабе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решение соответствует требованиям обработки персональных данных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базовые показатели фиксируются до запуска и после пилота</a:t>
            </a:r>
          </a:p>
          <a:p xmlns:a="http://schemas.openxmlformats.org/drawingml/2006/main">
            <a:endParaRPr sz="1800" b="0">
              <a:solidFill>
                <a:srgbClr val="2225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Оценка по всей больнице и период 6 месяцев относятся к следующему этапу. ЛИС относится к фазе 2. Уже в пилоте врач подтверждает все поля, заполненные из предыдущих визитов в МедКарте.</a:t>
            </a:r>
          </a:p>
        </p:txBody>
      </p:sp>
      <p:sp>
        <p:nvSpPr>
          <p:cNvPr id="21" name="shape-101">
            <a:extLst xmlns:a="http://schemas.openxmlformats.org/drawingml/2006/main">
              <a:ext uri="{FF2B5EF4-FFF2-40B4-BE49-F238E27FC236}">
                <a16:creationId xmlns:a16="http://schemas.microsoft.com/office/drawing/2014/main" id="{AE884B8C-D657-468E-97FF-53C91F55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15250"/>
            <a:ext cx="1371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Решение о масштабировании принимается отдельно после анализа результатов пилота</a:t>
            </a:r>
          </a:p>
        </p:txBody>
      </p:sp>
    </p:spTree>
    <p:extLst>
      <p:ext uri="{BB962C8B-B14F-4D97-AF65-F5344CB8AC3E}">
        <p14:creationId xmlns:p14="http://schemas.microsoft.com/office/powerpoint/2010/main" val="73871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hape-102">
            <a:extLst xmlns:a="http://schemas.openxmlformats.org/drawingml/2006/main">
              <a:ext uri="{FF2B5EF4-FFF2-40B4-BE49-F238E27FC236}">
                <a16:creationId xmlns:a16="http://schemas.microsoft.com/office/drawing/2014/main" id="{6153C085-F69A-4FB5-AF3E-0B5DC865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"/>
            <a:ext cx="9334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1"/>
            </a:solidFill>
          </a:ln>
        </p:spPr>
      </p:sp>
      <p:sp>
        <p:nvSpPr>
          <p:cNvPr id="2" name="shape-103">
            <a:extLst xmlns:a="http://schemas.openxmlformats.org/drawingml/2006/main">
              <a:ext uri="{FF2B5EF4-FFF2-40B4-BE49-F238E27FC236}">
                <a16:creationId xmlns:a16="http://schemas.microsoft.com/office/drawing/2014/main" id="{ADF6AAFC-AB7A-4CA4-98A7-AC417902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Противоречия и риски</a:t>
            </a:r>
          </a:p>
        </p:txBody>
      </p:sp>
      <p:sp>
        <p:nvSpPr>
          <p:cNvPr id="3" name="shape-104">
            <a:extLst xmlns:a="http://schemas.openxmlformats.org/drawingml/2006/main">
              <a:ext uri="{FF2B5EF4-FFF2-40B4-BE49-F238E27FC236}">
                <a16:creationId xmlns:a16="http://schemas.microsoft.com/office/drawing/2014/main" id="{3CCA0579-DF73-43F7-9D8F-AAAEADFF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62025"/>
            <a:ext cx="1181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Проект МедКарта · пилот 2 месяца в отделении кардиологии</a:t>
            </a:r>
          </a:p>
        </p:txBody>
      </p:sp>
      <p:sp>
        <p:nvSpPr>
          <p:cNvPr id="4" name="shape-105">
            <a:extLst xmlns:a="http://schemas.openxmlformats.org/drawingml/2006/main">
              <a:ext uri="{FF2B5EF4-FFF2-40B4-BE49-F238E27FC236}">
                <a16:creationId xmlns:a16="http://schemas.microsoft.com/office/drawing/2014/main" id="{F1F77760-DAA9-41E4-9326-D82264D2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14478000" cy="6810375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1"/>
            </a:solidFill>
          </a:ln>
        </p:spPr>
      </p:sp>
      <p:sp>
        <p:nvSpPr>
          <p:cNvPr id="5" name="shape-106">
            <a:extLst xmlns:a="http://schemas.openxmlformats.org/drawingml/2006/main">
              <a:ext uri="{FF2B5EF4-FFF2-40B4-BE49-F238E27FC236}">
                <a16:creationId xmlns:a16="http://schemas.microsoft.com/office/drawing/2014/main" id="{5B887CC2-515D-42C9-B8FA-8CEB795D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Найденные противоречия и решения</a:t>
            </a:r>
          </a:p>
        </p:txBody>
      </p:sp>
      <p:sp>
        <p:nvSpPr>
          <p:cNvPr id="6" name="shape-107">
            <a:extLst xmlns:a="http://schemas.openxmlformats.org/drawingml/2006/main">
              <a:ext uri="{FF2B5EF4-FFF2-40B4-BE49-F238E27FC236}">
                <a16:creationId xmlns:a16="http://schemas.microsoft.com/office/drawing/2014/main" id="{E3B35ADB-8609-4767-95BD-5A0E4C68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85975"/>
            <a:ext cx="4572000" cy="1990725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DCEFF9"/>
          </a:solidFill>
          <a:ln xmlns:a="http://schemas.openxmlformats.org/drawingml/2006/main" w="0">
            <a:noFill/>
          </a:ln>
        </p:spPr>
      </p:sp>
      <p:sp>
        <p:nvSpPr>
          <p:cNvPr id="7" name="shape-108">
            <a:extLst xmlns:a="http://schemas.openxmlformats.org/drawingml/2006/main">
              <a:ext uri="{FF2B5EF4-FFF2-40B4-BE49-F238E27FC236}">
                <a16:creationId xmlns:a16="http://schemas.microsoft.com/office/drawing/2014/main" id="{F4015348-B4CC-488D-A195-819ED92D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415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 Масштаб и срок</a:t>
            </a:r>
          </a:p>
        </p:txBody>
      </p:sp>
      <p:sp>
        <p:nvSpPr>
          <p:cNvPr id="8" name="shape-109">
            <a:extLst xmlns:a="http://schemas.openxmlformats.org/drawingml/2006/main">
              <a:ext uri="{FF2B5EF4-FFF2-40B4-BE49-F238E27FC236}">
                <a16:creationId xmlns:a16="http://schemas.microsoft.com/office/drawing/2014/main" id="{1D81FD48-5D66-48AD-B649-5958A2FA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41529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Бриф: вся больница за 6 месяцев. Пилот: кардиология за 2 месяца. Решение: оценить пилот в отделении, общебольничную проверку перенести на следующий этап.</a:t>
            </a:r>
          </a:p>
        </p:txBody>
      </p:sp>
      <p:sp>
        <p:nvSpPr>
          <p:cNvPr id="9" name="shape-110">
            <a:extLst xmlns:a="http://schemas.openxmlformats.org/drawingml/2006/main">
              <a:ext uri="{FF2B5EF4-FFF2-40B4-BE49-F238E27FC236}">
                <a16:creationId xmlns:a16="http://schemas.microsoft.com/office/drawing/2014/main" id="{FECF642D-EF69-4E60-96D1-252D9B41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85975"/>
            <a:ext cx="4572000" cy="1990725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FDEBC"/>
          </a:solidFill>
          <a:ln xmlns:a="http://schemas.openxmlformats.org/drawingml/2006/main" w="0">
            <a:noFill/>
          </a:ln>
        </p:spPr>
      </p:sp>
      <p:sp>
        <p:nvSpPr>
          <p:cNvPr id="10" name="shape-111">
            <a:extLst xmlns:a="http://schemas.openxmlformats.org/drawingml/2006/main">
              <a:ext uri="{FF2B5EF4-FFF2-40B4-BE49-F238E27FC236}">
                <a16:creationId xmlns:a16="http://schemas.microsoft.com/office/drawing/2014/main" id="{7009006B-89AA-4ACB-ABA9-7B1759B4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95525"/>
            <a:ext cx="415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2. Автозаполнение и ЛИС</a:t>
            </a:r>
          </a:p>
        </p:txBody>
      </p:sp>
      <p:sp>
        <p:nvSpPr>
          <p:cNvPr id="11" name="shape-112">
            <a:extLst xmlns:a="http://schemas.openxmlformats.org/drawingml/2006/main">
              <a:ext uri="{FF2B5EF4-FFF2-40B4-BE49-F238E27FC236}">
                <a16:creationId xmlns:a16="http://schemas.microsoft.com/office/drawing/2014/main" id="{A4AFF37F-A4BD-4D57-8D0C-FE2C8EED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86050"/>
            <a:ext cx="41529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ЛИС относится к фазе 2. В пилоте поля заполняются из предыдущих визитов в МедКарте с обязательным подтверждением врачом. Результаты анализов вводятся вручную.</a:t>
            </a:r>
          </a:p>
        </p:txBody>
      </p:sp>
      <p:sp>
        <p:nvSpPr>
          <p:cNvPr id="12" name="shape-113">
            <a:extLst xmlns:a="http://schemas.openxmlformats.org/drawingml/2006/main">
              <a:ext uri="{FF2B5EF4-FFF2-40B4-BE49-F238E27FC236}">
                <a16:creationId xmlns:a16="http://schemas.microsoft.com/office/drawing/2014/main" id="{F4D73D4C-1C57-4C8F-A241-8F05C5AC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85975"/>
            <a:ext cx="4572000" cy="1990725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0">
            <a:noFill/>
          </a:ln>
        </p:spPr>
      </p:sp>
      <p:sp>
        <p:nvSpPr>
          <p:cNvPr id="13" name="shape-114">
            <a:extLst xmlns:a="http://schemas.openxmlformats.org/drawingml/2006/main">
              <a:ext uri="{FF2B5EF4-FFF2-40B4-BE49-F238E27FC236}">
                <a16:creationId xmlns:a16="http://schemas.microsoft.com/office/drawing/2014/main" id="{80ED2166-13EB-4ABE-98DE-E2AB8853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95525"/>
            <a:ext cx="415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3. Цель и исходная база</a:t>
            </a:r>
          </a:p>
        </p:txBody>
      </p:sp>
      <p:sp>
        <p:nvSpPr>
          <p:cNvPr id="14" name="shape-115">
            <a:extLst xmlns:a="http://schemas.openxmlformats.org/drawingml/2006/main">
              <a:ext uri="{FF2B5EF4-FFF2-40B4-BE49-F238E27FC236}">
                <a16:creationId xmlns:a16="http://schemas.microsoft.com/office/drawing/2014/main" id="{87CA8F55-34D7-48C7-A6EF-E26E6418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86050"/>
            <a:ext cx="41529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88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Заявлено снижение времени приёма на 20%, но нет исходного замера. Решение: зафиксировать базу до запуска и повторить замер по той же методике.</a:t>
            </a:r>
          </a:p>
        </p:txBody>
      </p:sp>
      <p:sp>
        <p:nvSpPr>
          <p:cNvPr id="15" name="shape-116">
            <a:extLst xmlns:a="http://schemas.openxmlformats.org/drawingml/2006/main">
              <a:ext uri="{FF2B5EF4-FFF2-40B4-BE49-F238E27FC236}">
                <a16:creationId xmlns:a16="http://schemas.microsoft.com/office/drawing/2014/main" id="{228DF3AB-4F4C-4222-996D-97811AC3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Реестр ключевых рисков</a:t>
            </a:r>
          </a:p>
        </p:txBody>
      </p:sp>
      <p:graphicFrame>
        <p:nvGraphicFramePr>
          <p:cNvPr id="34" name="Таблица 31"/>
          <p:cNvGraphicFramePr/>
          <p:nvPr/>
        </p:nvGraphicFramePr>
        <p:xfrm>
          <a:off xmlns:a="http://schemas.openxmlformats.org/drawingml/2006/main" x="628650" y="4724400"/>
          <a:ext xmlns:a="http://schemas.openxmlformats.org/drawingml/2006/main" cx="139827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54983"/>
                <a:gridCol w="1817751"/>
                <a:gridCol w="1677924"/>
                <a:gridCol w="6432042"/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2447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Вероятность</a:t>
                      </a:r>
                    </a:p>
                  </a:txBody>
                  <a:tcPr marL="91440" marR="91440" marT="45720" marB="45720">
                    <a:solidFill>
                      <a:srgbClr val="2447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Влияние</a:t>
                      </a:r>
                    </a:p>
                  </a:txBody>
                  <a:tcPr marL="91440" marR="91440" marT="45720" marB="45720">
                    <a:solidFill>
                      <a:srgbClr val="24476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План реагирования</a:t>
                      </a:r>
                    </a:p>
                  </a:txBody>
                  <a:tcPr marL="91440" marR="91440" marT="45720" marB="45720">
                    <a:solidFill>
                      <a:srgbClr val="24476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Нет исходного замера времени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Собрать базовые данные до запуска и повторить замер по той же методике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увеличит время приёма и число ошибок</a:t>
                      </a:r>
                    </a:p>
                  </a:txBody>
                  <a:tcPr marL="91440" marR="91440" marT="45720" marB="45720"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Оставить обязательные поля, добавить шаблоны и проверку данных врачом</a:t>
                      </a:r>
                    </a:p>
                  </a:txBody>
                  <a:tcPr marL="91440" marR="91440" marT="45720" marB="45720">
                    <a:solidFill>
                      <a:srgbClr val="EDF5F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Врачи и медсёстры не примут новый процесс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Провести обучение, назначить поддержку в отделении, отслеживать долю приёмов в системе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Нарушение правил обработки данных пациентов</a:t>
                      </a:r>
                    </a:p>
                  </a:txBody>
                  <a:tcPr marL="91440" marR="91440" marT="45720" marB="45720">
                    <a:solidFill>
                      <a:srgbClr val="ED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Средняя</a:t>
                      </a:r>
                    </a:p>
                  </a:txBody>
                  <a:tcPr marL="91440" marR="91440" marT="45720" marB="45720">
                    <a:solidFill>
                      <a:srgbClr val="FFF3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Критическое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Настроить роли и журнал действий, проверить права доступа до старта</a:t>
                      </a:r>
                    </a:p>
                  </a:txBody>
                  <a:tcPr marL="91440" marR="91440" marT="45720" marB="45720">
                    <a:solidFill>
                      <a:srgbClr val="EDF5F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Бюджет и руководитель не согласованы к запуску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Утвердить финансирование, назначить руководителя и закрепить полномочия в уставе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068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17">
            <a:extLst xmlns:a="http://schemas.openxmlformats.org/drawingml/2006/main">
              <a:ext uri="{FF2B5EF4-FFF2-40B4-BE49-F238E27FC236}">
                <a16:creationId xmlns:a16="http://schemas.microsoft.com/office/drawing/2014/main" id="{93119C3D-F9FE-40DB-A536-BBB77999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"/>
            <a:ext cx="9334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1"/>
            </a:solidFill>
          </a:ln>
        </p:spPr>
      </p:sp>
      <p:sp>
        <p:nvSpPr>
          <p:cNvPr id="2" name="shape-118">
            <a:extLst xmlns:a="http://schemas.openxmlformats.org/drawingml/2006/main">
              <a:ext uri="{FF2B5EF4-FFF2-40B4-BE49-F238E27FC236}">
                <a16:creationId xmlns:a16="http://schemas.microsoft.com/office/drawing/2014/main" id="{434C7F9D-37AE-445F-AC4F-85D75100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Стейкхолдеры</a:t>
            </a:r>
          </a:p>
        </p:txBody>
      </p:sp>
      <p:sp>
        <p:nvSpPr>
          <p:cNvPr id="3" name="shape-119">
            <a:extLst xmlns:a="http://schemas.openxmlformats.org/drawingml/2006/main">
              <a:ext uri="{FF2B5EF4-FFF2-40B4-BE49-F238E27FC236}">
                <a16:creationId xmlns:a16="http://schemas.microsoft.com/office/drawing/2014/main" id="{93C3946E-68C0-4950-A76D-34F90A15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62025"/>
            <a:ext cx="1181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Матрица влияния, чек-лист полноты и вопросы для топ-3</a:t>
            </a:r>
          </a:p>
        </p:txBody>
      </p:sp>
      <p:sp>
        <p:nvSpPr>
          <p:cNvPr id="4" name="shape-120">
            <a:extLst xmlns:a="http://schemas.openxmlformats.org/drawingml/2006/main">
              <a:ext uri="{FF2B5EF4-FFF2-40B4-BE49-F238E27FC236}">
                <a16:creationId xmlns:a16="http://schemas.microsoft.com/office/drawing/2014/main" id="{2DBCEC00-C02A-4FBE-8A7E-E65F67B8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3348"/>
            <a:ext cx="14478000" cy="6810375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1"/>
            </a:solidFill>
          </a:ln>
        </p:spPr>
      </p:sp>
      <p:sp>
        <p:nvSpPr>
          <p:cNvPr id="6" name="shape-122">
            <a:extLst xmlns:a="http://schemas.openxmlformats.org/drawingml/2006/main">
              <a:ext uri="{FF2B5EF4-FFF2-40B4-BE49-F238E27FC236}">
                <a16:creationId xmlns:a16="http://schemas.microsoft.com/office/drawing/2014/main" id="{CCED7DDD-442F-460D-A33B-471AC06D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7381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Матрица влияния / заинтересованности</a:t>
            </a:r>
          </a:p>
        </p:txBody>
      </p:sp>
      <p:sp>
        <p:nvSpPr>
          <p:cNvPr id="7" name="shape-123">
            <a:extLst xmlns:a="http://schemas.openxmlformats.org/drawingml/2006/main">
              <a:ext uri="{FF2B5EF4-FFF2-40B4-BE49-F238E27FC236}">
                <a16:creationId xmlns:a16="http://schemas.microsoft.com/office/drawing/2014/main" id="{76C00144-6C47-4B4B-8A44-C7314123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36004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5F1D8"/>
          </a:solidFill>
          <a:ln xmlns:a="http://schemas.openxmlformats.org/drawingml/2006/main" w="0">
            <a:noFill/>
          </a:ln>
        </p:spPr>
      </p:sp>
      <p:sp>
        <p:nvSpPr>
          <p:cNvPr id="8" name="shape-124">
            <a:extLst xmlns:a="http://schemas.openxmlformats.org/drawingml/2006/main">
              <a:ext uri="{FF2B5EF4-FFF2-40B4-BE49-F238E27FC236}">
                <a16:creationId xmlns:a16="http://schemas.microsoft.com/office/drawing/2014/main" id="{ACF76DD1-9AC1-4390-A8C2-C832B0D3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371850" cy="259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Управлять внимательно</a:t>
            </a:r>
          </a:p>
        </p:txBody>
      </p:sp>
      <p:sp>
        <p:nvSpPr>
          <p:cNvPr id="9" name="shape-125">
            <a:extLst xmlns:a="http://schemas.openxmlformats.org/drawingml/2006/main">
              <a:ext uri="{FF2B5EF4-FFF2-40B4-BE49-F238E27FC236}">
                <a16:creationId xmlns:a16="http://schemas.microsoft.com/office/drawing/2014/main" id="{401339E5-A988-4490-9B69-FA126F51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4892"/>
            <a:ext cx="3371850" cy="997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Главный врач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Зав. кардиологией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ИТ-отдел / руководитель проекта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Поставщик МедКарты</a:t>
            </a:r>
          </a:p>
        </p:txBody>
      </p:sp>
      <p:sp>
        <p:nvSpPr>
          <p:cNvPr id="10" name="shape-126">
            <a:extLst xmlns:a="http://schemas.openxmlformats.org/drawingml/2006/main">
              <a:ext uri="{FF2B5EF4-FFF2-40B4-BE49-F238E27FC236}">
                <a16:creationId xmlns:a16="http://schemas.microsoft.com/office/drawing/2014/main" id="{025CF63B-4372-4C52-BF93-DCD23540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95500"/>
            <a:ext cx="36004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3BD"/>
          </a:solidFill>
          <a:ln xmlns:a="http://schemas.openxmlformats.org/drawingml/2006/main" w="0">
            <a:noFill/>
          </a:ln>
        </p:spPr>
      </p:sp>
      <p:sp>
        <p:nvSpPr>
          <p:cNvPr id="11" name="shape-127">
            <a:extLst xmlns:a="http://schemas.openxmlformats.org/drawingml/2006/main">
              <a:ext uri="{FF2B5EF4-FFF2-40B4-BE49-F238E27FC236}">
                <a16:creationId xmlns:a16="http://schemas.microsoft.com/office/drawing/2014/main" id="{EEFB831B-250D-49DD-A891-F157DC4D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09800"/>
            <a:ext cx="3371850" cy="259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Держать удовлетворёнными</a:t>
            </a:r>
          </a:p>
        </p:txBody>
      </p:sp>
      <p:sp>
        <p:nvSpPr>
          <p:cNvPr id="12" name="shape-128">
            <a:extLst xmlns:a="http://schemas.openxmlformats.org/drawingml/2006/main">
              <a:ext uri="{FF2B5EF4-FFF2-40B4-BE49-F238E27FC236}">
                <a16:creationId xmlns:a16="http://schemas.microsoft.com/office/drawing/2014/main" id="{C2FC190C-E3CA-48BB-A77E-B2A6533D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64892"/>
            <a:ext cx="3371850" cy="997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Финансово-экономический отдел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Информационная безопасность</a:t>
            </a:r>
          </a:p>
        </p:txBody>
      </p:sp>
      <p:sp>
        <p:nvSpPr>
          <p:cNvPr id="13" name="shape-129">
            <a:extLst xmlns:a="http://schemas.openxmlformats.org/drawingml/2006/main">
              <a:ext uri="{FF2B5EF4-FFF2-40B4-BE49-F238E27FC236}">
                <a16:creationId xmlns:a16="http://schemas.microsoft.com/office/drawing/2014/main" id="{965AC7AA-E8C7-480B-937B-82E2B9AE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3600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FF9"/>
          </a:solidFill>
          <a:ln xmlns:a="http://schemas.openxmlformats.org/drawingml/2006/main" w="0">
            <a:noFill/>
          </a:ln>
        </p:spPr>
      </p:sp>
      <p:sp>
        <p:nvSpPr>
          <p:cNvPr id="14" name="shape-130">
            <a:extLst xmlns:a="http://schemas.openxmlformats.org/drawingml/2006/main">
              <a:ext uri="{FF2B5EF4-FFF2-40B4-BE49-F238E27FC236}">
                <a16:creationId xmlns:a16="http://schemas.microsoft.com/office/drawing/2014/main" id="{D93639A2-D120-429F-BA6D-D908782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3371850" cy="259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Держать информированными</a:t>
            </a:r>
          </a:p>
        </p:txBody>
      </p:sp>
      <p:sp>
        <p:nvSpPr>
          <p:cNvPr id="15" name="shape-131">
            <a:extLst xmlns:a="http://schemas.openxmlformats.org/drawingml/2006/main">
              <a:ext uri="{FF2B5EF4-FFF2-40B4-BE49-F238E27FC236}">
                <a16:creationId xmlns:a16="http://schemas.microsoft.com/office/drawing/2014/main" id="{98AEBE09-154D-4FDB-9B41-CD082502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2242"/>
            <a:ext cx="337185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Врачи-кардиологи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Медсёстры и регистратура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Пациенты</a:t>
            </a:r>
          </a:p>
        </p:txBody>
      </p:sp>
      <p:sp>
        <p:nvSpPr>
          <p:cNvPr id="16" name="shape-132">
            <a:extLst xmlns:a="http://schemas.openxmlformats.org/drawingml/2006/main">
              <a:ext uri="{FF2B5EF4-FFF2-40B4-BE49-F238E27FC236}">
                <a16:creationId xmlns:a16="http://schemas.microsoft.com/office/drawing/2014/main" id="{686D14A5-2C14-4592-AFE3-58E9C845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52850"/>
            <a:ext cx="36004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0">
            <a:noFill/>
          </a:ln>
        </p:spPr>
      </p:sp>
      <p:sp>
        <p:nvSpPr>
          <p:cNvPr id="17" name="shape-133">
            <a:extLst xmlns:a="http://schemas.openxmlformats.org/drawingml/2006/main">
              <a:ext uri="{FF2B5EF4-FFF2-40B4-BE49-F238E27FC236}">
                <a16:creationId xmlns:a16="http://schemas.microsoft.com/office/drawing/2014/main" id="{040B4699-0B79-4A55-8AB2-23F08F4A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67150"/>
            <a:ext cx="3371850" cy="259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Минимальные усилия</a:t>
            </a:r>
          </a:p>
        </p:txBody>
      </p:sp>
      <p:sp>
        <p:nvSpPr>
          <p:cNvPr id="18" name="shape-134">
            <a:extLst xmlns:a="http://schemas.openxmlformats.org/drawingml/2006/main">
              <a:ext uri="{FF2B5EF4-FFF2-40B4-BE49-F238E27FC236}">
                <a16:creationId xmlns:a16="http://schemas.microsoft.com/office/drawing/2014/main" id="{19FB7851-CCB0-4FC9-9F62-C44B5439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22242"/>
            <a:ext cx="337185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Поставщик ЛИС на этапе пилота</a:t>
            </a:r>
          </a:p>
        </p:txBody>
      </p:sp>
      <p:sp>
        <p:nvSpPr>
          <p:cNvPr id="19" name="shape-135">
            <a:extLst xmlns:a="http://schemas.openxmlformats.org/drawingml/2006/main">
              <a:ext uri="{FF2B5EF4-FFF2-40B4-BE49-F238E27FC236}">
                <a16:creationId xmlns:a16="http://schemas.microsoft.com/office/drawing/2014/main" id="{797B6C29-1BFF-4707-B9EA-C5A2520A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28775"/>
            <a:ext cx="6372225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E5F1D8"/>
          </a:solidFill>
          <a:ln xmlns:a="http://schemas.openxmlformats.org/drawingml/2006/main" w="0">
            <a:noFill/>
          </a:ln>
        </p:spPr>
      </p:sp>
      <p:sp>
        <p:nvSpPr>
          <p:cNvPr id="20" name="shape-136">
            <a:extLst xmlns:a="http://schemas.openxmlformats.org/drawingml/2006/main">
              <a:ext uri="{FF2B5EF4-FFF2-40B4-BE49-F238E27FC236}">
                <a16:creationId xmlns:a16="http://schemas.microsoft.com/office/drawing/2014/main" id="{D49FFA9A-9389-4DC4-A80A-62F1CDA5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19275"/>
            <a:ext cx="5991225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Чек-лист полноты</a:t>
            </a:r>
          </a:p>
        </p:txBody>
      </p:sp>
      <p:sp>
        <p:nvSpPr>
          <p:cNvPr id="21" name="shape-137">
            <a:extLst xmlns:a="http://schemas.openxmlformats.org/drawingml/2006/main">
              <a:ext uri="{FF2B5EF4-FFF2-40B4-BE49-F238E27FC236}">
                <a16:creationId xmlns:a16="http://schemas.microsoft.com/office/drawing/2014/main" id="{CC86C023-D616-4F1D-B33A-9BC8F249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33422"/>
            <a:ext cx="5991225" cy="2462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1. Кто финансирует? Главный врач и финансовый отдел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2. Кто использует ежедневно? Кардиологи, медсёстры, регистратура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3. Кто поддерживает? ИТ-отдел и поставщик МедКарты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4. Кто может заблокировать? </a:t>
            </a:r>
            <a:r>
              <a:rPr sz="1575">
                <a:solidFill>
                  <a:srgbClr val="22252A"/>
                </a:solidFill>
                <a:latin typeface="Arial"/>
                <a:ea typeface="Arial"/>
                <a:cs typeface="Arial"/>
              </a:rPr>
              <a:t>Главный врач (спонсор)</a:t>
            </a: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, ИБ, заведующий отделением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5. Кто даёт данные и интеграции? ЛИС и администраторы данных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6. Кто затронут косвенно? Пациенты кардиологии</a:t>
            </a:r>
          </a:p>
        </p:txBody>
      </p:sp>
      <p:sp>
        <p:nvSpPr>
          <p:cNvPr id="22" name="shape-138">
            <a:extLst xmlns:a="http://schemas.openxmlformats.org/drawingml/2006/main">
              <a:ext uri="{FF2B5EF4-FFF2-40B4-BE49-F238E27FC236}">
                <a16:creationId xmlns:a16="http://schemas.microsoft.com/office/drawing/2014/main" id="{E4B6AF47-C2D5-4A71-9287-17DB682F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598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47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4767"/>
                </a:solidFill>
                <a:latin typeface="Arial"/>
                <a:ea typeface="Arial"/>
                <a:cs typeface="Arial"/>
              </a:rPr>
              <a:t>Чек-лист добавил финансовый отдел, ИБ, регистратуру и пациентов</a:t>
            </a:r>
          </a:p>
        </p:txBody>
      </p:sp>
      <p:sp>
        <p:nvSpPr>
          <p:cNvPr id="23" name="shape-139">
            <a:extLst xmlns:a="http://schemas.openxmlformats.org/drawingml/2006/main">
              <a:ext uri="{FF2B5EF4-FFF2-40B4-BE49-F238E27FC236}">
                <a16:creationId xmlns:a16="http://schemas.microsoft.com/office/drawing/2014/main" id="{F777F69C-9001-4CAA-8744-89635C90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53025"/>
            <a:ext cx="1381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Вопросы для трёх ключевых стейкхолдеров</a:t>
            </a:r>
          </a:p>
        </p:txBody>
      </p:sp>
      <p:sp>
        <p:nvSpPr>
          <p:cNvPr id="24" name="shape-140">
            <a:extLst xmlns:a="http://schemas.openxmlformats.org/drawingml/2006/main">
              <a:ext uri="{FF2B5EF4-FFF2-40B4-BE49-F238E27FC236}">
                <a16:creationId xmlns:a16="http://schemas.microsoft.com/office/drawing/2014/main" id="{EA29924A-D5F0-49E7-A888-A53305A9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4572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CEFF9"/>
          </a:solidFill>
          <a:ln xmlns:a="http://schemas.openxmlformats.org/drawingml/2006/main" w="0">
            <a:noFill/>
          </a:ln>
        </p:spPr>
      </p:sp>
      <p:sp>
        <p:nvSpPr>
          <p:cNvPr id="25" name="shape-141">
            <a:extLst xmlns:a="http://schemas.openxmlformats.org/drawingml/2006/main">
              <a:ext uri="{FF2B5EF4-FFF2-40B4-BE49-F238E27FC236}">
                <a16:creationId xmlns:a16="http://schemas.microsoft.com/office/drawing/2014/main" id="{C65E27B7-4248-4F3F-8C1A-2CFA91B1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9775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Главный врач / куратор</a:t>
            </a:r>
          </a:p>
        </p:txBody>
      </p:sp>
      <p:sp>
        <p:nvSpPr>
          <p:cNvPr id="26" name="shape-142">
            <a:extLst xmlns:a="http://schemas.openxmlformats.org/drawingml/2006/main">
              <a:ext uri="{FF2B5EF4-FFF2-40B4-BE49-F238E27FC236}">
                <a16:creationId xmlns:a16="http://schemas.microsoft.com/office/drawing/2014/main" id="{ACFAF8A0-84BA-45AA-941E-ED1BC52C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4191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1. Что для вас будет провалом пилота, даже если время приёма снизится на 20%?</a:t>
            </a:r>
          </a:p>
          <a:p xmlns:a="http://schemas.openxmlformats.org/drawingml/2006/main">
            <a:endParaRPr sz="1650" b="0">
              <a:solidFill>
                <a:srgbClr val="2225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2. При каком риске для бюджета или данных пациентов вы остановите проект?</a:t>
            </a:r>
          </a:p>
        </p:txBody>
      </p:sp>
      <p:sp>
        <p:nvSpPr>
          <p:cNvPr id="27" name="shape-143">
            <a:extLst xmlns:a="http://schemas.openxmlformats.org/drawingml/2006/main">
              <a:ext uri="{FF2B5EF4-FFF2-40B4-BE49-F238E27FC236}">
                <a16:creationId xmlns:a16="http://schemas.microsoft.com/office/drawing/2014/main" id="{CF3AC742-85E1-4907-8E4B-3C2F3E48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629275"/>
            <a:ext cx="4572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DEBC"/>
          </a:solidFill>
          <a:ln xmlns:a="http://schemas.openxmlformats.org/drawingml/2006/main" w="0">
            <a:noFill/>
          </a:ln>
        </p:spPr>
      </p:sp>
      <p:sp>
        <p:nvSpPr>
          <p:cNvPr id="28" name="shape-144">
            <a:extLst xmlns:a="http://schemas.openxmlformats.org/drawingml/2006/main">
              <a:ext uri="{FF2B5EF4-FFF2-40B4-BE49-F238E27FC236}">
                <a16:creationId xmlns:a16="http://schemas.microsoft.com/office/drawing/2014/main" id="{5A406592-F020-4CE3-AA56-40F42860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819775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Заведующий кардиологией</a:t>
            </a:r>
          </a:p>
        </p:txBody>
      </p:sp>
      <p:sp>
        <p:nvSpPr>
          <p:cNvPr id="29" name="shape-145">
            <a:extLst xmlns:a="http://schemas.openxmlformats.org/drawingml/2006/main">
              <a:ext uri="{FF2B5EF4-FFF2-40B4-BE49-F238E27FC236}">
                <a16:creationId xmlns:a16="http://schemas.microsoft.com/office/drawing/2014/main" id="{25546A25-109B-48AD-A051-9AD5E2AB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210300"/>
            <a:ext cx="4191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38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1. Какие изменения в работе врачей вызовут наибольшее сопротивление, даже если система будет работать?</a:t>
            </a:r>
          </a:p>
          <a:p xmlns:a="http://schemas.openxmlformats.org/drawingml/2006/main">
            <a:endParaRPr sz="1538" b="0">
              <a:solidFill>
                <a:srgbClr val="2225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538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38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2. Кто в отделении реально определит, будут ли сотрудники пользоваться МедКартой?</a:t>
            </a:r>
          </a:p>
        </p:txBody>
      </p:sp>
      <p:sp>
        <p:nvSpPr>
          <p:cNvPr id="30" name="shape-146">
            <a:extLst xmlns:a="http://schemas.openxmlformats.org/drawingml/2006/main">
              <a:ext uri="{FF2B5EF4-FFF2-40B4-BE49-F238E27FC236}">
                <a16:creationId xmlns:a16="http://schemas.microsoft.com/office/drawing/2014/main" id="{A4CC37B6-9FEE-4847-A344-EDFCEB42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29275"/>
            <a:ext cx="4572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0">
            <a:noFill/>
          </a:ln>
        </p:spPr>
      </p:sp>
      <p:sp>
        <p:nvSpPr>
          <p:cNvPr id="31" name="shape-147">
            <a:extLst xmlns:a="http://schemas.openxmlformats.org/drawingml/2006/main">
              <a:ext uri="{FF2B5EF4-FFF2-40B4-BE49-F238E27FC236}">
                <a16:creationId xmlns:a16="http://schemas.microsoft.com/office/drawing/2014/main" id="{A8335199-6134-417C-BD90-E48F3417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819775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ИТ-отдел / руководитель проекта</a:t>
            </a:r>
          </a:p>
        </p:txBody>
      </p:sp>
      <p:sp>
        <p:nvSpPr>
          <p:cNvPr id="32" name="shape-148">
            <a:extLst xmlns:a="http://schemas.openxmlformats.org/drawingml/2006/main">
              <a:ext uri="{FF2B5EF4-FFF2-40B4-BE49-F238E27FC236}">
                <a16:creationId xmlns:a16="http://schemas.microsoft.com/office/drawing/2014/main" id="{7E43BA72-7F71-4B06-9373-72B3F9EE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210300"/>
            <a:ext cx="4191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88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1. Какое техническое условие или требование безопасности может задержать запуск?</a:t>
            </a:r>
          </a:p>
          <a:p xmlns:a="http://schemas.openxmlformats.org/drawingml/2006/main">
            <a:endParaRPr sz="1688" b="0">
              <a:solidFill>
                <a:srgbClr val="2225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1688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2. Какая зависимость от подрядчика или данных пока не отражена в уставе?</a:t>
            </a:r>
          </a:p>
        </p:txBody>
      </p:sp>
    </p:spTree>
    <p:extLst>
      <p:ext uri="{BB962C8B-B14F-4D97-AF65-F5344CB8AC3E}">
        <p14:creationId xmlns:p14="http://schemas.microsoft.com/office/powerpoint/2010/main" val="11695933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-149">
            <a:extLst xmlns:a="http://schemas.openxmlformats.org/drawingml/2006/main">
              <a:ext uri="{FF2B5EF4-FFF2-40B4-BE49-F238E27FC236}">
                <a16:creationId xmlns:a16="http://schemas.microsoft.com/office/drawing/2014/main" id="{CF2D9054-A6F7-4F5B-BA1F-B2F9846A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440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Роли команды</a:t>
            </a:r>
          </a:p>
        </p:txBody>
      </p:sp>
      <p:graphicFrame>
        <p:nvGraphicFramePr>
          <p:cNvPr id="6" name="Таблица 3"/>
          <p:cNvGraphicFramePr/>
          <p:nvPr/>
        </p:nvGraphicFramePr>
        <p:xfrm>
          <a:off xmlns:a="http://schemas.openxmlformats.org/drawingml/2006/main" x="419100" y="942975"/>
          <a:ext xmlns:a="http://schemas.openxmlformats.org/drawingml/2006/main" cx="14401800" cy="714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912864"/>
                <a:gridCol w="7488936"/>
              </a:tblGrid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Зона ответственности на этапе планирования</a:t>
                      </a:r>
                    </a:p>
                  </a:txBody>
                  <a:tcPr marL="91440" marR="91440" marT="45720" marB="45720">
                    <a:solidFill>
                      <a:srgbClr val="E2E7F4"/>
                    </a:solidFill>
                  </a:tcPr>
                </a:tc>
              </a:tr>
              <a:tr h="13430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Менеджер проекта – Алимова Анастасия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Владеет документом Scope Statement, ведёт WBS-воркшоп, эскалирует спорные пункты спонсору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13430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Бизнес-аналитик (Product Owner) – Гусельникова Кристина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Формулирует измеримые критерии приёмки, приоритизирует Deliverables, снимает противоречия брифа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13430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Технический лид – Базанов Максим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Декомпозирует эпики до Work Package, определяет техническую последовательность и зависимости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Команда разработки – Долотин Артур, Суворов Максим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Оценивает собственные Work Package по трудоёмкости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13620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Спонсор (главный врач) и внешние стейкхолдеры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Утверждают границы Scope In / Out и критерии приёмки; точка эскалации при споре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7441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-150">
            <a:extLst xmlns:a="http://schemas.openxmlformats.org/drawingml/2006/main">
              <a:ext uri="{FF2B5EF4-FFF2-40B4-BE49-F238E27FC236}">
                <a16:creationId xmlns:a16="http://schemas.microsoft.com/office/drawing/2014/main" id="{73295D5F-41DB-4F99-AC9E-B9C55EFE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440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Результаты проекта</a:t>
            </a:r>
          </a:p>
        </p:txBody>
      </p:sp>
      <p:graphicFrame>
        <p:nvGraphicFramePr>
          <p:cNvPr id="6" name="Таблица 3"/>
          <p:cNvGraphicFramePr/>
          <p:nvPr/>
        </p:nvGraphicFramePr>
        <p:xfrm>
          <a:off xmlns:a="http://schemas.openxmlformats.org/drawingml/2006/main" x="419100" y="942975"/>
          <a:ext xmlns:a="http://schemas.openxmlformats.org/drawingml/2006/main" cx="14401800" cy="714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76522"/>
                <a:gridCol w="4464558"/>
                <a:gridCol w="5760720"/>
              </a:tblGrid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№</a:t>
                      </a:r>
                    </a:p>
                  </a:txBody>
                  <a:tcPr marL="91440" marR="91440" marT="45720" marB="45720"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Что именно передаётся</a:t>
                      </a:r>
                    </a:p>
                  </a:txBody>
                  <a:tcPr marL="91440" marR="91440" marT="45720" marB="45720">
                    <a:solidFill>
                      <a:srgbClr val="E2E7F4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Карта пациента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Создание, просмотр и редактирование карты; шаблоны осмотра кардиолога; автозаполнение полей из предыдущих визитов в МедКарте с обязательным подтверждением врачом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приёма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Запись, перенос и отмена приёма; представления «день / неделя»; фильтр по врачу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D3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Модуль ручного ввода результатов анализов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Форма ввода показателей с валидацией значений и единиц измерения; прикрепление сканов результатов (PDF / JPG)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D4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Подсистема защиты персональных данных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Ролевая модель (врач / медсестра / администратор); журнал доступа к картам; шифрование хранения и резервное копирование; чек-лист соответствия, согласованный со службой ИБ больницы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D5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Обучение персонала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3 дня очных тренингов для медсестёр (2 группы); инструкция пользователя и памятки на рабочих местах; зачёт по базовым операциям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D6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Отчёт по результатам пилота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5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Замер времени приёма до и после внедрения; выводы и рекомендация по масштабированию для главного врача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073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-151">
            <a:extLst xmlns:a="http://schemas.openxmlformats.org/drawingml/2006/main">
              <a:ext uri="{FF2B5EF4-FFF2-40B4-BE49-F238E27FC236}">
                <a16:creationId xmlns:a16="http://schemas.microsoft.com/office/drawing/2014/main" id="{CF625934-3EA6-4EB3-8F73-8B908D31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440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Критерии приёмки</a:t>
            </a:r>
          </a:p>
        </p:txBody>
      </p:sp>
      <p:graphicFrame>
        <p:nvGraphicFramePr>
          <p:cNvPr id="6" name="Таблица 3"/>
          <p:cNvGraphicFramePr/>
          <p:nvPr/>
        </p:nvGraphicFramePr>
        <p:xfrm>
          <a:off xmlns:a="http://schemas.openxmlformats.org/drawingml/2006/main" x="419100" y="942975"/>
          <a:ext xmlns:a="http://schemas.openxmlformats.org/drawingml/2006/main" cx="14401799" cy="714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95799"/>
                <a:gridCol w="4810201"/>
                <a:gridCol w="4795799"/>
              </a:tblGrid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Способ измерения</a:t>
                      </a:r>
                    </a:p>
                  </a:txBody>
                  <a:tcPr marL="91440" marR="91440" marT="45720" marB="45720"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Целевое значение</a:t>
                      </a:r>
                    </a:p>
                  </a:txBody>
                  <a:tcPr marL="91440" marR="91440" marT="45720" marB="45720">
                    <a:solidFill>
                      <a:srgbClr val="E2E7F4"/>
                    </a:solidFill>
                  </a:tcPr>
                </a:tc>
              </a:tr>
              <a:tr h="1562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Сокращение времени приёма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Сравнение контрольного замера (последняя неделя пилота) с базовым замером первой недели; выборка не менее 100 приёмов в каждом замере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Среднее время приёма снижено не менее чем на 20%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1419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Подтверждение предзаполненных полей врачом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Тест-кейс: сохранение карты с неподтверждённым автозаполненным полем должно быть технически невозможно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100% автоматически предзаполненных полей требуют явного подтверждения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12096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Готовность персонала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Зачёт по чек-листу базовых операций после тренингов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Не менее 90% медсестёр отделения прошли обучение и сдали зачёт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14382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Защита персональных данных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по чек-листу совместно со службой ИБ больницы; выгрузка журнала доступа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Все пункты чек-листа закрыты; журнал фиксирует 100% операций с картами; 0 инцидентов несанкционированного доступа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Устойчивость работы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Журнал инцидентов за период опытной эксплуатации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 случаев потери данных; открытие карты пациента не дольше 3 секунд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8268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-152">
            <a:extLst xmlns:a="http://schemas.openxmlformats.org/drawingml/2006/main">
              <a:ext uri="{FF2B5EF4-FFF2-40B4-BE49-F238E27FC236}">
                <a16:creationId xmlns:a16="http://schemas.microsoft.com/office/drawing/2014/main" id="{6559C290-BFF9-4816-8B9C-F1BF3C91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440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Границы проекта</a:t>
            </a:r>
          </a:p>
        </p:txBody>
      </p:sp>
      <p:graphicFrame>
        <p:nvGraphicFramePr>
          <p:cNvPr id="6" name="Таблица 3"/>
          <p:cNvGraphicFramePr/>
          <p:nvPr/>
        </p:nvGraphicFramePr>
        <p:xfrm>
          <a:off xmlns:a="http://schemas.openxmlformats.org/drawingml/2006/main" x="419100" y="942975"/>
          <a:ext xmlns:a="http://schemas.openxmlformats.org/drawingml/2006/main" cx="14401800" cy="741235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60720"/>
                <a:gridCol w="8641080"/>
              </a:tblGrid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Приоритет</a:t>
                      </a:r>
                    </a:p>
                  </a:txBody>
                  <a:tcPr marL="91440" marR="91440" marT="45720" marB="45720"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Что входит</a:t>
                      </a:r>
                    </a:p>
                  </a:txBody>
                  <a:tcPr marL="91440" marR="91440" marT="45720" marB="45720">
                    <a:solidFill>
                      <a:srgbClr val="E2E7F4"/>
                    </a:solidFill>
                  </a:tcPr>
                </a:tc>
              </a:tr>
              <a:tr h="2647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Must have (без этого пилот не принимается)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Карта пациента: создание, просмотр, редактирование, шаблоны осмотра кардиолога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Автозаполнение полей из предыдущих визитов с обязательным подтверждением врачом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Расписание приёма: запись, перенос, отмена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Ручной ввод результатов анализов и прикрепление сканов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Защита ПДн: ролевая модель, журнал доступа, шифрование и резервное копирование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Развёртывание в рабочем контуре отделения кардиологии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Базовый и контрольный замеры времени приёма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Очные тренинги медсестёр (3 дня, 2 группы)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Отчёт по пилоту с рекомендацией по масштабированию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Should have (важно, но приёмку не блокирует)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Инструкция пользователя и памятки на рабочих местах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Зачёт по чек-листу базовых операций после тренингов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Представления «день / неделя» и фильтр по врачу в расписании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Валидация значений и единиц измерения при вводе анализов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9620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Could have (только при наличии резерва)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Расширенные шаблоны осмотра сверх профиля кардиологии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Сбор обратной связи от врачей внутри системы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19335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Won't have this time (Scope Out — формальная граница)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Интеграция с лабораторной информационной системой: фаза 2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Печать и выгрузка выписки (1.2.5, 3 чел.-дня): фаза 2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Интеграция со страховыми компаниями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Телемедицина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Масштабирование на другие отделения больницы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Измерение эффекта «по всей больнице за 6 месяцев»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Миграция бумажного архива карт за прошлые годы</a:t>
                      </a:r>
                    </a:p>
                    <a:p>
                      <a:pPr algn="l">
                        <a:buNone/>
                      </a:pPr>
                      <a:r>
                        <a:rPr sz="1575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• Мобильное приложение для врачей и пациентов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6878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hape-153">
            <a:extLst xmlns:a="http://schemas.openxmlformats.org/drawingml/2006/main">
              <a:ext uri="{FF2B5EF4-FFF2-40B4-BE49-F238E27FC236}">
                <a16:creationId xmlns:a16="http://schemas.microsoft.com/office/drawing/2014/main" id="{5787BF55-4162-4025-A379-32F396E1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1417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447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244767"/>
                </a:solidFill>
                <a:latin typeface="Arial"/>
                <a:ea typeface="Arial"/>
                <a:cs typeface="Arial"/>
              </a:rPr>
              <a:t>Допущения</a:t>
            </a:r>
          </a:p>
        </p:txBody>
      </p:sp>
      <p:sp>
        <p:nvSpPr>
          <p:cNvPr id="2" name="shape-154">
            <a:extLst xmlns:a="http://schemas.openxmlformats.org/drawingml/2006/main">
              <a:ext uri="{FF2B5EF4-FFF2-40B4-BE49-F238E27FC236}">
                <a16:creationId xmlns:a16="http://schemas.microsoft.com/office/drawing/2014/main" id="{93E7DA92-4D01-47A6-8864-1BE22893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2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ИТ-отдел больницы предоставляет серверные мощности, учётные записи и доступ в контур в течение первой недели проекта.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2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Заведующий отделением кардиологии согласовывает график тренингов до старта и выделяет медсестёр двумя группами, чтобы приём пациентов не останавливался.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2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Базовый замер времени приёма проводится силами отделения в первую неделю; без него критерий «−20%» не может быть подтверждён.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2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Согласия пациентов на обработку персональных данных собираются по действующей процедуре больницы; новый юридический процесс в рамках пилота не разрабатывается.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2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Вендор лабораторной системы в пилоте не участвует — его вовлечение относится к фазе 2.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2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Автозаполнение полей карты работает на данных предыдущих визитов внутри системы, а не на данных внешних систем.</a:t>
            </a:r>
          </a:p>
        </p:txBody>
      </p:sp>
      <p:sp>
        <p:nvSpPr>
          <p:cNvPr id="3" name="shape-155">
            <a:extLst xmlns:a="http://schemas.openxmlformats.org/drawingml/2006/main">
              <a:ext uri="{FF2B5EF4-FFF2-40B4-BE49-F238E27FC236}">
                <a16:creationId xmlns:a16="http://schemas.microsoft.com/office/drawing/2014/main" id="{645923BD-C86A-4D81-99FC-B1153A34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4173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447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244767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4" name="shape-156">
            <a:extLst xmlns:a="http://schemas.openxmlformats.org/drawingml/2006/main">
              <a:ext uri="{FF2B5EF4-FFF2-40B4-BE49-F238E27FC236}">
                <a16:creationId xmlns:a16="http://schemas.microsoft.com/office/drawing/2014/main" id="{1DC37777-8E10-4EC5-ADB3-47097CD9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141732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2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Срок пилота — 2 месяца (40 рабочих дней), дата окончания не сдвигается.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2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Область внедрения — одно отделение (кардиология), ограниченное число рабочих мест.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2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Требования к обработке персональных данных пациентов обязательны и сокращению не подлежат ни при каких условиях.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2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Тренинги (6 чел.-дней) уже включены в WBS. Перенос 1.2.5 «Печать и выгрузка выписки» в фазу 2 освобождает 3 чел.-дня резерва. Он не компенсирует все 6 чел.-дней обучения.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2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• Лимит пилота: 100 чел.-дней = 97 чел.-дней работ + 3 чел.-дня резерва. Изменённый план и использование резерва утверждает спонсор. Денежный бюджет требует отдельного согласования.</a:t>
            </a:r>
          </a:p>
        </p:txBody>
      </p:sp>
    </p:spTree>
    <p:extLst>
      <p:ext uri="{BB962C8B-B14F-4D97-AF65-F5344CB8AC3E}">
        <p14:creationId xmlns:p14="http://schemas.microsoft.com/office/powerpoint/2010/main" val="12664039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6FA381E9-9377-44CB-9DB5-27C7E0D7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Исходные данные</a:t>
            </a:r>
          </a:p>
        </p:txBody>
      </p:sp>
      <p:graphicFrame>
        <p:nvGraphicFramePr>
          <p:cNvPr id="10" name="Таблица 9"/>
          <p:cNvGraphicFramePr/>
          <p:nvPr/>
        </p:nvGraphicFramePr>
        <p:xfrm>
          <a:off xmlns:a="http://schemas.openxmlformats.org/drawingml/2006/main" x="571500" y="1095375"/>
          <a:ext xmlns:a="http://schemas.openxmlformats.org/drawingml/2006/main" cx="14097000" cy="5781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"/>
                <a:gridCol w="8239125"/>
                <a:gridCol w="2333625"/>
                <a:gridCol w="2714625"/>
              </a:tblGrid>
              <a:tr h="722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Эпик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Длительность, дн.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Предшественники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</a:tr>
              <a:tr h="722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Подготовка и аналитика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722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Карта пациента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722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приема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анализов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A, 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Защита ПДн и доступ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A, 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722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Развертывание и обучение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B, C, D, 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722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Опытная эксплуатация и приемка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</a:tbl>
          </a:graphicData>
        </a:graphic>
      </p:graphicFrame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0B1F6DD9-8B29-49CC-843E-0052ABF9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72350"/>
            <a:ext cx="1362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Дни в сети показывают длительность работ. Человеко-дни в WBS показывают трудозатраты.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DF9631B2-839D-46E9-B98E-ED8AABD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72400"/>
            <a:ext cx="1362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Суммировать длительности всех параллельных работ для расчета срока проекта нельзя.</a:t>
            </a:r>
          </a:p>
        </p:txBody>
      </p:sp>
    </p:spTree>
    <p:extLst>
      <p:ext uri="{BB962C8B-B14F-4D97-AF65-F5344CB8AC3E}">
        <p14:creationId xmlns:p14="http://schemas.microsoft.com/office/powerpoint/2010/main" val="21192282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Прямоугольник 36">
            <a:extLst xmlns:a="http://schemas.openxmlformats.org/drawingml/2006/main">
              <a:ext uri="{FF2B5EF4-FFF2-40B4-BE49-F238E27FC236}">
                <a16:creationId xmlns:a16="http://schemas.microsoft.com/office/drawing/2014/main" id="{9FDDB2D3-CA2E-41F9-943A-8193CA99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Сетевой график</a:t>
            </a:r>
          </a:p>
        </p:txBody>
      </p:sp>
      <p:sp>
        <p:nvSpPr>
          <p:cNvPr id="3" name="Скругленный 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4F66BE9A-FF6A-4651-95C3-E5728150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24765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8D303407-2A3E-4D35-8CA3-BE2499FC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2171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A  Подготовка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и аналитика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62B51FF9-91E1-4BBA-A897-07BF19CE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5 дн. · резерв 0</a:t>
            </a:r>
          </a:p>
        </p:txBody>
      </p:sp>
      <p:sp>
        <p:nvSpPr>
          <p:cNvPr id="6" name="Скругленный 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D44F65B9-D713-48B6-8FEF-906F2E93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67125"/>
            <a:ext cx="24765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1AE9783B-D6D3-4DB9-A0B7-7F447A0E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2171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B  Карта пациента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43331CCE-1358-4926-8448-C5625FC2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33925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10 дн. · резерв 0</a:t>
            </a: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34F88DC4-8F32-4F13-9269-3D753AF7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24765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EFF9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168D02C1-112E-43D8-96B1-1D7EC354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62125"/>
            <a:ext cx="2171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C  Расписание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приема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FD4C0418-A3BE-4C17-ACCD-E4FB3AA8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6 дн. · резерв 11</a:t>
            </a:r>
          </a:p>
        </p:txBody>
      </p:sp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373C6EB3-5D66-4D92-AAE7-648658C9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24765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EFF9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DE7C0420-5BF3-4C7E-A92F-EE1B8BAB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2171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D  Ручной ввод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анализов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9C0D267B-EAFB-467C-8327-D33DEDEF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33925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6 дн. · резерв 1</a:t>
            </a:r>
          </a:p>
        </p:txBody>
      </p:sp>
      <p:sp>
        <p:nvSpPr>
          <p:cNvPr id="15" name="Скругленный 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BA23FB1-1D17-47C0-88C8-E5EED2A7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00750"/>
            <a:ext cx="24765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947BF47A-2ECE-48F1-9749-C232DBBB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143625"/>
            <a:ext cx="2171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E  Защита ПДн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и доступ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2E619FF-8602-40C9-94C6-9FFCA5E2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7067550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7 дн. · резерв 0</a:t>
            </a: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3E275FC3-FC4B-4FD6-A654-AAE34035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67125"/>
            <a:ext cx="24765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14E29E55-3E19-45E6-B213-B14501AD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10000"/>
            <a:ext cx="2171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F  Развертывание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и обучение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4415CFC9-E929-44AE-B6D3-685696D0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33925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6 дн. · резерв 0</a:t>
            </a:r>
          </a:p>
        </p:txBody>
      </p:sp>
      <p:sp>
        <p:nvSpPr>
          <p:cNvPr id="21" name="Скругленный 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3AFD8E99-6CD2-43D4-9232-30EFD374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667125"/>
            <a:ext cx="24765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E5E0D64B-EE1C-4DDB-9764-6409D6E8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3810000"/>
            <a:ext cx="2171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G  Опытная эксплуатация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и приемка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F779E8A5-6DC7-41E8-8A6E-3F3604F5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733925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10 дн. · резерв 0</a:t>
            </a:r>
          </a:p>
        </p:txBody>
      </p:sp>
      <p:cxnSp>
        <p:nvCxnSpPr>
          <p:cNvPr id="261" name="Прямая со стрелкой 227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4381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B84F7B"/>
            </a:solidFill>
            <a:tailEnd type="triangle" w="med" len="med"/>
          </a:ln>
        </p:spPr>
      </p:cxnSp>
      <p:cxnSp>
        <p:nvCxnSpPr>
          <p:cNvPr id="262" name="Соединительная линия уступом 228"/>
          <p:cNvCxnSpPr>
            <a:stCxn xmlns:a="http://schemas.openxmlformats.org/drawingml/2006/main" id="3" idx="0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1809750" y="2333625"/>
            <a:ext cx="4476750" cy="13335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788B9B"/>
            </a:solidFill>
            <a:tailEnd type="triangle" w="med" len="med"/>
          </a:ln>
        </p:spPr>
      </p:cxnSp>
      <p:cxnSp>
        <p:nvCxnSpPr>
          <p:cNvPr id="263" name="Соединительная линия уступом 229"/>
          <p:cNvCxnSpPr>
            <a:stCxn xmlns:a="http://schemas.openxmlformats.org/drawingml/2006/main" id="3" idx="2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1809750" y="5095875"/>
            <a:ext cx="5715000" cy="22860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788B9B"/>
            </a:solidFill>
            <a:tailEnd type="triangle" w="med" len="med"/>
          </a:ln>
        </p:spPr>
      </p:cxnSp>
      <p:cxnSp>
        <p:nvCxnSpPr>
          <p:cNvPr id="264" name="Соединительная линия уступом 230"/>
          <p:cNvCxnSpPr>
            <a:stCxn xmlns:a="http://schemas.openxmlformats.org/drawingml/2006/main" id="3" idx="2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809750" y="5095875"/>
            <a:ext cx="4476750" cy="16192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788B9B"/>
            </a:solidFill>
            <a:tailEnd type="triangle" w="med" len="med"/>
          </a:ln>
        </p:spPr>
      </p:cxnSp>
      <p:cxnSp>
        <p:nvCxnSpPr>
          <p:cNvPr id="265" name="Прямая со стрелкой 231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05500" y="4381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8B9B"/>
            </a:solidFill>
            <a:tailEnd type="triangle" w="med" len="med"/>
          </a:ln>
        </p:spPr>
      </p:cxnSp>
      <p:cxnSp>
        <p:nvCxnSpPr>
          <p:cNvPr id="266" name="Соединительная линия уступом 232"/>
          <p:cNvCxnSpPr>
            <a:stCxn xmlns:a="http://schemas.openxmlformats.org/drawingml/2006/main" id="6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4667250" y="5095875"/>
            <a:ext cx="285750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3338">
            <a:solidFill>
              <a:srgbClr val="B84F7B"/>
            </a:solidFill>
            <a:tailEnd type="triangle" w="med" len="med"/>
          </a:ln>
        </p:spPr>
      </p:cxnSp>
      <p:cxnSp>
        <p:nvCxnSpPr>
          <p:cNvPr id="267" name="Соединительная линия уступом 233"/>
          <p:cNvCxnSpPr>
            <a:stCxn xmlns:a="http://schemas.openxmlformats.org/drawingml/2006/main" id="6" idx="0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667250" y="3438525"/>
            <a:ext cx="5715000" cy="22860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788B9B"/>
            </a:solidFill>
            <a:tailEnd type="triangle" w="med" len="med"/>
          </a:ln>
        </p:spPr>
      </p:cxnSp>
      <p:cxnSp>
        <p:nvCxnSpPr>
          <p:cNvPr id="268" name="Соединительная линия уступом 234"/>
          <p:cNvCxnSpPr>
            <a:stCxn xmlns:a="http://schemas.openxmlformats.org/drawingml/2006/main" id="9" idx="3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8763000" y="2333625"/>
            <a:ext cx="1619250" cy="13335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788B9B"/>
            </a:solidFill>
            <a:tailEnd type="triangle" w="med" len="med"/>
          </a:ln>
        </p:spPr>
      </p:cxnSp>
      <p:cxnSp>
        <p:nvCxnSpPr>
          <p:cNvPr id="269" name="Прямая со стрелкой 235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63000" y="4381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8B9B"/>
            </a:solidFill>
            <a:tailEnd type="triangle" w="med" len="med"/>
          </a:ln>
        </p:spPr>
      </p:cxnSp>
      <p:cxnSp>
        <p:nvCxnSpPr>
          <p:cNvPr id="270" name="Соединительная линия уступом 236"/>
          <p:cNvCxnSpPr>
            <a:stCxn xmlns:a="http://schemas.openxmlformats.org/drawingml/2006/main" id="15" idx="3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8763000" y="5095875"/>
            <a:ext cx="1619250" cy="1619250"/>
          </a:xfrm>
          <a:prstGeom xmlns:a="http://schemas.openxmlformats.org/drawingml/2006/main" prst="bentConnector2">
            <a:avLst/>
          </a:prstGeom>
          <a:ln xmlns:a="http://schemas.openxmlformats.org/drawingml/2006/main" w="33338">
            <a:solidFill>
              <a:srgbClr val="B84F7B"/>
            </a:solidFill>
            <a:tailEnd type="triangle" w="med" len="med"/>
          </a:ln>
        </p:spPr>
      </p:cxnSp>
      <p:cxnSp>
        <p:nvCxnSpPr>
          <p:cNvPr id="271" name="Прямая со стрелкой 237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1620500" y="4381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B84F7B"/>
            </a:solidFill>
            <a:tailEnd type="triangle" w="med" len="med"/>
          </a:ln>
        </p:spPr>
      </p:cxnSp>
      <p:sp>
        <p:nvSpPr>
          <p:cNvPr id="35" name="Прямоугольник 34">
            <a:extLst xmlns:a="http://schemas.openxmlformats.org/drawingml/2006/main">
              <a:ext uri="{FF2B5EF4-FFF2-40B4-BE49-F238E27FC236}">
                <a16:creationId xmlns:a16="http://schemas.microsoft.com/office/drawing/2014/main" id="{2FB8D759-D085-4750-AA6A-41F5C6B4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581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Критический путь: A → B → E → F → G</a:t>
            </a:r>
          </a:p>
        </p:txBody>
      </p:sp>
      <p:sp>
        <p:nvSpPr>
          <p:cNvPr id="36" name="Прямоугольник 35">
            <a:extLst xmlns:a="http://schemas.openxmlformats.org/drawingml/2006/main">
              <a:ext uri="{FF2B5EF4-FFF2-40B4-BE49-F238E27FC236}">
                <a16:creationId xmlns:a16="http://schemas.microsoft.com/office/drawing/2014/main" id="{4BC34BEE-910E-4FF8-BFBC-AA8A4C86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86725"/>
            <a:ext cx="1409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84F7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4F7B"/>
                </a:solidFill>
                <a:latin typeface="Arial"/>
                <a:ea typeface="Arial"/>
                <a:cs typeface="Arial"/>
              </a:rPr>
              <a:t>5 + 10 + 7 + 6 + 10 = 38 рабочих дней</a:t>
            </a:r>
          </a:p>
        </p:txBody>
      </p:sp>
    </p:spTree>
    <p:extLst>
      <p:ext uri="{BB962C8B-B14F-4D97-AF65-F5344CB8AC3E}">
        <p14:creationId xmlns:p14="http://schemas.microsoft.com/office/powerpoint/2010/main" val="15627041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39B85A79-C01F-48E2-8C99-51654577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Критический путь</a:t>
            </a:r>
          </a:p>
        </p:txBody>
      </p:sp>
      <p:graphicFrame>
        <p:nvGraphicFramePr>
          <p:cNvPr id="10" name="Таблица 9"/>
          <p:cNvGraphicFramePr/>
          <p:nvPr/>
        </p:nvGraphicFramePr>
        <p:xfrm>
          <a:off xmlns:a="http://schemas.openxmlformats.org/drawingml/2006/main" x="571500" y="1095375"/>
          <a:ext xmlns:a="http://schemas.openxmlformats.org/drawingml/2006/main" cx="14097000" cy="529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809750"/>
                <a:gridCol w="1809750"/>
                <a:gridCol w="1809750"/>
                <a:gridCol w="1809750"/>
                <a:gridCol w="1809750"/>
                <a:gridCol w="1809750"/>
              </a:tblGrid>
              <a:tr h="661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Dur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LF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</a:tbl>
          </a:graphicData>
        </a:graphic>
      </p:graphicFrame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5B2107B-6A82-4374-ADC9-393EFEF9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A → B → E → F → G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5EAADD1-F875-44FA-A5AA-78AD1F5D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7710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B84F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84F7B"/>
                </a:solidFill>
                <a:latin typeface="Arial"/>
                <a:ea typeface="Arial"/>
                <a:cs typeface="Arial"/>
              </a:rPr>
              <a:t>5 + 10 + 7 + 6 + 10 = 38 рабочих дней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63DB9310-B7CB-48D0-B0E8-94FBAD71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915275"/>
            <a:ext cx="1409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D почти критическая: резерв 1 день. У C резерв 11 дней. В лимите 40 рабочих дней остается 2 дня.</a:t>
            </a:r>
          </a:p>
        </p:txBody>
      </p:sp>
    </p:spTree>
    <p:extLst>
      <p:ext uri="{BB962C8B-B14F-4D97-AF65-F5344CB8AC3E}">
        <p14:creationId xmlns:p14="http://schemas.microsoft.com/office/powerpoint/2010/main" val="8147448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BEF1EE26-EF7F-4DC0-AFA6-9F0D2DCD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DSM</a:t>
            </a:r>
          </a:p>
        </p:txBody>
      </p:sp>
      <p:graphicFrame>
        <p:nvGraphicFramePr>
          <p:cNvPr id="9" name="Таблица 8"/>
          <p:cNvGraphicFramePr/>
          <p:nvPr/>
        </p:nvGraphicFramePr>
        <p:xfrm>
          <a:off xmlns:a="http://schemas.openxmlformats.org/drawingml/2006/main" x="571500" y="1095375"/>
          <a:ext xmlns:a="http://schemas.openxmlformats.org/drawingml/2006/main" cx="14097000" cy="566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62625"/>
                <a:gridCol w="1190625"/>
                <a:gridCol w="1190625"/>
                <a:gridCol w="1190625"/>
                <a:gridCol w="1190625"/>
                <a:gridCol w="1190625"/>
                <a:gridCol w="1190625"/>
                <a:gridCol w="1190625"/>
              </a:tblGrid>
              <a:tr h="708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Работа / предшественник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</a:tr>
              <a:tr h="708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A  Подготовка и аналитика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7E8E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B  Карта пациента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B84F7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7E8E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C  Расписание приема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B84F7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7E8E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  Ручной ввод анализов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B84F7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B84F7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7E8E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  Защита ПДн и доступ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B84F7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B84F7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7E8E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F  Развертывание и обучение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B84F7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B84F7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B84F7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B84F7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7E8E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G  Эксплуатация и приемка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B84F7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7E8EC"/>
                    </a:solidFill>
                  </a:tcPr>
                </a:tc>
              </a:tr>
            </a:tbl>
          </a:graphicData>
        </a:graphic>
      </p:graphicFrame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6859574B-7F0E-4CFD-8C0F-E96F2652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72350"/>
            <a:ext cx="1357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На сети лучше видна последовательность работ; в DSM быстрее заметны узлы с большим числом связей: A — исходная точка многих веток, F — точка интеграции.</a:t>
            </a:r>
          </a:p>
        </p:txBody>
      </p:sp>
    </p:spTree>
    <p:extLst>
      <p:ext uri="{BB962C8B-B14F-4D97-AF65-F5344CB8AC3E}">
        <p14:creationId xmlns:p14="http://schemas.microsoft.com/office/powerpoint/2010/main" val="7754451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5DAE8C7B-63AB-4FBD-BFBB-42472026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WBS: проверка</a:t>
            </a:r>
          </a:p>
        </p:txBody>
      </p:sp>
      <p:graphicFrame>
        <p:nvGraphicFramePr>
          <p:cNvPr id="10" name="Таблица 9"/>
          <p:cNvGraphicFramePr/>
          <p:nvPr/>
        </p:nvGraphicFramePr>
        <p:xfrm>
          <a:off xmlns:a="http://schemas.openxmlformats.org/drawingml/2006/main" x="571500" y="1095375"/>
          <a:ext xmlns:a="http://schemas.openxmlformats.org/drawingml/2006/main" cx="14097000" cy="5172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286375"/>
                <a:gridCol w="5667375"/>
              </a:tblGrid>
              <a:tr h="10344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в исходной WBS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Исправление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</a:tr>
              <a:tr h="10344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Полнота охвата (100%)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Работа 1.2.5 фазы 2 остается внутри дерева пилота.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Печать вынесена за WBS пилота. Все 97 чел.-дней работ сохранены.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44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Отсутствие пересечений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Структура карты и шаблоны в 1.1.3 могут пересекаться с реализацией 1.2.3.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1.1.3 — согласованная спецификация. 1.2.3 — реализованные шаблоны.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44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Декомпозиция по результатам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Уровень Story смешивает действия, результаты и группы работ.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Единая иерархия: пилот → раздел → проверяемый пакет работ.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44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Управляемость пакетов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У ряда пакетов не назван конкретный результат или ответственный.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Результаты сформулированы явно. Ответственные и оценки указаны у каждого пакета.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09726EA-6331-44A0-B8C6-5BE002EA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0"/>
            <a:ext cx="1357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Перестроен уровень между разделом и пакетом работ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2EF8B12-3AC1-476F-A614-93D8651A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53300"/>
            <a:ext cx="13573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Было: «Карта пациента → Story: тестирование → печать фазы 2 и тесты».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Стало: «Карта пациента → модель данных, CRUD, шаблоны, автозаполнение, результаты тестирования».</a:t>
            </a:r>
          </a:p>
        </p:txBody>
      </p:sp>
    </p:spTree>
    <p:extLst>
      <p:ext uri="{BB962C8B-B14F-4D97-AF65-F5344CB8AC3E}">
        <p14:creationId xmlns:p14="http://schemas.microsoft.com/office/powerpoint/2010/main" val="10799029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Прямоугольник 125">
            <a:extLst xmlns:a="http://schemas.openxmlformats.org/drawingml/2006/main">
              <a:ext uri="{FF2B5EF4-FFF2-40B4-BE49-F238E27FC236}">
                <a16:creationId xmlns:a16="http://schemas.microsoft.com/office/drawing/2014/main" id="{D1C375D8-CF12-4648-AA74-C860ECE3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409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WBS</a:t>
            </a:r>
          </a:p>
        </p:txBody>
      </p:sp>
      <p:sp>
        <p:nvSpPr>
          <p:cNvPr id="3" name="Скругленный 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9D64F80-ADF0-44B1-A789-641FD640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219200"/>
            <a:ext cx="50482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DCEFF9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79DA388A-D609-41D1-B616-17912B88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3239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  Пилот «МедКарта» — 100%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C8F4666-8B5D-49E3-BD0C-4503EA6A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76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97 чел.-дн. работ · 38 рабочих дней по сети</a:t>
            </a:r>
          </a:p>
        </p:txBody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37324997-5F0E-4844-B57E-2A620544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5ADBB"/>
            </a:solidFill>
          </a:ln>
        </p:spPr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BCBDF4E4-7712-4A20-993F-04718558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14550"/>
            <a:ext cx="12573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5ADBB"/>
            </a:solidFill>
          </a:ln>
        </p:spPr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196FE40F-FB71-4866-B5AF-6B7B4659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14550"/>
            <a:ext cx="0" cy="1333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5ADBB"/>
            </a:solidFill>
          </a:ln>
        </p:spPr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11847B69-6C4A-4C81-8462-A66B5BEF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47900"/>
            <a:ext cx="19812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2E7F4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65D804E0-A1F0-42A6-828A-11507879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1.1 Подготовка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и аналитика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091653BA-5466-4DC0-A550-B370D049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10,3% · срок 5 дн.</a:t>
            </a:r>
          </a:p>
        </p:txBody>
      </p:sp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A81EBD7F-DE94-4156-8F84-E71B6747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9567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B33D3902-7C61-404D-B95C-EF036FD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814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1.1.1 Интервью и сбор требований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A99B6A27-E666-406B-931C-1144B48A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1243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3 чел.-дн. · БА</a:t>
            </a:r>
          </a:p>
        </p:txBody>
      </p:sp>
      <p:sp>
        <p:nvSpPr>
          <p:cNvPr id="15" name="Скругленный 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746EAE2F-E1E1-43C6-8522-BF0EF2FB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0055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A9A10258-30CF-4C01-A348-D11300A7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1.1.2 Базовый замер времени приема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7C015D08-F513-4ED4-A6B6-9870C160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0292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2 чел.-дн. · БА + зав.</a:t>
            </a: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621CF40F-274D-4BE6-A40A-5DA4B114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0542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F81E91D8-1220-43B4-8260-1060B0A2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911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1.1.3 Спецификация карты и шаблонов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E1EE83E8-2721-47E0-A867-EBD20100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3407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3 чел.-дн. · БА + техлид</a:t>
            </a:r>
          </a:p>
        </p:txBody>
      </p:sp>
      <p:sp>
        <p:nvSpPr>
          <p:cNvPr id="21" name="Скругленный 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46801927-13EF-4E60-A061-A7BF15B9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1030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0F52F988-4C62-4747-B76D-24A3B1E2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1.1.4 Тестовый стенд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10C0CA11-587E-4FB6-B12F-D6416EC7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838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2 чел.-дн. · ИТ</a:t>
            </a:r>
          </a:p>
        </p:txBody>
      </p:sp>
      <p:sp>
        <p:nvSpPr>
          <p:cNvPr id="24" name="Прямая соединительная линия 23">
            <a:extLst xmlns:a="http://schemas.openxmlformats.org/drawingml/2006/main">
              <a:ext uri="{FF2B5EF4-FFF2-40B4-BE49-F238E27FC236}">
                <a16:creationId xmlns:a16="http://schemas.microsoft.com/office/drawing/2014/main" id="{832A01A6-EDC4-4692-BCD9-219A596A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0" cy="1333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5ADBB"/>
            </a:solidFill>
          </a:ln>
        </p:spPr>
      </p:sp>
      <p:sp>
        <p:nvSpPr>
          <p:cNvPr id="25" name="Скругленный 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379153D4-A343-4F69-A72C-9B346AA5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47900"/>
            <a:ext cx="19812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2E7F4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16C08DE9-E3ED-46E2-9249-5881D151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812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1.2 Карта пациента</a:t>
            </a:r>
          </a:p>
        </p:txBody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9A925286-19FF-47B0-853E-C3700AF4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861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27,8% · срок 10 дн.</a:t>
            </a:r>
          </a:p>
        </p:txBody>
      </p:sp>
      <p:sp>
        <p:nvSpPr>
          <p:cNvPr id="28" name="Скругленный 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9B14818D-6F18-43F5-A802-A878D472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9567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F8D7103B-359F-4EC0-A489-9B8FE251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814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1.2.1 Модель данных и схема БД</a:t>
            </a:r>
          </a:p>
        </p:txBody>
      </p:sp>
      <p:sp>
        <p:nvSpPr>
          <p:cNvPr id="30" name="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F99C741F-DDE4-4045-9345-01D55605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1243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31" name="Скругленный 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3B4969FD-EC3C-4CFF-BC73-2FE5FE6C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0055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32" name="Прямоугольник 31">
            <a:extLst xmlns:a="http://schemas.openxmlformats.org/drawingml/2006/main">
              <a:ext uri="{FF2B5EF4-FFF2-40B4-BE49-F238E27FC236}">
                <a16:creationId xmlns:a16="http://schemas.microsoft.com/office/drawing/2014/main" id="{35AE96E6-BB84-4B99-BB5B-F4EE8075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8627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1.2.2 CRUD карты пациента</a:t>
            </a:r>
          </a:p>
        </p:txBody>
      </p:sp>
      <p:sp>
        <p:nvSpPr>
          <p:cNvPr id="33" name="Прямоугольник 32">
            <a:extLst xmlns:a="http://schemas.openxmlformats.org/drawingml/2006/main">
              <a:ext uri="{FF2B5EF4-FFF2-40B4-BE49-F238E27FC236}">
                <a16:creationId xmlns:a16="http://schemas.microsoft.com/office/drawing/2014/main" id="{FCF9DD80-C2D2-4517-9A17-3210FFA6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0292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6 чел.-дн. · Backend</a:t>
            </a:r>
          </a:p>
        </p:txBody>
      </p:sp>
      <p:sp>
        <p:nvSpPr>
          <p:cNvPr id="34" name="Скругленный прямоугольник 33">
            <a:extLst xmlns:a="http://schemas.openxmlformats.org/drawingml/2006/main">
              <a:ext uri="{FF2B5EF4-FFF2-40B4-BE49-F238E27FC236}">
                <a16:creationId xmlns:a16="http://schemas.microsoft.com/office/drawing/2014/main" id="{86F36761-D931-4D76-9C13-6BA9AC47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0542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35" name="Прямоугольник 34">
            <a:extLst xmlns:a="http://schemas.openxmlformats.org/drawingml/2006/main">
              <a:ext uri="{FF2B5EF4-FFF2-40B4-BE49-F238E27FC236}">
                <a16:creationId xmlns:a16="http://schemas.microsoft.com/office/drawing/2014/main" id="{5780579E-D61C-44DF-BEE6-2D76F63B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911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1.2.3 Шаблоны осмотра</a:t>
            </a:r>
          </a:p>
        </p:txBody>
      </p:sp>
      <p:sp>
        <p:nvSpPr>
          <p:cNvPr id="36" name="Прямоугольник 35">
            <a:extLst xmlns:a="http://schemas.openxmlformats.org/drawingml/2006/main">
              <a:ext uri="{FF2B5EF4-FFF2-40B4-BE49-F238E27FC236}">
                <a16:creationId xmlns:a16="http://schemas.microsoft.com/office/drawing/2014/main" id="{A1F745D9-3734-4698-B41F-31E2506D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93407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5 чел.-дн. · Frontend</a:t>
            </a:r>
          </a:p>
        </p:txBody>
      </p:sp>
      <p:sp>
        <p:nvSpPr>
          <p:cNvPr id="37" name="Скругленный прямоугольник 36">
            <a:extLst xmlns:a="http://schemas.openxmlformats.org/drawingml/2006/main">
              <a:ext uri="{FF2B5EF4-FFF2-40B4-BE49-F238E27FC236}">
                <a16:creationId xmlns:a16="http://schemas.microsoft.com/office/drawing/2014/main" id="{680A3A93-C0B5-4E8A-B4E5-187C262F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21030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38" name="Прямоугольник 37">
            <a:extLst xmlns:a="http://schemas.openxmlformats.org/drawingml/2006/main">
              <a:ext uri="{FF2B5EF4-FFF2-40B4-BE49-F238E27FC236}">
                <a16:creationId xmlns:a16="http://schemas.microsoft.com/office/drawing/2014/main" id="{FA539F53-93ED-4C3C-B06B-CC0D5523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29602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1.2.4 Автозаполнение + подтверждение</a:t>
            </a:r>
          </a:p>
        </p:txBody>
      </p:sp>
      <p:sp>
        <p:nvSpPr>
          <p:cNvPr id="39" name="Прямоугольник 38">
            <a:extLst xmlns:a="http://schemas.openxmlformats.org/drawingml/2006/main">
              <a:ext uri="{FF2B5EF4-FFF2-40B4-BE49-F238E27FC236}">
                <a16:creationId xmlns:a16="http://schemas.microsoft.com/office/drawing/2014/main" id="{E03AD44B-6F8E-4914-9E3E-B96D3B5A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6838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6 чел.-дн. · BE + FE</a:t>
            </a:r>
          </a:p>
        </p:txBody>
      </p:sp>
      <p:sp>
        <p:nvSpPr>
          <p:cNvPr id="40" name="Скругленный прямоугольник 39">
            <a:extLst xmlns:a="http://schemas.openxmlformats.org/drawingml/2006/main">
              <a:ext uri="{FF2B5EF4-FFF2-40B4-BE49-F238E27FC236}">
                <a16:creationId xmlns:a16="http://schemas.microsoft.com/office/drawing/2014/main" id="{F069F395-D146-4973-AB2E-A86909F3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11517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41" name="Прямоугольник 40">
            <a:extLst xmlns:a="http://schemas.openxmlformats.org/drawingml/2006/main">
              <a:ext uri="{FF2B5EF4-FFF2-40B4-BE49-F238E27FC236}">
                <a16:creationId xmlns:a16="http://schemas.microsoft.com/office/drawing/2014/main" id="{39684C09-BCCC-4969-B891-4E4AC277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72009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1.2.6 Тестирование модуля карты</a:t>
            </a:r>
          </a:p>
        </p:txBody>
      </p:sp>
      <p:sp>
        <p:nvSpPr>
          <p:cNvPr id="42" name="Прямоугольник 41">
            <a:extLst xmlns:a="http://schemas.openxmlformats.org/drawingml/2006/main">
              <a:ext uri="{FF2B5EF4-FFF2-40B4-BE49-F238E27FC236}">
                <a16:creationId xmlns:a16="http://schemas.microsoft.com/office/drawing/2014/main" id="{3672C339-758A-4BCC-A5F4-257CA6DB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77438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6 чел.-дн. · QA</a:t>
            </a:r>
          </a:p>
        </p:txBody>
      </p:sp>
      <p:sp>
        <p:nvSpPr>
          <p:cNvPr id="43" name="Прямая соединительная линия 42">
            <a:extLst xmlns:a="http://schemas.openxmlformats.org/drawingml/2006/main">
              <a:ext uri="{FF2B5EF4-FFF2-40B4-BE49-F238E27FC236}">
                <a16:creationId xmlns:a16="http://schemas.microsoft.com/office/drawing/2014/main" id="{E575B9B4-0D18-4DA2-A06D-458222C8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14550"/>
            <a:ext cx="0" cy="1333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5ADBB"/>
            </a:solidFill>
          </a:ln>
        </p:spPr>
      </p:sp>
      <p:sp>
        <p:nvSpPr>
          <p:cNvPr id="44" name="Скругленный прямоугольник 43">
            <a:extLst xmlns:a="http://schemas.openxmlformats.org/drawingml/2006/main">
              <a:ext uri="{FF2B5EF4-FFF2-40B4-BE49-F238E27FC236}">
                <a16:creationId xmlns:a16="http://schemas.microsoft.com/office/drawing/2014/main" id="{54568F7B-189C-496D-AF8F-DF3A5020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47900"/>
            <a:ext cx="19812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2E7F4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45" name="Прямоугольник 44">
            <a:extLst xmlns:a="http://schemas.openxmlformats.org/drawingml/2006/main">
              <a:ext uri="{FF2B5EF4-FFF2-40B4-BE49-F238E27FC236}">
                <a16:creationId xmlns:a16="http://schemas.microsoft.com/office/drawing/2014/main" id="{88B2DB6D-CFD4-4559-AE35-A480C12B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1.3 Расписание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приема</a:t>
            </a:r>
          </a:p>
        </p:txBody>
      </p:sp>
      <p:sp>
        <p:nvSpPr>
          <p:cNvPr id="46" name="Прямоугольник 45">
            <a:extLst xmlns:a="http://schemas.openxmlformats.org/drawingml/2006/main">
              <a:ext uri="{FF2B5EF4-FFF2-40B4-BE49-F238E27FC236}">
                <a16:creationId xmlns:a16="http://schemas.microsoft.com/office/drawing/2014/main" id="{7EE363BE-D529-4255-919E-F70FF6D2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15,5% · срок 6 дн.</a:t>
            </a:r>
          </a:p>
        </p:txBody>
      </p:sp>
      <p:sp>
        <p:nvSpPr>
          <p:cNvPr id="47" name="Скругленный прямоугольник 46">
            <a:extLst xmlns:a="http://schemas.openxmlformats.org/drawingml/2006/main">
              <a:ext uri="{FF2B5EF4-FFF2-40B4-BE49-F238E27FC236}">
                <a16:creationId xmlns:a16="http://schemas.microsoft.com/office/drawing/2014/main" id="{F86E6EF6-6631-46E6-8A8E-5F0B31CC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9567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48" name="Прямоугольник 47">
            <a:extLst xmlns:a="http://schemas.openxmlformats.org/drawingml/2006/main">
              <a:ext uri="{FF2B5EF4-FFF2-40B4-BE49-F238E27FC236}">
                <a16:creationId xmlns:a16="http://schemas.microsoft.com/office/drawing/2014/main" id="{3087D869-FCB3-4A9B-8CBB-950F6601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814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1.3.1 Модель расписания и слотов</a:t>
            </a:r>
          </a:p>
        </p:txBody>
      </p:sp>
      <p:sp>
        <p:nvSpPr>
          <p:cNvPr id="49" name="Прямоугольник 48">
            <a:extLst xmlns:a="http://schemas.openxmlformats.org/drawingml/2006/main">
              <a:ext uri="{FF2B5EF4-FFF2-40B4-BE49-F238E27FC236}">
                <a16:creationId xmlns:a16="http://schemas.microsoft.com/office/drawing/2014/main" id="{5A9D77A5-713B-4A7B-81BE-6B98E4FA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243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3 чел.-дн. · Backend</a:t>
            </a:r>
          </a:p>
        </p:txBody>
      </p:sp>
      <p:sp>
        <p:nvSpPr>
          <p:cNvPr id="50" name="Скругленный прямоугольник 49">
            <a:extLst xmlns:a="http://schemas.openxmlformats.org/drawingml/2006/main">
              <a:ext uri="{FF2B5EF4-FFF2-40B4-BE49-F238E27FC236}">
                <a16:creationId xmlns:a16="http://schemas.microsoft.com/office/drawing/2014/main" id="{E00FE484-18E8-4C2D-B11E-E344F0DC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0055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51" name="Прямоугольник 50">
            <a:extLst xmlns:a="http://schemas.openxmlformats.org/drawingml/2006/main">
              <a:ext uri="{FF2B5EF4-FFF2-40B4-BE49-F238E27FC236}">
                <a16:creationId xmlns:a16="http://schemas.microsoft.com/office/drawing/2014/main" id="{FDE2C646-79FC-41AD-B5A4-21DAECC8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8627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1.3.2 Запись / перенос / отмена</a:t>
            </a:r>
          </a:p>
        </p:txBody>
      </p:sp>
      <p:sp>
        <p:nvSpPr>
          <p:cNvPr id="52" name="Прямоугольник 51">
            <a:extLst xmlns:a="http://schemas.openxmlformats.org/drawingml/2006/main">
              <a:ext uri="{FF2B5EF4-FFF2-40B4-BE49-F238E27FC236}">
                <a16:creationId xmlns:a16="http://schemas.microsoft.com/office/drawing/2014/main" id="{3B8B5740-72B5-4207-BC82-6D04ED3A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292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5 чел.-дн. · Frontend</a:t>
            </a:r>
          </a:p>
        </p:txBody>
      </p:sp>
      <p:sp>
        <p:nvSpPr>
          <p:cNvPr id="53" name="Скругленный прямоугольник 52">
            <a:extLst xmlns:a="http://schemas.openxmlformats.org/drawingml/2006/main">
              <a:ext uri="{FF2B5EF4-FFF2-40B4-BE49-F238E27FC236}">
                <a16:creationId xmlns:a16="http://schemas.microsoft.com/office/drawing/2014/main" id="{98669E87-C62D-4575-9C1C-6F4AC068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0542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54" name="Прямоугольник 53">
            <a:extLst xmlns:a="http://schemas.openxmlformats.org/drawingml/2006/main">
              <a:ext uri="{FF2B5EF4-FFF2-40B4-BE49-F238E27FC236}">
                <a16:creationId xmlns:a16="http://schemas.microsoft.com/office/drawing/2014/main" id="{7E757F69-879A-49D2-A168-C7D073D7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3911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1.3.3 День / неделя + фильтр</a:t>
            </a:r>
          </a:p>
        </p:txBody>
      </p:sp>
      <p:sp>
        <p:nvSpPr>
          <p:cNvPr id="55" name="Прямоугольник 54">
            <a:extLst xmlns:a="http://schemas.openxmlformats.org/drawingml/2006/main">
              <a:ext uri="{FF2B5EF4-FFF2-40B4-BE49-F238E27FC236}">
                <a16:creationId xmlns:a16="http://schemas.microsoft.com/office/drawing/2014/main" id="{977B6D07-68A8-4960-861F-3DEBBF07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93407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3 чел.-дн. · Frontend</a:t>
            </a:r>
          </a:p>
        </p:txBody>
      </p:sp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A66D0B4A-6996-4264-8CE6-E22E36AE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21030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57" name="Прямоугольник 56">
            <a:extLst xmlns:a="http://schemas.openxmlformats.org/drawingml/2006/main">
              <a:ext uri="{FF2B5EF4-FFF2-40B4-BE49-F238E27FC236}">
                <a16:creationId xmlns:a16="http://schemas.microsoft.com/office/drawing/2014/main" id="{B03E6716-44BB-443E-BCAF-610158A0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29602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1.3.4 Тестирование расписания</a:t>
            </a:r>
          </a:p>
        </p:txBody>
      </p:sp>
      <p:sp>
        <p:nvSpPr>
          <p:cNvPr id="58" name="Прямоугольник 57">
            <a:extLst xmlns:a="http://schemas.openxmlformats.org/drawingml/2006/main">
              <a:ext uri="{FF2B5EF4-FFF2-40B4-BE49-F238E27FC236}">
                <a16:creationId xmlns:a16="http://schemas.microsoft.com/office/drawing/2014/main" id="{85189014-6457-46F8-A09D-64A54B46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6838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4 чел.-дн. · QA</a:t>
            </a:r>
          </a:p>
        </p:txBody>
      </p:sp>
      <p:sp>
        <p:nvSpPr>
          <p:cNvPr id="59" name="Прямая соединительная линия 58">
            <a:extLst xmlns:a="http://schemas.openxmlformats.org/drawingml/2006/main">
              <a:ext uri="{FF2B5EF4-FFF2-40B4-BE49-F238E27FC236}">
                <a16:creationId xmlns:a16="http://schemas.microsoft.com/office/drawing/2014/main" id="{761002D7-9A88-4512-B3DD-35074589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0" cy="1333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5ADBB"/>
            </a:solidFill>
          </a:ln>
        </p:spPr>
      </p:sp>
      <p:sp>
        <p:nvSpPr>
          <p:cNvPr id="60" name="Скругленный прямоугольник 59">
            <a:extLst xmlns:a="http://schemas.openxmlformats.org/drawingml/2006/main">
              <a:ext uri="{FF2B5EF4-FFF2-40B4-BE49-F238E27FC236}">
                <a16:creationId xmlns:a16="http://schemas.microsoft.com/office/drawing/2014/main" id="{3B5F1861-9712-4FB8-8C09-E57EE715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19812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2E7F4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61" name="Прямоугольник 60">
            <a:extLst xmlns:a="http://schemas.openxmlformats.org/drawingml/2006/main">
              <a:ext uri="{FF2B5EF4-FFF2-40B4-BE49-F238E27FC236}">
                <a16:creationId xmlns:a16="http://schemas.microsoft.com/office/drawing/2014/main" id="{1D913350-37A4-4B16-9EEF-95902312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1.4 Ручной ввод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анализов</a:t>
            </a:r>
          </a:p>
        </p:txBody>
      </p:sp>
      <p:sp>
        <p:nvSpPr>
          <p:cNvPr id="62" name="Прямоугольник 61">
            <a:extLst xmlns:a="http://schemas.openxmlformats.org/drawingml/2006/main">
              <a:ext uri="{FF2B5EF4-FFF2-40B4-BE49-F238E27FC236}">
                <a16:creationId xmlns:a16="http://schemas.microsoft.com/office/drawing/2014/main" id="{CD8115C9-3934-47DD-94FA-D7216DCE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12,4% · срок 6 дн.</a:t>
            </a:r>
          </a:p>
        </p:txBody>
      </p:sp>
      <p:sp>
        <p:nvSpPr>
          <p:cNvPr id="63" name="Скругленный прямоугольник 62">
            <a:extLst xmlns:a="http://schemas.openxmlformats.org/drawingml/2006/main">
              <a:ext uri="{FF2B5EF4-FFF2-40B4-BE49-F238E27FC236}">
                <a16:creationId xmlns:a16="http://schemas.microsoft.com/office/drawing/2014/main" id="{C4271BAD-2F29-4122-940A-423CB353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9567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64" name="Прямоугольник 63">
            <a:extLst xmlns:a="http://schemas.openxmlformats.org/drawingml/2006/main">
              <a:ext uri="{FF2B5EF4-FFF2-40B4-BE49-F238E27FC236}">
                <a16:creationId xmlns:a16="http://schemas.microsoft.com/office/drawing/2014/main" id="{F783790D-4F12-447B-8417-71AD9CB5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814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1.4.1 Форма ручного ввода</a:t>
            </a:r>
          </a:p>
        </p:txBody>
      </p:sp>
      <p:sp>
        <p:nvSpPr>
          <p:cNvPr id="65" name="Прямоугольник 64">
            <a:extLst xmlns:a="http://schemas.openxmlformats.org/drawingml/2006/main">
              <a:ext uri="{FF2B5EF4-FFF2-40B4-BE49-F238E27FC236}">
                <a16:creationId xmlns:a16="http://schemas.microsoft.com/office/drawing/2014/main" id="{AD2E3B07-7382-4E65-A511-1A04001A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243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4 чел.-дн. · Frontend</a:t>
            </a:r>
          </a:p>
        </p:txBody>
      </p:sp>
      <p:sp>
        <p:nvSpPr>
          <p:cNvPr id="66" name="Скругленный прямоугольник 65">
            <a:extLst xmlns:a="http://schemas.openxmlformats.org/drawingml/2006/main">
              <a:ext uri="{FF2B5EF4-FFF2-40B4-BE49-F238E27FC236}">
                <a16:creationId xmlns:a16="http://schemas.microsoft.com/office/drawing/2014/main" id="{AAFC8BF7-284B-45C6-9D0A-2241441C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0055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67" name="Прямоугольник 66">
            <a:extLst xmlns:a="http://schemas.openxmlformats.org/drawingml/2006/main">
              <a:ext uri="{FF2B5EF4-FFF2-40B4-BE49-F238E27FC236}">
                <a16:creationId xmlns:a16="http://schemas.microsoft.com/office/drawing/2014/main" id="{A5606E7D-69FA-4F12-887D-B9377D7C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8627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1.4.2 Сканы и хранение</a:t>
            </a:r>
          </a:p>
        </p:txBody>
      </p:sp>
      <p:sp>
        <p:nvSpPr>
          <p:cNvPr id="68" name="Прямоугольник 67">
            <a:extLst xmlns:a="http://schemas.openxmlformats.org/drawingml/2006/main">
              <a:ext uri="{FF2B5EF4-FFF2-40B4-BE49-F238E27FC236}">
                <a16:creationId xmlns:a16="http://schemas.microsoft.com/office/drawing/2014/main" id="{7E265FA2-DFE7-4206-BB3C-CA15BD45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0292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69" name="Скругленный прямоугольник 68">
            <a:extLst xmlns:a="http://schemas.openxmlformats.org/drawingml/2006/main">
              <a:ext uri="{FF2B5EF4-FFF2-40B4-BE49-F238E27FC236}">
                <a16:creationId xmlns:a16="http://schemas.microsoft.com/office/drawing/2014/main" id="{C1CDB54B-8D40-40F6-8BE7-2D0A5EED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0542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70" name="Прямоугольник 69">
            <a:extLst xmlns:a="http://schemas.openxmlformats.org/drawingml/2006/main">
              <a:ext uri="{FF2B5EF4-FFF2-40B4-BE49-F238E27FC236}">
                <a16:creationId xmlns:a16="http://schemas.microsoft.com/office/drawing/2014/main" id="{15BB788B-A583-4A15-AE45-85639A96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911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1.4.3 Валидация значений</a:t>
            </a:r>
          </a:p>
        </p:txBody>
      </p:sp>
      <p:sp>
        <p:nvSpPr>
          <p:cNvPr id="71" name="Прямоугольник 70">
            <a:extLst xmlns:a="http://schemas.openxmlformats.org/drawingml/2006/main">
              <a:ext uri="{FF2B5EF4-FFF2-40B4-BE49-F238E27FC236}">
                <a16:creationId xmlns:a16="http://schemas.microsoft.com/office/drawing/2014/main" id="{F48CE270-511E-4EFD-8A07-8BE5086A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93407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2 чел.-дн. · Backend</a:t>
            </a:r>
          </a:p>
        </p:txBody>
      </p:sp>
      <p:sp>
        <p:nvSpPr>
          <p:cNvPr id="72" name="Скругленный прямоугольник 71">
            <a:extLst xmlns:a="http://schemas.openxmlformats.org/drawingml/2006/main">
              <a:ext uri="{FF2B5EF4-FFF2-40B4-BE49-F238E27FC236}">
                <a16:creationId xmlns:a16="http://schemas.microsoft.com/office/drawing/2014/main" id="{569685EE-F912-4480-BFCC-552B3CD9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21030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73" name="Прямоугольник 72">
            <a:extLst xmlns:a="http://schemas.openxmlformats.org/drawingml/2006/main">
              <a:ext uri="{FF2B5EF4-FFF2-40B4-BE49-F238E27FC236}">
                <a16:creationId xmlns:a16="http://schemas.microsoft.com/office/drawing/2014/main" id="{3ED01207-FB6C-4E05-9785-2409362C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29602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1.4.4 Тестирование ввода</a:t>
            </a:r>
          </a:p>
        </p:txBody>
      </p:sp>
      <p:sp>
        <p:nvSpPr>
          <p:cNvPr id="74" name="Прямоугольник 73">
            <a:extLst xmlns:a="http://schemas.openxmlformats.org/drawingml/2006/main">
              <a:ext uri="{FF2B5EF4-FFF2-40B4-BE49-F238E27FC236}">
                <a16:creationId xmlns:a16="http://schemas.microsoft.com/office/drawing/2014/main" id="{09B21B2F-8135-47D3-BB64-BE36D9FC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6838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2 чел.-дн. · QA</a:t>
            </a:r>
          </a:p>
        </p:txBody>
      </p:sp>
      <p:sp>
        <p:nvSpPr>
          <p:cNvPr id="75" name="Прямая соединительная линия 74">
            <a:extLst xmlns:a="http://schemas.openxmlformats.org/drawingml/2006/main">
              <a:ext uri="{FF2B5EF4-FFF2-40B4-BE49-F238E27FC236}">
                <a16:creationId xmlns:a16="http://schemas.microsoft.com/office/drawing/2014/main" id="{9949ADF2-8F28-4D95-97F3-2129C320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0" cy="1333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5ADBB"/>
            </a:solidFill>
          </a:ln>
        </p:spPr>
      </p:sp>
      <p:sp>
        <p:nvSpPr>
          <p:cNvPr id="76" name="Скругленный прямоугольник 75">
            <a:extLst xmlns:a="http://schemas.openxmlformats.org/drawingml/2006/main">
              <a:ext uri="{FF2B5EF4-FFF2-40B4-BE49-F238E27FC236}">
                <a16:creationId xmlns:a16="http://schemas.microsoft.com/office/drawing/2014/main" id="{27EA2908-0891-4439-ACD9-DF8E8CD4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19812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2E7F4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77" name="Прямоугольник 76">
            <a:extLst xmlns:a="http://schemas.openxmlformats.org/drawingml/2006/main">
              <a:ext uri="{FF2B5EF4-FFF2-40B4-BE49-F238E27FC236}">
                <a16:creationId xmlns:a16="http://schemas.microsoft.com/office/drawing/2014/main" id="{2D889CB9-A629-49F0-A1F7-A0629566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812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1.5 Защита ПДн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и доступ</a:t>
            </a:r>
          </a:p>
        </p:txBody>
      </p:sp>
      <p:sp>
        <p:nvSpPr>
          <p:cNvPr id="78" name="Прямоугольник 77">
            <a:extLst xmlns:a="http://schemas.openxmlformats.org/drawingml/2006/main">
              <a:ext uri="{FF2B5EF4-FFF2-40B4-BE49-F238E27FC236}">
                <a16:creationId xmlns:a16="http://schemas.microsoft.com/office/drawing/2014/main" id="{CEAB9F0C-2E23-480F-8629-4E3388CB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13,4% · срок 7 дн.</a:t>
            </a:r>
          </a:p>
        </p:txBody>
      </p:sp>
      <p:sp>
        <p:nvSpPr>
          <p:cNvPr id="79" name="Скругленный прямоугольник 78">
            <a:extLst xmlns:a="http://schemas.openxmlformats.org/drawingml/2006/main">
              <a:ext uri="{FF2B5EF4-FFF2-40B4-BE49-F238E27FC236}">
                <a16:creationId xmlns:a16="http://schemas.microsoft.com/office/drawing/2014/main" id="{7D1B0F8A-6116-4412-85F9-FD058729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9567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80" name="Прямоугольник 79">
            <a:extLst xmlns:a="http://schemas.openxmlformats.org/drawingml/2006/main">
              <a:ext uri="{FF2B5EF4-FFF2-40B4-BE49-F238E27FC236}">
                <a16:creationId xmlns:a16="http://schemas.microsoft.com/office/drawing/2014/main" id="{C84A2650-BEB9-468A-99C5-96D773E5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814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1.5.1 Ролевая модель доступа</a:t>
            </a:r>
          </a:p>
        </p:txBody>
      </p:sp>
      <p:sp>
        <p:nvSpPr>
          <p:cNvPr id="81" name="Прямоугольник 80">
            <a:extLst xmlns:a="http://schemas.openxmlformats.org/drawingml/2006/main">
              <a:ext uri="{FF2B5EF4-FFF2-40B4-BE49-F238E27FC236}">
                <a16:creationId xmlns:a16="http://schemas.microsoft.com/office/drawing/2014/main" id="{CBFDA906-BF4A-46B7-8920-E5C53AFD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243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82" name="Скругленный прямоугольник 81">
            <a:extLst xmlns:a="http://schemas.openxmlformats.org/drawingml/2006/main">
              <a:ext uri="{FF2B5EF4-FFF2-40B4-BE49-F238E27FC236}">
                <a16:creationId xmlns:a16="http://schemas.microsoft.com/office/drawing/2014/main" id="{A2796B49-113B-4FDA-80DE-D5719466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0055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83" name="Прямоугольник 82">
            <a:extLst xmlns:a="http://schemas.openxmlformats.org/drawingml/2006/main">
              <a:ext uri="{FF2B5EF4-FFF2-40B4-BE49-F238E27FC236}">
                <a16:creationId xmlns:a16="http://schemas.microsoft.com/office/drawing/2014/main" id="{B3E68C3F-C09E-4ED3-AABC-FC756542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8627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1.5.2 Журнал доступа</a:t>
            </a:r>
          </a:p>
        </p:txBody>
      </p:sp>
      <p:sp>
        <p:nvSpPr>
          <p:cNvPr id="84" name="Прямоугольник 83">
            <a:extLst xmlns:a="http://schemas.openxmlformats.org/drawingml/2006/main">
              <a:ext uri="{FF2B5EF4-FFF2-40B4-BE49-F238E27FC236}">
                <a16:creationId xmlns:a16="http://schemas.microsoft.com/office/drawing/2014/main" id="{24C16DE9-1E13-45A3-B0DD-1BF72415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292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3 чел.-дн. · Backend</a:t>
            </a:r>
          </a:p>
        </p:txBody>
      </p:sp>
      <p:sp>
        <p:nvSpPr>
          <p:cNvPr id="85" name="Скругленный прямоугольник 84">
            <a:extLst xmlns:a="http://schemas.openxmlformats.org/drawingml/2006/main">
              <a:ext uri="{FF2B5EF4-FFF2-40B4-BE49-F238E27FC236}">
                <a16:creationId xmlns:a16="http://schemas.microsoft.com/office/drawing/2014/main" id="{01889101-E1BE-4B8C-BAC2-FA9A770B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0542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86" name="Прямоугольник 85">
            <a:extLst xmlns:a="http://schemas.openxmlformats.org/drawingml/2006/main">
              <a:ext uri="{FF2B5EF4-FFF2-40B4-BE49-F238E27FC236}">
                <a16:creationId xmlns:a16="http://schemas.microsoft.com/office/drawing/2014/main" id="{000B63B2-3C81-4C4F-8511-9D954953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911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1.5.3 Шифрование и резервные копии</a:t>
            </a:r>
          </a:p>
        </p:txBody>
      </p:sp>
      <p:sp>
        <p:nvSpPr>
          <p:cNvPr id="87" name="Прямоугольник 86">
            <a:extLst xmlns:a="http://schemas.openxmlformats.org/drawingml/2006/main">
              <a:ext uri="{FF2B5EF4-FFF2-40B4-BE49-F238E27FC236}">
                <a16:creationId xmlns:a16="http://schemas.microsoft.com/office/drawing/2014/main" id="{4029CA92-3222-495D-98F9-140E349C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93407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3 чел.-дн. · ИТ + BE</a:t>
            </a:r>
          </a:p>
        </p:txBody>
      </p:sp>
      <p:sp>
        <p:nvSpPr>
          <p:cNvPr id="88" name="Скругленный прямоугольник 87">
            <a:extLst xmlns:a="http://schemas.openxmlformats.org/drawingml/2006/main">
              <a:ext uri="{FF2B5EF4-FFF2-40B4-BE49-F238E27FC236}">
                <a16:creationId xmlns:a16="http://schemas.microsoft.com/office/drawing/2014/main" id="{A9F1C0E7-2B9A-49B6-8835-0C69DAA6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21030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89" name="Прямоугольник 88">
            <a:extLst xmlns:a="http://schemas.openxmlformats.org/drawingml/2006/main">
              <a:ext uri="{FF2B5EF4-FFF2-40B4-BE49-F238E27FC236}">
                <a16:creationId xmlns:a16="http://schemas.microsoft.com/office/drawing/2014/main" id="{15C4CA19-B259-4541-B980-837B7127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29602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1.5.4 Проверка требований ПДн</a:t>
            </a:r>
          </a:p>
        </p:txBody>
      </p:sp>
      <p:sp>
        <p:nvSpPr>
          <p:cNvPr id="90" name="Прямоугольник 89">
            <a:extLst xmlns:a="http://schemas.openxmlformats.org/drawingml/2006/main">
              <a:ext uri="{FF2B5EF4-FFF2-40B4-BE49-F238E27FC236}">
                <a16:creationId xmlns:a16="http://schemas.microsoft.com/office/drawing/2014/main" id="{F39F7165-2403-4032-80CE-1F5DBE1F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6838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3 чел.-дн. · БА + ИТ</a:t>
            </a:r>
          </a:p>
        </p:txBody>
      </p:sp>
      <p:sp>
        <p:nvSpPr>
          <p:cNvPr id="91" name="Прямая соединительная линия 90">
            <a:extLst xmlns:a="http://schemas.openxmlformats.org/drawingml/2006/main">
              <a:ext uri="{FF2B5EF4-FFF2-40B4-BE49-F238E27FC236}">
                <a16:creationId xmlns:a16="http://schemas.microsoft.com/office/drawing/2014/main" id="{89DC2410-47E7-438B-9ED1-BBFCC155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114550"/>
            <a:ext cx="0" cy="1333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5ADBB"/>
            </a:solidFill>
          </a:ln>
        </p:spPr>
      </p:sp>
      <p:sp>
        <p:nvSpPr>
          <p:cNvPr id="92" name="Скругленный прямоугольник 91">
            <a:extLst xmlns:a="http://schemas.openxmlformats.org/drawingml/2006/main">
              <a:ext uri="{FF2B5EF4-FFF2-40B4-BE49-F238E27FC236}">
                <a16:creationId xmlns:a16="http://schemas.microsoft.com/office/drawing/2014/main" id="{6EF8F11A-6F2D-4A72-875D-C0997D02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47900"/>
            <a:ext cx="19812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2E7F4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93" name="Прямоугольник 92">
            <a:extLst xmlns:a="http://schemas.openxmlformats.org/drawingml/2006/main">
              <a:ext uri="{FF2B5EF4-FFF2-40B4-BE49-F238E27FC236}">
                <a16:creationId xmlns:a16="http://schemas.microsoft.com/office/drawing/2014/main" id="{74FDDE5E-47D5-4641-BF91-FBE630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3812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1.6 Развертывание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и обучение</a:t>
            </a:r>
          </a:p>
        </p:txBody>
      </p:sp>
      <p:sp>
        <p:nvSpPr>
          <p:cNvPr id="94" name="Прямоугольник 93">
            <a:extLst xmlns:a="http://schemas.openxmlformats.org/drawingml/2006/main">
              <a:ext uri="{FF2B5EF4-FFF2-40B4-BE49-F238E27FC236}">
                <a16:creationId xmlns:a16="http://schemas.microsoft.com/office/drawing/2014/main" id="{8363DF11-D5D4-4FED-8905-1E4FEEB7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0861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12,4% · срок 6 дн.</a:t>
            </a:r>
          </a:p>
        </p:txBody>
      </p:sp>
      <p:sp>
        <p:nvSpPr>
          <p:cNvPr id="95" name="Скругленный прямоугольник 94">
            <a:extLst xmlns:a="http://schemas.openxmlformats.org/drawingml/2006/main">
              <a:ext uri="{FF2B5EF4-FFF2-40B4-BE49-F238E27FC236}">
                <a16:creationId xmlns:a16="http://schemas.microsoft.com/office/drawing/2014/main" id="{A0BCE839-C082-4373-8E0E-66A5F2C9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9567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96" name="Прямоугольник 95">
            <a:extLst xmlns:a="http://schemas.openxmlformats.org/drawingml/2006/main">
              <a:ext uri="{FF2B5EF4-FFF2-40B4-BE49-F238E27FC236}">
                <a16:creationId xmlns:a16="http://schemas.microsoft.com/office/drawing/2014/main" id="{8B90285C-5609-4F4B-8A70-7A26BE01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5814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1.6.1 Развертывание в отделении</a:t>
            </a:r>
          </a:p>
        </p:txBody>
      </p:sp>
      <p:sp>
        <p:nvSpPr>
          <p:cNvPr id="97" name="Прямоугольник 96">
            <a:extLst xmlns:a="http://schemas.openxmlformats.org/drawingml/2006/main">
              <a:ext uri="{FF2B5EF4-FFF2-40B4-BE49-F238E27FC236}">
                <a16:creationId xmlns:a16="http://schemas.microsoft.com/office/drawing/2014/main" id="{E1A154AD-B5AF-431C-AF10-8B0987EA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1243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3 чел.-дн. · ИТ</a:t>
            </a:r>
          </a:p>
        </p:txBody>
      </p:sp>
      <p:sp>
        <p:nvSpPr>
          <p:cNvPr id="98" name="Скругленный прямоугольник 97">
            <a:extLst xmlns:a="http://schemas.openxmlformats.org/drawingml/2006/main">
              <a:ext uri="{FF2B5EF4-FFF2-40B4-BE49-F238E27FC236}">
                <a16:creationId xmlns:a16="http://schemas.microsoft.com/office/drawing/2014/main" id="{D409B1AC-6B9C-4873-A6EC-AA19F28D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40055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99" name="Прямоугольник 98">
            <a:extLst xmlns:a="http://schemas.openxmlformats.org/drawingml/2006/main">
              <a:ext uri="{FF2B5EF4-FFF2-40B4-BE49-F238E27FC236}">
                <a16:creationId xmlns:a16="http://schemas.microsoft.com/office/drawing/2014/main" id="{0512FB1F-F2D4-4531-9DD9-6D6FF659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48627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1.6.2 Инструкция и памятки</a:t>
            </a:r>
          </a:p>
        </p:txBody>
      </p:sp>
      <p:sp>
        <p:nvSpPr>
          <p:cNvPr id="100" name="Прямоугольник 99">
            <a:extLst xmlns:a="http://schemas.openxmlformats.org/drawingml/2006/main">
              <a:ext uri="{FF2B5EF4-FFF2-40B4-BE49-F238E27FC236}">
                <a16:creationId xmlns:a16="http://schemas.microsoft.com/office/drawing/2014/main" id="{7974A611-A4D4-4E9C-9593-7083ABF4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292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2 чел.-дн. · БА</a:t>
            </a:r>
          </a:p>
        </p:txBody>
      </p:sp>
      <p:sp>
        <p:nvSpPr>
          <p:cNvPr id="101" name="Скругленный прямоугольник 100">
            <a:extLst xmlns:a="http://schemas.openxmlformats.org/drawingml/2006/main">
              <a:ext uri="{FF2B5EF4-FFF2-40B4-BE49-F238E27FC236}">
                <a16:creationId xmlns:a16="http://schemas.microsoft.com/office/drawing/2014/main" id="{4DF67EEC-C1AA-4410-B766-AC5F24F9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30542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02" name="Прямоугольник 101">
            <a:extLst xmlns:a="http://schemas.openxmlformats.org/drawingml/2006/main">
              <a:ext uri="{FF2B5EF4-FFF2-40B4-BE49-F238E27FC236}">
                <a16:creationId xmlns:a16="http://schemas.microsoft.com/office/drawing/2014/main" id="{3EB500A3-D6FB-4C55-83B6-56A780B5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3911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1.6.3 Очные тренинги медсестер</a:t>
            </a:r>
          </a:p>
        </p:txBody>
      </p:sp>
      <p:sp>
        <p:nvSpPr>
          <p:cNvPr id="103" name="Прямоугольник 102">
            <a:extLst xmlns:a="http://schemas.openxmlformats.org/drawingml/2006/main">
              <a:ext uri="{FF2B5EF4-FFF2-40B4-BE49-F238E27FC236}">
                <a16:creationId xmlns:a16="http://schemas.microsoft.com/office/drawing/2014/main" id="{D63AE496-279B-42E4-B281-F11F94C7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93407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6 чел.-дн. · Команда</a:t>
            </a:r>
          </a:p>
        </p:txBody>
      </p:sp>
      <p:sp>
        <p:nvSpPr>
          <p:cNvPr id="104" name="Скругленный прямоугольник 103">
            <a:extLst xmlns:a="http://schemas.openxmlformats.org/drawingml/2006/main">
              <a:ext uri="{FF2B5EF4-FFF2-40B4-BE49-F238E27FC236}">
                <a16:creationId xmlns:a16="http://schemas.microsoft.com/office/drawing/2014/main" id="{D38BBC23-0EE0-4AEE-973D-58CA82C7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1030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05" name="Прямоугольник 104">
            <a:extLst xmlns:a="http://schemas.openxmlformats.org/drawingml/2006/main">
              <a:ext uri="{FF2B5EF4-FFF2-40B4-BE49-F238E27FC236}">
                <a16:creationId xmlns:a16="http://schemas.microsoft.com/office/drawing/2014/main" id="{C9305831-C390-405E-815F-ACCAA839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9602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1.6.4 Проверка навыков</a:t>
            </a:r>
          </a:p>
        </p:txBody>
      </p:sp>
      <p:sp>
        <p:nvSpPr>
          <p:cNvPr id="106" name="Прямоугольник 105">
            <a:extLst xmlns:a="http://schemas.openxmlformats.org/drawingml/2006/main">
              <a:ext uri="{FF2B5EF4-FFF2-40B4-BE49-F238E27FC236}">
                <a16:creationId xmlns:a16="http://schemas.microsoft.com/office/drawing/2014/main" id="{0647F78A-0C01-4639-9B20-663A0B38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838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1 чел.-дн. · БА</a:t>
            </a:r>
          </a:p>
        </p:txBody>
      </p:sp>
      <p:sp>
        <p:nvSpPr>
          <p:cNvPr id="107" name="Прямая соединительная линия 106">
            <a:extLst xmlns:a="http://schemas.openxmlformats.org/drawingml/2006/main">
              <a:ext uri="{FF2B5EF4-FFF2-40B4-BE49-F238E27FC236}">
                <a16:creationId xmlns:a16="http://schemas.microsoft.com/office/drawing/2014/main" id="{7709413D-432D-4747-9624-276C7660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114550"/>
            <a:ext cx="0" cy="1333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A5ADBB"/>
            </a:solidFill>
          </a:ln>
        </p:spPr>
      </p:sp>
      <p:sp>
        <p:nvSpPr>
          <p:cNvPr id="108" name="Скругленный прямоугольник 107">
            <a:extLst xmlns:a="http://schemas.openxmlformats.org/drawingml/2006/main">
              <a:ext uri="{FF2B5EF4-FFF2-40B4-BE49-F238E27FC236}">
                <a16:creationId xmlns:a16="http://schemas.microsoft.com/office/drawing/2014/main" id="{A1F005F5-56EF-4A4F-B03D-64F5B005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247900"/>
            <a:ext cx="19812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2E7F4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09" name="Прямоугольник 108">
            <a:extLst xmlns:a="http://schemas.openxmlformats.org/drawingml/2006/main">
              <a:ext uri="{FF2B5EF4-FFF2-40B4-BE49-F238E27FC236}">
                <a16:creationId xmlns:a16="http://schemas.microsoft.com/office/drawing/2014/main" id="{C79D7A33-E0BE-4319-BC1B-5DD66264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23812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1.7 Опытная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эксплуатация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и приемка</a:t>
            </a:r>
          </a:p>
        </p:txBody>
      </p:sp>
      <p:sp>
        <p:nvSpPr>
          <p:cNvPr id="110" name="Прямоугольник 109">
            <a:extLst xmlns:a="http://schemas.openxmlformats.org/drawingml/2006/main">
              <a:ext uri="{FF2B5EF4-FFF2-40B4-BE49-F238E27FC236}">
                <a16:creationId xmlns:a16="http://schemas.microsoft.com/office/drawing/2014/main" id="{F8134CB7-5AA6-4BF3-A3F2-39306F0A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0861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8,2% · срок 10 дн.</a:t>
            </a:r>
          </a:p>
        </p:txBody>
      </p:sp>
      <p:sp>
        <p:nvSpPr>
          <p:cNvPr id="111" name="Скругленный прямоугольник 110">
            <a:extLst xmlns:a="http://schemas.openxmlformats.org/drawingml/2006/main">
              <a:ext uri="{FF2B5EF4-FFF2-40B4-BE49-F238E27FC236}">
                <a16:creationId xmlns:a16="http://schemas.microsoft.com/office/drawing/2014/main" id="{587C5C79-4CBD-495B-A1C2-7A373FB5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49567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12" name="Прямоугольник 111">
            <a:extLst xmlns:a="http://schemas.openxmlformats.org/drawingml/2006/main">
              <a:ext uri="{FF2B5EF4-FFF2-40B4-BE49-F238E27FC236}">
                <a16:creationId xmlns:a16="http://schemas.microsoft.com/office/drawing/2014/main" id="{4DB8E6D9-2283-4C62-AF31-5EED8B5A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358140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1.7.1 Сопровождение первых двух недель</a:t>
            </a:r>
          </a:p>
        </p:txBody>
      </p:sp>
      <p:sp>
        <p:nvSpPr>
          <p:cNvPr id="113" name="Прямоугольник 112">
            <a:extLst xmlns:a="http://schemas.openxmlformats.org/drawingml/2006/main">
              <a:ext uri="{FF2B5EF4-FFF2-40B4-BE49-F238E27FC236}">
                <a16:creationId xmlns:a16="http://schemas.microsoft.com/office/drawing/2014/main" id="{783AE2C1-E6AC-45C2-ADAB-C4216557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41243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3 чел.-дн. · Разработка</a:t>
            </a:r>
          </a:p>
        </p:txBody>
      </p:sp>
      <p:sp>
        <p:nvSpPr>
          <p:cNvPr id="114" name="Скругленный прямоугольник 113">
            <a:extLst xmlns:a="http://schemas.openxmlformats.org/drawingml/2006/main">
              <a:ext uri="{FF2B5EF4-FFF2-40B4-BE49-F238E27FC236}">
                <a16:creationId xmlns:a16="http://schemas.microsoft.com/office/drawing/2014/main" id="{2ECCCFBC-EAE3-44FC-B30C-1C7E386A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40055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15" name="Прямоугольник 114">
            <a:extLst xmlns:a="http://schemas.openxmlformats.org/drawingml/2006/main">
              <a:ext uri="{FF2B5EF4-FFF2-40B4-BE49-F238E27FC236}">
                <a16:creationId xmlns:a16="http://schemas.microsoft.com/office/drawing/2014/main" id="{8DC7823B-2FAD-43F7-9492-952FF267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48627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1.7.2 Контрольный замер</a:t>
            </a:r>
          </a:p>
        </p:txBody>
      </p:sp>
      <p:sp>
        <p:nvSpPr>
          <p:cNvPr id="116" name="Прямоугольник 115">
            <a:extLst xmlns:a="http://schemas.openxmlformats.org/drawingml/2006/main">
              <a:ext uri="{FF2B5EF4-FFF2-40B4-BE49-F238E27FC236}">
                <a16:creationId xmlns:a16="http://schemas.microsoft.com/office/drawing/2014/main" id="{8C8984E3-054D-469A-A626-51D49985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50292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2 чел.-дн. · БА</a:t>
            </a:r>
          </a:p>
        </p:txBody>
      </p:sp>
      <p:sp>
        <p:nvSpPr>
          <p:cNvPr id="117" name="Скругленный прямоугольник 116">
            <a:extLst xmlns:a="http://schemas.openxmlformats.org/drawingml/2006/main">
              <a:ext uri="{FF2B5EF4-FFF2-40B4-BE49-F238E27FC236}">
                <a16:creationId xmlns:a16="http://schemas.microsoft.com/office/drawing/2014/main" id="{CAB0DA0A-1621-480D-B9EF-152BAFE3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305425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18" name="Прямоугольник 117">
            <a:extLst xmlns:a="http://schemas.openxmlformats.org/drawingml/2006/main">
              <a:ext uri="{FF2B5EF4-FFF2-40B4-BE49-F238E27FC236}">
                <a16:creationId xmlns:a16="http://schemas.microsoft.com/office/drawing/2014/main" id="{BBA38707-11E1-4E17-8B5E-7FAA2C2A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53911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1.7.3 Итоговый отчет и рекомендации</a:t>
            </a:r>
          </a:p>
        </p:txBody>
      </p:sp>
      <p:sp>
        <p:nvSpPr>
          <p:cNvPr id="119" name="Прямоугольник 118">
            <a:extLst xmlns:a="http://schemas.openxmlformats.org/drawingml/2006/main">
              <a:ext uri="{FF2B5EF4-FFF2-40B4-BE49-F238E27FC236}">
                <a16:creationId xmlns:a16="http://schemas.microsoft.com/office/drawing/2014/main" id="{21A1ECD4-9053-4638-B584-C478D770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593407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2 чел.-дн. · PM</a:t>
            </a:r>
          </a:p>
        </p:txBody>
      </p:sp>
      <p:sp>
        <p:nvSpPr>
          <p:cNvPr id="120" name="Скругленный прямоугольник 119">
            <a:extLst xmlns:a="http://schemas.openxmlformats.org/drawingml/2006/main">
              <a:ext uri="{FF2B5EF4-FFF2-40B4-BE49-F238E27FC236}">
                <a16:creationId xmlns:a16="http://schemas.microsoft.com/office/drawing/2014/main" id="{A7EA7297-FE7A-4C8A-BCE7-0AC38FAA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6210300"/>
            <a:ext cx="1981200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21" name="Прямоугольник 120">
            <a:extLst xmlns:a="http://schemas.openxmlformats.org/drawingml/2006/main">
              <a:ext uri="{FF2B5EF4-FFF2-40B4-BE49-F238E27FC236}">
                <a16:creationId xmlns:a16="http://schemas.microsoft.com/office/drawing/2014/main" id="{79831E49-287F-4EB5-A628-94F4084E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6296025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13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1.7.4 Приемочная встреча</a:t>
            </a:r>
          </a:p>
        </p:txBody>
      </p:sp>
      <p:sp>
        <p:nvSpPr>
          <p:cNvPr id="122" name="Прямоугольник 121">
            <a:extLst xmlns:a="http://schemas.openxmlformats.org/drawingml/2006/main">
              <a:ext uri="{FF2B5EF4-FFF2-40B4-BE49-F238E27FC236}">
                <a16:creationId xmlns:a16="http://schemas.microsoft.com/office/drawing/2014/main" id="{E17EC1AB-7A20-4E32-969E-DA525804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6838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1 чел.-дн. · PM</a:t>
            </a:r>
          </a:p>
        </p:txBody>
      </p:sp>
      <p:sp>
        <p:nvSpPr>
          <p:cNvPr id="123" name="Прямоугольник 122">
            <a:extLst xmlns:a="http://schemas.openxmlformats.org/drawingml/2006/main">
              <a:ext uri="{FF2B5EF4-FFF2-40B4-BE49-F238E27FC236}">
                <a16:creationId xmlns:a16="http://schemas.microsoft.com/office/drawing/2014/main" id="{5BA00580-0708-4BCC-AA00-7B42C79A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4009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Доли рассчитаны от 97 чел.-дней работ. Резерв 3 чел.-дня учитывается отдельно.</a:t>
            </a:r>
          </a:p>
        </p:txBody>
      </p:sp>
      <p:sp>
        <p:nvSpPr>
          <p:cNvPr id="124" name="Прямоугольник 123">
            <a:extLst xmlns:a="http://schemas.openxmlformats.org/drawingml/2006/main">
              <a:ext uri="{FF2B5EF4-FFF2-40B4-BE49-F238E27FC236}">
                <a16:creationId xmlns:a16="http://schemas.microsoft.com/office/drawing/2014/main" id="{0B648018-2999-407F-AE2C-024C3F95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6962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Сроки эпиков — исходный сетевой план. Оценки пакетов — трудозатраты.</a:t>
            </a:r>
          </a:p>
        </p:txBody>
      </p:sp>
      <p:sp>
        <p:nvSpPr>
          <p:cNvPr id="125" name="Прямоугольник 124">
            <a:extLst xmlns:a="http://schemas.openxmlformats.org/drawingml/2006/main">
              <a:ext uri="{FF2B5EF4-FFF2-40B4-BE49-F238E27FC236}">
                <a16:creationId xmlns:a16="http://schemas.microsoft.com/office/drawing/2014/main" id="{DC2C259B-7DD5-46E1-B822-B81FE49A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9914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ID сохранены: 1.2.5 «Печать и выгрузка выписки» относится к фазе 2.</a:t>
            </a:r>
          </a:p>
        </p:txBody>
      </p:sp>
    </p:spTree>
    <p:extLst>
      <p:ext uri="{BB962C8B-B14F-4D97-AF65-F5344CB8AC3E}">
        <p14:creationId xmlns:p14="http://schemas.microsoft.com/office/powerpoint/2010/main" val="16176934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5BCA030A-829C-4CF1-A482-78D45725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Уточнение оценок</a:t>
            </a:r>
          </a:p>
        </p:txBody>
      </p:sp>
      <p:graphicFrame>
        <p:nvGraphicFramePr>
          <p:cNvPr id="10" name="Таблица 9"/>
          <p:cNvGraphicFramePr/>
          <p:nvPr/>
        </p:nvGraphicFramePr>
        <p:xfrm>
          <a:off xmlns:a="http://schemas.openxmlformats.org/drawingml/2006/main" x="571500" y="1095375"/>
          <a:ext xmlns:a="http://schemas.openxmlformats.org/drawingml/2006/main" cx="14097000" cy="472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1524000"/>
                <a:gridCol w="1524000"/>
                <a:gridCol w="6572250"/>
              </a:tblGrid>
              <a:tr h="944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Было, дн.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Стало, дн.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Причина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B  Карта пациента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Часть компонентов можно использовать повторно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  Защита ПДн и доступ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Используются готовые механизмы больничной инфраструктуры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  Ручной ввод анализов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Недооценили работу со сканами и валидацией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C  Расписание приема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Потребовалась дополнительная настройка фильтров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EA6028B-1A69-47DC-8AFC-17C759E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0"/>
            <a:ext cx="1352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Выбор работ для уточнения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45728083-AE63-4466-ABE6-9F646D7A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00875"/>
            <a:ext cx="1352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B и E — критические. D — почти критическая, исходный резерв 1 день.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C — вторая некритическая работа, но ее резерв 11 дней: близкой к критической она не является.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В этой сети только одна почти критическая работа, поэтому C включена для проверки чувствительности.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18601914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0C6056ED-4A8F-4344-A02C-AB7766C7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Пересчет сроков</a:t>
            </a:r>
          </a:p>
        </p:txBody>
      </p:sp>
      <p:graphicFrame>
        <p:nvGraphicFramePr>
          <p:cNvPr id="14" name="Таблица 13"/>
          <p:cNvGraphicFramePr/>
          <p:nvPr/>
        </p:nvGraphicFramePr>
        <p:xfrm>
          <a:off xmlns:a="http://schemas.openxmlformats.org/drawingml/2006/main" x="571500" y="1095375"/>
          <a:ext xmlns:a="http://schemas.openxmlformats.org/drawingml/2006/main" cx="14097000" cy="48101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809750"/>
                <a:gridCol w="1809750"/>
                <a:gridCol w="1809750"/>
                <a:gridCol w="1809750"/>
                <a:gridCol w="1809750"/>
                <a:gridCol w="1809750"/>
              </a:tblGrid>
              <a:tr h="601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Dur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LF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E2E7F4"/>
                    </a:solidFill>
                  </a:tcPr>
                </a:tc>
              </a:tr>
              <a:tr h="601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601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601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1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601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1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  <a:tr h="6012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ED3DA"/>
                      </a:solidFill>
                    </a:lnL>
                    <a:lnR w="9525">
                      <a:solidFill>
                        <a:srgbClr val="CED3DA"/>
                      </a:solidFill>
                    </a:lnR>
                    <a:lnT w="9525">
                      <a:solidFill>
                        <a:srgbClr val="CED3DA"/>
                      </a:solidFill>
                    </a:lnT>
                    <a:lnB w="9525">
                      <a:solidFill>
                        <a:srgbClr val="CED3DA"/>
                      </a:solidFill>
                    </a:lnB>
                    <a:solidFill>
                      <a:srgbClr val="F7DCE6"/>
                    </a:solidFill>
                  </a:tcPr>
                </a:tc>
              </a:tr>
            </a:tbl>
          </a:graphicData>
        </a:graphic>
      </p:graphicFrame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FD497A80-BDD8-4082-80EC-B252CE1E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281739"/>
            <a:ext cx="666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B84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84F7B"/>
                </a:solidFill>
                <a:latin typeface="Arial"/>
                <a:ea typeface="Arial"/>
                <a:cs typeface="Arial"/>
              </a:rPr>
              <a:t>Новый критический путь</a:t>
            </a:r>
            <a:r>
              <a:rPr sz="2175" b="1">
                <a:solidFill>
                  <a:srgbClr val="B84F7B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1">
                <a:solidFill>
                  <a:srgbClr val="B84F7B"/>
                </a:solidFill>
                <a:latin typeface="Arial"/>
                <a:ea typeface="Arial"/>
                <a:cs typeface="Arial"/>
              </a:rPr>
              <a:t>A → B → D → F → G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98D6B6EB-6631-4D1E-8FDB-B1360811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767514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B84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4F7B"/>
                </a:solidFill>
                <a:latin typeface="Arial"/>
                <a:ea typeface="Arial"/>
                <a:cs typeface="Arial"/>
              </a:rPr>
              <a:t>5 + 9 + 8 + 6 + 10 = 38 дней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7E27E3D6-C56C-4477-852A-0D140EC0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24750"/>
            <a:ext cx="1366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Критическая ветка сместилась с E на D. Срок проекта остался 38 рабочих дней.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E28B9AAD-69F6-47BB-B98C-41416DD9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15275"/>
            <a:ext cx="1366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7379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37980"/>
                </a:solidFill>
                <a:latin typeface="Arial"/>
                <a:ea typeface="Arial"/>
                <a:cs typeface="Arial"/>
              </a:rPr>
              <a:t>Резерв E теперь 2 дня, C — 10 дней. Полужирным выделены изменившиеся значения.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10995337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D5A003E-7E33-4CD4-B583-73F8CE3E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409700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04FB90FB-4DFE-42AF-A40B-050D97E2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14097000" cy="1685925"/>
          </a:xfrm>
          <a:prstGeom xmlns:a="http://schemas.openxmlformats.org/drawingml/2006/main" prst="roundRect">
            <a:avLst>
              <a:gd name="adj" fmla="val 5650"/>
            </a:avLst>
          </a:prstGeom>
          <a:solidFill xmlns:a="http://schemas.openxmlformats.org/drawingml/2006/main">
            <a:srgbClr val="DCEFF9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5" name="Скругленный 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4F630D0F-D5DB-4ED4-B8A5-294E9E7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140970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D10788BF-85A3-4321-978E-269558C7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Итерации и переделки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3B169ED9-62BA-48E3-8740-27C60E1C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1352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«Классический PM плохо учитывает итерации и переделки»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88C92489-E497-4A00-9BF0-CBA8C01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1363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Значение для пилота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46978046-9221-423F-875A-0FBD55D9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13639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Врачи и медсестры проверяют формы в работе. После обратной связи могут потребоваться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изменения шаблонов, фильтров и проверки результатов анализов.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5C471101-3B89-4223-8A1E-8E286944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1363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Результат уточнения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E3C7DC55-D1A6-496F-9626-90B6F46C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363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Сокращение B и E на один день не сократило срок проекта: работа D выросла с 6 до 8 дней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и стала критической. Даже при том же сроке 38 дней приоритет контроля изменился.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817C2161-C6A4-40A4-AB9D-C366DEA5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62800"/>
            <a:ext cx="1357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Управление изменениями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B8668A23-E3E0-4940-AC7D-FC1F2C66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81900"/>
            <a:ext cx="1357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После демонстраций оценки и критический путь уточняются. Изменения фиксируются и проходят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повторную проверку. Их влияние на срок и резерв согласуется со спонсором.</a:t>
            </a:r>
          </a:p>
        </p:txBody>
      </p:sp>
    </p:spTree>
    <p:extLst>
      <p:ext uri="{BB962C8B-B14F-4D97-AF65-F5344CB8AC3E}">
        <p14:creationId xmlns:p14="http://schemas.microsoft.com/office/powerpoint/2010/main" val="2950572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83549-5438-41A7-A4C5-646E85F4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Контрольная точка EVM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BB4A7-6433-4D50-AB16-D28C959D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409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Учебные данные семинара 8 для пилота «МедКарта»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868AE-0EAA-4309-B4EB-A421C599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09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54F66-5D68-4D98-A3A0-07BCA5A1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B5A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B5A14"/>
                </a:solidFill>
                <a:latin typeface="Arial"/>
                <a:ea typeface="Arial"/>
                <a:cs typeface="Arial"/>
              </a:rPr>
              <a:t>Новое вводное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62C5-E687-462E-9E34-52822053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347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Заведующий отделением затянул согласование обучения медсестёр. Пилот отстаёт, а дополнительные консультации увеличили расходы.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2476500"/>
          <a:ext xmlns:a="http://schemas.openxmlformats.org/drawingml/2006/main" cx="140970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524250"/>
                <a:gridCol w="3524250"/>
                <a:gridCol w="3524250"/>
              </a:tblGrid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BAC · бюджет</a:t>
                      </a:r>
                    </a:p>
                  </a:txBody>
                  <a:tcPr marL="91440" marR="91440" marT="45720" marB="45720">
                    <a:solidFill>
                      <a:srgbClr val="233E6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PV · плановый объём</a:t>
                      </a:r>
                    </a:p>
                  </a:txBody>
                  <a:tcPr marL="91440" marR="91440" marT="45720" marB="45720">
                    <a:solidFill>
                      <a:srgbClr val="233E6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 · освоенный объём</a:t>
                      </a:r>
                    </a:p>
                  </a:txBody>
                  <a:tcPr marL="91440" marR="91440" marT="45720" marB="45720">
                    <a:solidFill>
                      <a:srgbClr val="233E6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 · фактические затраты</a:t>
                      </a:r>
                    </a:p>
                  </a:txBody>
                  <a:tcPr marL="91440" marR="91440" marT="45720" marB="45720">
                    <a:solidFill>
                      <a:srgbClr val="233E67"/>
                    </a:solidFill>
                  </a:tcPr>
                </a:tc>
              </a:tr>
              <a:tr h="990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22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250 000 ₽</a:t>
                      </a:r>
                    </a:p>
                  </a:txBody>
                  <a:tcPr marL="91440" marR="91440" marT="45720" marB="45720">
                    <a:solidFill>
                      <a:srgbClr val="DCEF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22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150 000 ₽</a:t>
                      </a:r>
                    </a:p>
                  </a:txBody>
                  <a:tcPr marL="91440" marR="91440" marT="45720" marB="45720">
                    <a:solidFill>
                      <a:srgbClr val="DCEF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22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120 000 ₽</a:t>
                      </a:r>
                    </a:p>
                  </a:txBody>
                  <a:tcPr marL="91440" marR="91440" marT="45720" marB="45720">
                    <a:solidFill>
                      <a:srgbClr val="DCEF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22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140 000 ₽</a:t>
                      </a:r>
                    </a:p>
                  </a:txBody>
                  <a:tcPr marL="91440" marR="91440" marT="45720" marB="45720">
                    <a:solidFill>
                      <a:srgbClr val="DCEFF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CED5C-54E5-4F62-91EF-4EC2AF1C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Что видно уже по исходным данным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3D440-0208-443C-BA2C-CAFFF00E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6762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07C4B-A347-4249-85C1-4D121EB7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03B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03B46"/>
                </a:solidFill>
                <a:latin typeface="Arial"/>
                <a:ea typeface="Arial"/>
                <a:cs typeface="Arial"/>
              </a:rPr>
              <a:t>Отставание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128BE-9B8A-41D7-8E88-AF7CCAFF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EV ниже PV на 30 000 ₽. Выполнено 80% планового объёма.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FE16D-B8F5-492A-9E51-1CCE17D4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6762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D7A01-3175-4CD5-9441-13FA63E3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103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84B7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84B7E"/>
                </a:solidFill>
                <a:latin typeface="Arial"/>
                <a:ea typeface="Arial"/>
                <a:cs typeface="Arial"/>
              </a:rPr>
              <a:t>Перерасход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757E6-C452-4233-8FD3-5FD1B681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62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9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AC выше EV на 20 000 ₽. На каждый 1 ₽ затрат создано 0,86 ₽ плановой ценности.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C6BB0-6D39-4DFB-A05F-748D2A1F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Как построен прогноз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05387-1A55-45EC-B234-D64160A9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6858000" cy="2352675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E8F1DE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416E5-46D4-43F8-9BFF-E92F94E7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16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1633D"/>
                </a:solidFill>
                <a:latin typeface="Arial"/>
                <a:ea typeface="Arial"/>
                <a:cs typeface="Arial"/>
              </a:rPr>
              <a:t>EAC = BAC / CPI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44106-221F-4600-A832-D20816EA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Предполагаем, что текущая эффективность затрат сохранится до завершения проекта.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55EBD-39E9-4642-8C5B-A74E34A5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484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16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1633D"/>
                </a:solidFill>
                <a:latin typeface="Arial"/>
                <a:ea typeface="Arial"/>
                <a:cs typeface="Arial"/>
              </a:rPr>
              <a:t>TCPI = (BAC − EV) / (BAC − AC)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E57A4-4478-41C6-95E3-79062819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57975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Показывает, насколько эффективно нужно выполнить остаток работ, чтобы уложиться в исходные 250 000 ₽.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11ADA-00C4-4D12-81C8-5377B9EF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29550"/>
            <a:ext cx="1409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Важно: SV выражен в рублях плановой стоимости, а не в календарных днях.</a:t>
            </a:r>
          </a:p>
        </p:txBody>
      </p:sp>
    </p:spTree>
    <p:extLst>
      <p:ext uri="{BB962C8B-B14F-4D97-AF65-F5344CB8AC3E}">
        <p14:creationId xmlns:p14="http://schemas.microsoft.com/office/powerpoint/2010/main" val="9579005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EF067-FBFD-4006-9EA3-3646C3F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Расчёт EVM: отставание и перерасход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87EB2-0C80-4812-86D3-4075182D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409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Все восемь показателей рассчитаны для исходного BAC 250 000 ₽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4097000" cy="5676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048000"/>
                <a:gridCol w="2381250"/>
                <a:gridCol w="695325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233E6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Формула</a:t>
                      </a:r>
                    </a:p>
                  </a:txBody>
                  <a:tcPr marL="91440" marR="91440" marT="45720" marB="45720">
                    <a:solidFill>
                      <a:srgbClr val="233E6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233E6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Интерпретация</a:t>
                      </a:r>
                    </a:p>
                  </a:txBody>
                  <a:tcPr marL="91440" marR="91440" marT="45720" marB="45720">
                    <a:solidFill>
                      <a:srgbClr val="233E67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CV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EV − AC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A03B46"/>
                          </a:solidFill>
                          <a:latin typeface="Arial"/>
                          <a:ea typeface="Arial"/>
                          <a:cs typeface="Arial"/>
                        </a:rPr>
                        <a:t>−20 000 ₽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Перерасход на контрольную дату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SV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EV − PV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A03B46"/>
                          </a:solidFill>
                          <a:latin typeface="Arial"/>
                          <a:ea typeface="Arial"/>
                          <a:cs typeface="Arial"/>
                        </a:rPr>
                        <a:t>−30 000 ₽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 меньше плана; показатель выражен в ₽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91440" marR="91440" marT="45720" marB="45720">
                    <a:solidFill>
                      <a:srgbClr val="DCEF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EV / AC</a:t>
                      </a:r>
                    </a:p>
                  </a:txBody>
                  <a:tcPr marL="91440" marR="91440" marT="45720" marB="45720">
                    <a:solidFill>
                      <a:srgbClr val="DCEF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0,86</a:t>
                      </a:r>
                    </a:p>
                  </a:txBody>
                  <a:tcPr marL="91440" marR="91440" marT="45720" marB="45720">
                    <a:solidFill>
                      <a:srgbClr val="DCEF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86 коп. плановой ценности на 1 ₽ затрат</a:t>
                      </a:r>
                    </a:p>
                  </a:txBody>
                  <a:tcPr marL="91440" marR="91440" marT="45720" marB="45720">
                    <a:solidFill>
                      <a:srgbClr val="DCEFF9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SPI</a:t>
                      </a:r>
                    </a:p>
                  </a:txBody>
                  <a:tcPr marL="91440" marR="91440" marT="45720" marB="45720">
                    <a:solidFill>
                      <a:srgbClr val="DCEF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EV / PV</a:t>
                      </a:r>
                    </a:p>
                  </a:txBody>
                  <a:tcPr marL="91440" marR="91440" marT="45720" marB="45720">
                    <a:solidFill>
                      <a:srgbClr val="DCEF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0,80</a:t>
                      </a:r>
                    </a:p>
                  </a:txBody>
                  <a:tcPr marL="91440" marR="91440" marT="45720" marB="45720">
                    <a:solidFill>
                      <a:srgbClr val="DCEFF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 80% планового объёма</a:t>
                      </a:r>
                    </a:p>
                  </a:txBody>
                  <a:tcPr marL="91440" marR="91440" marT="45720" marB="45720">
                    <a:solidFill>
                      <a:srgbClr val="DCEFF9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EAC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BAC / CPI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291 667 ₽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Прогноз итоговой стоимости при сохранении CPI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VAC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BAC − EAC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A03B46"/>
                          </a:solidFill>
                          <a:latin typeface="Arial"/>
                          <a:ea typeface="Arial"/>
                          <a:cs typeface="Arial"/>
                        </a:rPr>
                        <a:t>−41 667 ₽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Прогнозный перерасход относительно BAC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ETC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EAC − AC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151 667 ₽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Ожидаемые затраты до завершения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TCPI</a:t>
                      </a:r>
                    </a:p>
                  </a:txBody>
                  <a:tcPr marL="91440" marR="91440" marT="45720" marB="45720">
                    <a:solidFill>
                      <a:srgbClr val="FFF2C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(BAC − EV) / (BAC − AC)</a:t>
                      </a:r>
                    </a:p>
                  </a:txBody>
                  <a:tcPr marL="91440" marR="91440" marT="45720" marB="45720">
                    <a:solidFill>
                      <a:srgbClr val="FFF2C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1,18</a:t>
                      </a:r>
                    </a:p>
                  </a:txBody>
                  <a:tcPr marL="91440" marR="91440" marT="45720" marB="45720">
                    <a:solidFill>
                      <a:srgbClr val="FFF2C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Остаток работ требует эффективности на 18% выше плана</a:t>
                      </a:r>
                    </a:p>
                  </a:txBody>
                  <a:tcPr marL="91440" marR="91440" marT="45720" marB="45720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F74B3-B5D5-4754-AD02-2447127F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1409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7DCE6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FF6FD-75FA-490B-9F61-F36EE36A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24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03B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03B46"/>
                </a:solidFill>
                <a:latin typeface="Arial"/>
                <a:ea typeface="Arial"/>
                <a:cs typeface="Arial"/>
              </a:rPr>
              <a:t>Диагноз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D5FBD-A1EE-46AF-8F43-0505833D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86650"/>
            <a:ext cx="1195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«Двойной красный»: проект отстаёт по объёму работ и расходует больше, чем создаёт плановой ценности. Без изменений прогноз превышает бюджет на 41 667 ₽.</a:t>
            </a:r>
          </a:p>
        </p:txBody>
      </p:sp>
    </p:spTree>
    <p:extLst>
      <p:ext uri="{BB962C8B-B14F-4D97-AF65-F5344CB8AC3E}">
        <p14:creationId xmlns:p14="http://schemas.microsoft.com/office/powerpoint/2010/main" val="3287221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C6CBF-0014-47C6-8784-BCAE1B92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Управленческое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96284-D450-4B22-A11A-700BA6A4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409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Как вернуть пилот под контроль, не снижая требования к безопасности и приёмке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75E42-8E57-473C-AE45-A6E59252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09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95E5F-BE80-4BF6-8340-02E282AD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525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5A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B5A14"/>
                </a:solidFill>
                <a:latin typeface="Arial"/>
                <a:ea typeface="Arial"/>
                <a:cs typeface="Arial"/>
              </a:rPr>
              <a:t>Причина отклонений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4C398-9AF6-4A7E-AACD-3B968559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Задержка согласования обучения снизила EV относительно плана, а дополнительные консультации увеличили AC. Это напрямую объясняет отрицательные SV и CV.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A66BD-9F11-49A9-B16E-906688E8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Рекомендуемые действия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394D5-17EF-4D63-A47A-6CF002B4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0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DCEFF9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F8129-85E7-4824-AE13-14FCE276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5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E5D7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EC05C-BDCA-4113-AD6E-FFE8CDE8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Зафиксировать решение по обучению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7E4AF-072D-44AA-8F95-248DFC3A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24275"/>
            <a:ext cx="5286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Назначить одного согласующего, его заместителя и дату обучения. Убрать повторные согласования программы.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759C3-3839-44B7-8AD2-9847F346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5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E5D7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A600B-29F5-4DD5-9FD1-A5E3F40C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Оформить изменение базового плана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EB78C-EC6A-4F46-900E-232CE29C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14900"/>
            <a:ext cx="5286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Вынести спонсору прогноз EAC 291 667 ₽: увеличить BAC примерно на 41 667 ₽ либо согласовать сокращение только некритичного объёма.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0D57C-CACC-41AF-948A-99206B91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5D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E5D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C5F72-2F82-4B6A-B524-BAADDEE0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29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Контролировать восстановление еженедельно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35815-38B0-4A70-92C3-88C0C5E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219825"/>
            <a:ext cx="528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6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52A"/>
                </a:solidFill>
                <a:latin typeface="Arial"/>
                <a:ea typeface="Arial"/>
                <a:cs typeface="Arial"/>
              </a:rPr>
              <a:t>Повторять PV, EV и AC по правилу 0/50/100. Не ускорять пилот за счёт защиты данных, тестирования или критерия обучения 90%.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F32BAC-34FF-4B1F-A63E-E20C0489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Риски решения и меры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7620000" y="3048000"/>
          <a:ext xmlns:a="http://schemas.openxmlformats.org/drawingml/2006/main" cx="7048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333875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233E6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нивелировать</a:t>
                      </a:r>
                    </a:p>
                  </a:txBody>
                  <a:tcPr marL="91440" marR="91440" marT="45720" marB="45720">
                    <a:solidFill>
                      <a:srgbClr val="233E67"/>
                    </a:solidFill>
                  </a:tcPr>
                </a:tc>
              </a:tr>
              <a:tr h="809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Согласование снова сдвигается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Срок ответа, заместитель согласующего и календарь обучения, утверждённый спонсором</a:t>
                      </a:r>
                    </a:p>
                  </a:txBody>
                  <a:tcPr marL="91440" marR="91440" marT="45720" marB="45720">
                    <a:solidFill>
                      <a:srgbClr val="F7DCE6"/>
                    </a:solidFill>
                  </a:tcPr>
                </a:tc>
              </a:tr>
              <a:tr h="809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Ускорение ухудшит подготовку персонала</a:t>
                      </a:r>
                    </a:p>
                  </a:txBody>
                  <a:tcPr marL="91440" marR="91440" marT="45720" marB="45720">
                    <a:solidFill>
                      <a:srgbClr val="FFF2C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3 дня тренингов и порог приёмки: не менее 90% медсестёр сдали зачёт</a:t>
                      </a:r>
                    </a:p>
                  </a:txBody>
                  <a:tcPr marL="91440" marR="91440" marT="45720" marB="45720">
                    <a:solidFill>
                      <a:srgbClr val="FFF2CC"/>
                    </a:solidFill>
                  </a:tcPr>
                </a:tc>
              </a:tr>
              <a:tr h="809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Консультации продолжат увеличивать AC</a:t>
                      </a:r>
                    </a:p>
                  </a:txBody>
                  <a:tcPr marL="91440" marR="91440" marT="45720" marB="45720">
                    <a:solidFill>
                      <a:srgbClr val="EEE8F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Ограничить часы, согласовать фиксированный пакет и оформлять превышения через запрос на изменение</a:t>
                      </a:r>
                    </a:p>
                  </a:txBody>
                  <a:tcPr marL="91440" marR="91440" marT="45720" marB="45720">
                    <a:solidFill>
                      <a:srgbClr val="EEE8F8"/>
                    </a:solidFill>
                  </a:tcPr>
                </a:tc>
              </a:tr>
              <a:tr h="809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TCPI 1,18 окажется недостижимым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22252A"/>
                          </a:solidFill>
                          <a:latin typeface="Arial"/>
                          <a:ea typeface="Arial"/>
                          <a:cs typeface="Arial"/>
                        </a:rPr>
                        <a:t>Не требовать скрытого сокращения объёма; пересмотреть BAC или срок решением спонсора</a:t>
                      </a:r>
                    </a:p>
                  </a:txBody>
                  <a:tcPr marL="91440" marR="91440" marT="45720" marB="45720">
                    <a:solidFill>
                      <a:srgbClr val="E8F1DE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42395-E379-4EED-BA11-7A81333B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62800"/>
            <a:ext cx="14097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8F1DE"/>
          </a:solidFill>
          <a:ln xmlns:a="http://schemas.openxmlformats.org/drawingml/2006/main" w="9525">
            <a:solidFill>
              <a:srgbClr val="CED3D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E35D6-8815-4B78-9657-0F3B997B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62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163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1633D"/>
                </a:solidFill>
                <a:latin typeface="Arial"/>
                <a:ea typeface="Arial"/>
                <a:cs typeface="Arial"/>
              </a:rPr>
              <a:t>Контроль через неделю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25A8A7-8A6A-406E-93A1-F07C19C9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2961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5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2252A"/>
                </a:solidFill>
                <a:latin typeface="Arial"/>
                <a:ea typeface="Arial"/>
                <a:cs typeface="Arial"/>
              </a:rPr>
              <a:t>Если CPI или SPI остаются ниже 0,90, спонсор утверждает новый бюджет или срок. План нельзя считать восстановленным только за счёт переноса работ или снижения объёма без согласования.</a:t>
            </a:r>
          </a:p>
        </p:txBody>
      </p:sp>
    </p:spTree>
    <p:extLst>
      <p:ext uri="{BB962C8B-B14F-4D97-AF65-F5344CB8AC3E}">
        <p14:creationId xmlns:p14="http://schemas.microsoft.com/office/powerpoint/2010/main" val="1221336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2026-09-22T11:19:22.6430000Z</dcterms:created>
  <dcterms:modified xsi:type="dcterms:W3CDTF">2026-09-22T11:19:22.6440000Z</dcterms:modified>
</coreProperties>
</file>