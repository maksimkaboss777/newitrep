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4ac4c410194d02" /><Relationship Type="http://schemas.openxmlformats.org/officeDocument/2006/relationships/extended-properties" Target="/docProps/app.xml" Id="Rf45114f422fa4a84" /><Relationship Type="http://schemas.openxmlformats.org/officeDocument/2006/relationships/officeDocument" Target="/ppt/presentation.xml" Id="R0800e439a53e48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2c1e23c6d4df7"/>
  </p:sldMasterIdLst>
  <p:notesMasterIdLst>
    <p:notesMasterId xmlns:r="http://schemas.openxmlformats.org/officeDocument/2006/relationships" r:id="R02af307dc4324891"/>
  </p:notesMasterIdLst>
  <p:sldIdLst>
    <p:sldId xmlns:r="http://schemas.openxmlformats.org/officeDocument/2006/relationships" id="256" r:id="Rffff81d4931c4449"/>
    <p:sldId xmlns:r="http://schemas.openxmlformats.org/officeDocument/2006/relationships" id="257" r:id="R1e9aeca16e934b07"/>
    <p:sldId xmlns:r="http://schemas.openxmlformats.org/officeDocument/2006/relationships" id="258" r:id="Ref4f886e331d4b4d"/>
    <p:sldId xmlns:r="http://schemas.openxmlformats.org/officeDocument/2006/relationships" id="259" r:id="R1b6d576796244814"/>
    <p:sldId xmlns:r="http://schemas.openxmlformats.org/officeDocument/2006/relationships" id="260" r:id="R03029a589801427a"/>
    <p:sldId xmlns:r="http://schemas.openxmlformats.org/officeDocument/2006/relationships" id="261" r:id="R729291a050bd4bd0"/>
    <p:sldId xmlns:r="http://schemas.openxmlformats.org/officeDocument/2006/relationships" id="262" r:id="R88835176aa854bd9"/>
    <p:sldId xmlns:r="http://schemas.openxmlformats.org/officeDocument/2006/relationships" id="263" r:id="R4443da6752ae44e9"/>
    <p:sldId xmlns:r="http://schemas.openxmlformats.org/officeDocument/2006/relationships" id="264" r:id="R3adf50a5d58c4e3c"/>
    <p:sldId xmlns:r="http://schemas.openxmlformats.org/officeDocument/2006/relationships" id="265" r:id="R7c6acb8b87fb4467"/>
    <p:sldId xmlns:r="http://schemas.openxmlformats.org/officeDocument/2006/relationships" id="266" r:id="R222ab7a6e32a4d8c"/>
    <p:sldId xmlns:r="http://schemas.openxmlformats.org/officeDocument/2006/relationships" id="267" r:id="R1f5a5d8e5db14877"/>
    <p:sldId xmlns:r="http://schemas.openxmlformats.org/officeDocument/2006/relationships" id="268" r:id="Rca14824d1af14dc8"/>
    <p:sldId xmlns:r="http://schemas.openxmlformats.org/officeDocument/2006/relationships" id="269" r:id="R3595fc83c2b24d9a"/>
    <p:sldId xmlns:r="http://schemas.openxmlformats.org/officeDocument/2006/relationships" id="270" r:id="R44cff02970eb49a0"/>
    <p:sldId xmlns:r="http://schemas.openxmlformats.org/officeDocument/2006/relationships" id="271" r:id="R1c3a4ea61a5546ab"/>
    <p:sldId xmlns:r="http://schemas.openxmlformats.org/officeDocument/2006/relationships" id="272" r:id="R3c28c8f64c114306"/>
    <p:sldId xmlns:r="http://schemas.openxmlformats.org/officeDocument/2006/relationships" id="273" r:id="R3d13a5037bc141f2"/>
    <p:sldId xmlns:r="http://schemas.openxmlformats.org/officeDocument/2006/relationships" id="274" r:id="R50f170a274144ea2"/>
    <p:sldId xmlns:r="http://schemas.openxmlformats.org/officeDocument/2006/relationships" id="275" r:id="Rbd452ecab665428a"/>
    <p:sldId xmlns:r="http://schemas.openxmlformats.org/officeDocument/2006/relationships" id="276" r:id="R1a349df575ff4199"/>
    <p:sldId xmlns:r="http://schemas.openxmlformats.org/officeDocument/2006/relationships" id="277" r:id="R11b1a1a7e6b14917"/>
    <p:sldId xmlns:r="http://schemas.openxmlformats.org/officeDocument/2006/relationships" id="278" r:id="Rd559d02ca9b242bd"/>
    <p:sldId xmlns:r="http://schemas.openxmlformats.org/officeDocument/2006/relationships" id="279" r:id="R1817d80601e14a9e"/>
    <p:sldId xmlns:r="http://schemas.openxmlformats.org/officeDocument/2006/relationships" id="280" r:id="Raa2f490aba42490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cf1f30a9184c32" /><Relationship Type="http://schemas.openxmlformats.org/officeDocument/2006/relationships/slideMaster" Target="/ppt/slideMasters/slideMaster1.xml" Id="Ra852c1e23c6d4df7" /><Relationship Type="http://schemas.openxmlformats.org/officeDocument/2006/relationships/notesMaster" Target="/ppt/notesMasters/notesMaster1.xml" Id="R02af307dc4324891" /><Relationship Type="http://schemas.openxmlformats.org/officeDocument/2006/relationships/presProps" Target="/ppt/presProps.xml" Id="Re0038296b9a14eb5" /><Relationship Type="http://schemas.openxmlformats.org/officeDocument/2006/relationships/tableStyles" Target="/ppt/tableStyles.xml" Id="Rc561b9c802fc4ae8" /><Relationship Type="http://schemas.openxmlformats.org/officeDocument/2006/relationships/slide" Target="/ppt/slides/slide1.xml" Id="Rffff81d4931c4449" /><Relationship Type="http://schemas.openxmlformats.org/officeDocument/2006/relationships/slide" Target="/ppt/slides/slide2.xml" Id="R1e9aeca16e934b07" /><Relationship Type="http://schemas.openxmlformats.org/officeDocument/2006/relationships/slide" Target="/ppt/slides/slide3.xml" Id="Ref4f886e331d4b4d" /><Relationship Type="http://schemas.openxmlformats.org/officeDocument/2006/relationships/slide" Target="/ppt/slides/slide4.xml" Id="R1b6d576796244814" /><Relationship Type="http://schemas.openxmlformats.org/officeDocument/2006/relationships/slide" Target="/ppt/slides/slide5.xml" Id="R03029a589801427a" /><Relationship Type="http://schemas.openxmlformats.org/officeDocument/2006/relationships/slide" Target="/ppt/slides/slide6.xml" Id="R729291a050bd4bd0" /><Relationship Type="http://schemas.openxmlformats.org/officeDocument/2006/relationships/slide" Target="/ppt/slides/slide7.xml" Id="R88835176aa854bd9" /><Relationship Type="http://schemas.openxmlformats.org/officeDocument/2006/relationships/slide" Target="/ppt/slides/slide8.xml" Id="R4443da6752ae44e9" /><Relationship Type="http://schemas.openxmlformats.org/officeDocument/2006/relationships/slide" Target="/ppt/slides/slide9.xml" Id="R3adf50a5d58c4e3c" /><Relationship Type="http://schemas.openxmlformats.org/officeDocument/2006/relationships/slide" Target="/ppt/slides/slide10.xml" Id="R7c6acb8b87fb4467" /><Relationship Type="http://schemas.openxmlformats.org/officeDocument/2006/relationships/slide" Target="/ppt/slides/slide11.xml" Id="R222ab7a6e32a4d8c" /><Relationship Type="http://schemas.openxmlformats.org/officeDocument/2006/relationships/slide" Target="/ppt/slides/slide12.xml" Id="R1f5a5d8e5db14877" /><Relationship Type="http://schemas.openxmlformats.org/officeDocument/2006/relationships/slide" Target="/ppt/slides/slide13.xml" Id="Rca14824d1af14dc8" /><Relationship Type="http://schemas.openxmlformats.org/officeDocument/2006/relationships/slide" Target="/ppt/slides/slide14.xml" Id="R3595fc83c2b24d9a" /><Relationship Type="http://schemas.openxmlformats.org/officeDocument/2006/relationships/slide" Target="/ppt/slides/slide15.xml" Id="R44cff02970eb49a0" /><Relationship Type="http://schemas.openxmlformats.org/officeDocument/2006/relationships/slide" Target="/ppt/slides/slide16.xml" Id="R1c3a4ea61a5546ab" /><Relationship Type="http://schemas.openxmlformats.org/officeDocument/2006/relationships/slide" Target="/ppt/slides/slide17.xml" Id="R3c28c8f64c114306" /><Relationship Type="http://schemas.openxmlformats.org/officeDocument/2006/relationships/slide" Target="/ppt/slides/slide18.xml" Id="R3d13a5037bc141f2" /><Relationship Type="http://schemas.openxmlformats.org/officeDocument/2006/relationships/slide" Target="/ppt/slides/slide19.xml" Id="R50f170a274144ea2" /><Relationship Type="http://schemas.openxmlformats.org/officeDocument/2006/relationships/slide" Target="/ppt/slides/slide20.xml" Id="Rbd452ecab665428a" /><Relationship Type="http://schemas.openxmlformats.org/officeDocument/2006/relationships/slide" Target="/ppt/slides/slide21.xml" Id="R1a349df575ff4199" /><Relationship Type="http://schemas.openxmlformats.org/officeDocument/2006/relationships/slide" Target="/ppt/slides/slide22.xml" Id="R11b1a1a7e6b14917" /><Relationship Type="http://schemas.openxmlformats.org/officeDocument/2006/relationships/slide" Target="/ppt/slides/slide23.xml" Id="Rd559d02ca9b242bd" /><Relationship Type="http://schemas.openxmlformats.org/officeDocument/2006/relationships/slide" Target="/ppt/slides/slide24.xml" Id="R1817d80601e14a9e" /><Relationship Type="http://schemas.openxmlformats.org/officeDocument/2006/relationships/slide" Target="/ppt/slides/slide25.xml" Id="Raa2f490aba4249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7c1a59326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9ff90c7bc41c7" /><Relationship Type="http://schemas.openxmlformats.org/officeDocument/2006/relationships/notesMaster" Target="/ppt/notesMasters/notesMaster1.xml" Id="Rb61ba1256b494e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d6537180c144f2" /><Relationship Type="http://schemas.openxmlformats.org/officeDocument/2006/relationships/notesMaster" Target="/ppt/notesMasters/notesMaster1.xml" Id="R86127b5eaea24f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9e623f71cf4e98" /><Relationship Type="http://schemas.openxmlformats.org/officeDocument/2006/relationships/notesMaster" Target="/ppt/notesMasters/notesMaster1.xml" Id="Rc7009234558f47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366321f9047a6" /><Relationship Type="http://schemas.openxmlformats.org/officeDocument/2006/relationships/notesMaster" Target="/ppt/notesMasters/notesMaster1.xml" Id="Rac156c35452f41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b5e17f6af74356" /><Relationship Type="http://schemas.openxmlformats.org/officeDocument/2006/relationships/notesMaster" Target="/ppt/notesMasters/notesMaster1.xml" Id="R7d47b72566b249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960ab8e97496b" /><Relationship Type="http://schemas.openxmlformats.org/officeDocument/2006/relationships/notesMaster" Target="/ppt/notesMasters/notesMaster1.xml" Id="Rcb851bfbaa4844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8d228e10e44cc6" /><Relationship Type="http://schemas.openxmlformats.org/officeDocument/2006/relationships/notesMaster" Target="/ppt/notesMasters/notesMaster1.xml" Id="R80968a91a07244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f45c3df8f64ae8" /><Relationship Type="http://schemas.openxmlformats.org/officeDocument/2006/relationships/notesMaster" Target="/ppt/notesMasters/notesMaster1.xml" Id="R8cea0f8941824c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9b13f04e564d8c" /><Relationship Type="http://schemas.openxmlformats.org/officeDocument/2006/relationships/notesMaster" Target="/ppt/notesMasters/notesMaster1.xml" Id="Rca1b8016b4af49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77da65972f44fa" /><Relationship Type="http://schemas.openxmlformats.org/officeDocument/2006/relationships/notesMaster" Target="/ppt/notesMasters/notesMaster1.xml" Id="R86c81e21a91749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f62c3bd8c641b9" /><Relationship Type="http://schemas.openxmlformats.org/officeDocument/2006/relationships/notesMaster" Target="/ppt/notesMasters/notesMaster1.xml" Id="R8b33f12163034f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6024134ff64e66" /><Relationship Type="http://schemas.openxmlformats.org/officeDocument/2006/relationships/notesMaster" Target="/ppt/notesMasters/notesMaster1.xml" Id="R339bcf034a4e49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c62a2acb244bac" /><Relationship Type="http://schemas.openxmlformats.org/officeDocument/2006/relationships/notesMaster" Target="/ppt/notesMasters/notesMaster1.xml" Id="R46ce5b2ea7554d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e7d8118b174575" /><Relationship Type="http://schemas.openxmlformats.org/officeDocument/2006/relationships/notesMaster" Target="/ppt/notesMasters/notesMaster1.xml" Id="R8ef9d161ff9a4d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a18fc9c2cd4520" /><Relationship Type="http://schemas.openxmlformats.org/officeDocument/2006/relationships/notesMaster" Target="/ppt/notesMasters/notesMaster1.xml" Id="Rd2975976c9c844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3be7f7e8224f52" /><Relationship Type="http://schemas.openxmlformats.org/officeDocument/2006/relationships/notesMaster" Target="/ppt/notesMasters/notesMaster1.xml" Id="R251ed8793bb643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b2a53a9ec3479d" /><Relationship Type="http://schemas.openxmlformats.org/officeDocument/2006/relationships/notesMaster" Target="/ppt/notesMasters/notesMaster1.xml" Id="R144c147124be44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6e3a595cd94b91" /><Relationship Type="http://schemas.openxmlformats.org/officeDocument/2006/relationships/notesMaster" Target="/ppt/notesMasters/notesMaster1.xml" Id="R1797f7dbbe9647d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5eada3ecb04e1e" /><Relationship Type="http://schemas.openxmlformats.org/officeDocument/2006/relationships/notesMaster" Target="/ppt/notesMasters/notesMaster1.xml" Id="Rbe2161f349474e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5aa4c6e85ef42e6" /><Relationship Type="http://schemas.openxmlformats.org/officeDocument/2006/relationships/notesMaster" Target="/ppt/notesMasters/notesMaster1.xml" Id="Rd59614e9e2f940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11fe7970b94485" /><Relationship Type="http://schemas.openxmlformats.org/officeDocument/2006/relationships/notesMaster" Target="/ppt/notesMasters/notesMaster1.xml" Id="Rcef8c853372e48b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56a09c81ac4560" /><Relationship Type="http://schemas.openxmlformats.org/officeDocument/2006/relationships/notesMaster" Target="/ppt/notesMasters/notesMaster1.xml" Id="R5881c5febaa8409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247f919842b4db4" /><Relationship Type="http://schemas.openxmlformats.org/officeDocument/2006/relationships/notesMaster" Target="/ppt/notesMasters/notesMaster1.xml" Id="Rb52ffcdc5c0d4cf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abdf78e5324ac6" /><Relationship Type="http://schemas.openxmlformats.org/officeDocument/2006/relationships/notesMaster" Target="/ppt/notesMasters/notesMaster1.xml" Id="R807a1a6ebf884aa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c4b73aadfc4659" /><Relationship Type="http://schemas.openxmlformats.org/officeDocument/2006/relationships/notesMaster" Target="/ppt/notesMasters/notesMaster1.xml" Id="R54d1af3b5d7e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иллюстративное изображение создано с помощью OpenAI Image Generation. Изображение не содержит реальных пациентов или медицинских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перенесено из исходного слайда «Методология». Формулировки сокращены без изменения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сохранено из исходной 3D-диагностики. Итоговая оценка: 7/9.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семинар 8, задание команды 3. BAC 250 000 ₽, PV 150 000 ₽, EV 120 000 ₽, AC 140 000 ₽. Диаграмма показывает значения на контрольную дату, не динамику во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Индексы округлены до двух знаков, денежные значения до целого рубля. EAC = BAC / CPI. TCPI рассчитан для исходного BAC.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Порог 0,90 взят из материалов семинара 8. Сокращение требований безопасности и критериев приёмки не предлагается.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04198af4740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9c3f2465254023" /><Relationship Type="http://schemas.openxmlformats.org/officeDocument/2006/relationships/slideLayout" Target="/ppt/slideLayouts/slideLayout1.xml" Id="Rc5ab863d4f8d43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ab863d4f8d43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e6aeaf56a486f" /><Relationship Type="http://schemas.openxmlformats.org/officeDocument/2006/relationships/image" Target="/ppt/media/image.png" Id="R4ab1ca15ee2545c8" /><Relationship Type="http://schemas.openxmlformats.org/officeDocument/2006/relationships/notesSlide" Target="/ppt/notesSlides/notesSlide1.xml" Id="Ra9fabe02ed474e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53ddd2a90491c" /><Relationship Type="http://schemas.openxmlformats.org/officeDocument/2006/relationships/notesSlide" Target="/ppt/notesSlides/notesSlide2.xml" Id="R650e08387a8d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298d87fbe419d" /><Relationship Type="http://schemas.openxmlformats.org/officeDocument/2006/relationships/notesSlide" Target="/ppt/notesSlides/notesSlide3.xml" Id="Rc4608c58ca22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8603428b940ec" /><Relationship Type="http://schemas.openxmlformats.org/officeDocument/2006/relationships/notesSlide" Target="/ppt/notesSlides/notesSlide4.xml" Id="R55377198cc5641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91912dcaf4105" /><Relationship Type="http://schemas.openxmlformats.org/officeDocument/2006/relationships/notesSlide" Target="/ppt/notesSlides/notesSlide5.xml" Id="Rda785aeaa029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35f73c316454f" /><Relationship Type="http://schemas.openxmlformats.org/officeDocument/2006/relationships/notesSlide" Target="/ppt/notesSlides/notesSlide6.xml" Id="R57819b7d43a541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cacc5a8f44d16" /><Relationship Type="http://schemas.openxmlformats.org/officeDocument/2006/relationships/notesSlide" Target="/ppt/notesSlides/notesSlide7.xml" Id="R55d531339aee42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58db0b808499d" /><Relationship Type="http://schemas.openxmlformats.org/officeDocument/2006/relationships/notesSlide" Target="/ppt/notesSlides/notesSlide8.xml" Id="R5ed3b67dea5840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88bf0374d4af2" /><Relationship Type="http://schemas.openxmlformats.org/officeDocument/2006/relationships/notesSlide" Target="/ppt/notesSlides/notesSlide9.xml" Id="Re205bcfe5ab342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e3d7c90704fc5" /><Relationship Type="http://schemas.openxmlformats.org/officeDocument/2006/relationships/notesSlide" Target="/ppt/notesSlides/notesSlide10.xml" Id="Rc36a98913f534e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e8b13ae9a4dd2" /><Relationship Type="http://schemas.openxmlformats.org/officeDocument/2006/relationships/notesSlide" Target="/ppt/notesSlides/notesSlide11.xml" Id="R92eaa292447a41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2fa3c11e04795" /><Relationship Type="http://schemas.openxmlformats.org/officeDocument/2006/relationships/notesSlide" Target="/ppt/notesSlides/notesSlide12.xml" Id="R4ebf381f695d4a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4f8dfa1354cec" /><Relationship Type="http://schemas.openxmlformats.org/officeDocument/2006/relationships/notesSlide" Target="/ppt/notesSlides/notesSlide13.xml" Id="R19c674dc12a04fc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dc2928a03488f" /><Relationship Type="http://schemas.openxmlformats.org/officeDocument/2006/relationships/notesSlide" Target="/ppt/notesSlides/notesSlide14.xml" Id="Ra6bdec1a23ac40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3c2e44a124c04" /><Relationship Type="http://schemas.openxmlformats.org/officeDocument/2006/relationships/notesSlide" Target="/ppt/notesSlides/notesSlide15.xml" Id="R98c16e64080a48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ef86e46884ae1" /><Relationship Type="http://schemas.openxmlformats.org/officeDocument/2006/relationships/notesSlide" Target="/ppt/notesSlides/notesSlide16.xml" Id="R638e475362fd43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74934e8304bae" /><Relationship Type="http://schemas.openxmlformats.org/officeDocument/2006/relationships/notesSlide" Target="/ppt/notesSlides/notesSlide17.xml" Id="R690ca61c62a941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5cf44dc474920" /><Relationship Type="http://schemas.openxmlformats.org/officeDocument/2006/relationships/notesSlide" Target="/ppt/notesSlides/notesSlide18.xml" Id="R04c671b1364245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d18ccd944daf" /><Relationship Type="http://schemas.openxmlformats.org/officeDocument/2006/relationships/notesSlide" Target="/ppt/notesSlides/notesSlide19.xml" Id="R5e900151c1cd40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5ab3567be4edb" /><Relationship Type="http://schemas.openxmlformats.org/officeDocument/2006/relationships/notesSlide" Target="/ppt/notesSlides/notesSlide20.xml" Id="Rd66c17989f9a463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5840f8d02436c" /><Relationship Type="http://schemas.openxmlformats.org/officeDocument/2006/relationships/notesSlide" Target="/ppt/notesSlides/notesSlide21.xml" Id="R2ca18f8280e944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f9feef2204889" /><Relationship Type="http://schemas.openxmlformats.org/officeDocument/2006/relationships/notesSlide" Target="/ppt/notesSlides/notesSlide22.xml" Id="R9414a61a6dc343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a66f6d70a4eee" /><Relationship Type="http://schemas.openxmlformats.org/officeDocument/2006/relationships/chart" Target="/ppt/slides/charts/chart1.xml" Id="R6d714dfd707441bf" /><Relationship Type="http://schemas.openxmlformats.org/officeDocument/2006/relationships/notesSlide" Target="/ppt/notesSlides/notesSlide23.xml" Id="R82753f06923143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8c2b1931d4511" /><Relationship Type="http://schemas.openxmlformats.org/officeDocument/2006/relationships/notesSlide" Target="/ppt/notesSlides/notesSlide24.xml" Id="R7cbdac7bad2b488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9e20479c147af" /><Relationship Type="http://schemas.openxmlformats.org/officeDocument/2006/relationships/notesSlide" Target="/ppt/notesSlides/notesSlide25.xml" Id="Rdf136e97783849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Стоимость на контрольную дату, тыс. ₽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 b="1">
              <a:solidFill>
                <a:srgbClr val="18242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тыс. ₽</c:v>
          </c:tx>
          <c:spPr>
            <a:solidFill xmlns:a="http://schemas.openxmlformats.org/drawingml/2006/main">
              <a:srgbClr val="197A7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7354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97A7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84E5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PV  план</c:v>
                </c:pt>
                <c:pt idx="1">
                  <c:v>EV  выполнено</c:v>
                </c:pt>
                <c:pt idx="2">
                  <c:v>AC  затраты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242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E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7F9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4F7F9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1ca15ee2545c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7874-A8D8-44FC-A051-48E32D18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29375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91C28-FF4E-4E72-BF0A-7EC43BD4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AE0A5-44C3-42BB-AABF-33D30BD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28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МедКарта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E3BF6-5573-4EA2-B8C7-B0071251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23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2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медицинской информационной системы</a:t>
            </a:r>
          </a:p>
          <a:p xmlns:a="http://schemas.openxmlformats.org/drawingml/2006/main">
            <a:pPr algn="l">
              <a:defRPr sz="21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отделении кардиологии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8A9C1-C003-44E5-A131-97475284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Планирование, сроки, риски и контроль стоимости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E3A98-A953-4C16-8659-19A4726F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Алимова Анастасия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Базанов Максим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Гусельникова Кристина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Долотин Артур</a:t>
            </a:r>
          </a:p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Суворов Максим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31D61-B4C2-4DD6-9A3F-C628BD14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Проектная презентация</a:t>
            </a:r>
          </a:p>
        </p:txBody>
      </p:sp>
    </p:spTree>
    <p:extLst>
      <p:ext uri="{BB962C8B-B14F-4D97-AF65-F5344CB8AC3E}">
        <p14:creationId xmlns:p14="http://schemas.microsoft.com/office/powerpoint/2010/main" val="368239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C259FA-FA6F-4867-8CD3-CC948B01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Почему PRINCE2 подходит пилоту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EFEBC-0C4C-4DED-B769-69A0FA1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119FA-A1E5-49F5-B127-EAC7670F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Формальный контроль нужен из-за цены ошибки, числа участников и интеграционных рисков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B1B21-2F73-4CD9-82C9-62991692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F5129-EA54-4F90-896D-609F6945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45466-8B70-4AFD-A14E-7A62DA3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84CDC-74D8-4FAA-9CF4-78DF463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Безопасность пациента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3461F-8380-4021-81D4-D2C4C05F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1D5A6-72DE-4733-A127-EF69991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Высокая цена ошибки требует формального контроля качества и приёмки по этапам.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E38C8-1CA2-4F89-8B6A-BD8D5914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E2647-33C7-4D82-A900-DAAF41E9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Много стейкхолдеров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80078-F573-4982-8E0C-FF750AD2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DABC0-3C53-4E33-A2A3-2C96EBDB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проекте участвуют врачи, администрация, ИТ, регуляторы, подрядчик и пациенты. PRINCE2 фиксирует роли и ответственность.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DFE13-95C6-458B-8821-31B07008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80FCB-EDBF-4F47-A04F-142E1EDE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526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Миграция и интеграции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3A6B1-FB0F-4C7A-982B-0E895B4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381250"/>
            <a:ext cx="385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6EF58-688D-47EE-8CF6-915EC6AE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90800"/>
            <a:ext cx="3857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Поэтапный запуск и контроль изменений снижают риск ошибок при переносе данных и подключении систем.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430676-6175-47D2-9135-0E3591C1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Три типовых причины провала ЭМК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400E4-5559-4293-8F39-D83024E2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A7EE1-A047-4C13-9F8C-E4914FE3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Нагрузка на врачей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8D44E-8D45-483F-A5F3-337EEA1B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Неудобный интерфейс и дополнительный ввод снижают принятие системы.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06FD9-08ED-46E4-A7E9-ECAC8F2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E3374-5959-41EB-9FA2-AB1E46F3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Миграция данных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97B3F-8BA0-43F5-B523-1F186ADD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Дубли, старые форматы и плохое качество данных увеличивают риск срыва запуска.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5D7F9-EF99-4103-9999-E5E5B9A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10125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8D0E2-4DA5-47BE-B113-AE1AF415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1054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Нет владельца решений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DB813-BF4D-4F97-BEA6-425AABED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19750"/>
            <a:ext cx="3943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Долгие согласования требований и приоритетов увеличивают сроки и бюджет.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BFAA1-3546-4534-9EE6-318284D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322557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21E7A8-3586-410F-AD17-D9601F92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3D-диагностика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5FE30-99A7-46DF-BBF1-50925AE5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AB0D8-9711-4896-A5C7-41AACB01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Проблемы распределены по рациональному, психосоциальному и политическому измерениям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3CA8D-92A1-4882-8A5D-583C6E56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83DD1-0F4C-4124-9BD6-FC847B81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53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95825"/>
                <a:gridCol w="4695825"/>
                <a:gridCol w="4705350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Рациональное · 3/3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Психосоциальное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Политическое · 2/3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 Сроки, бюджет и качество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Критерии удобства, безопасности и скорости согласованы частично.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4. Цель и ожидания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Администрации нужна отчётность, врачам важно сократить время ввода данных.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7. Власть и влияние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Формальный спонсор решает не всё. Заведующие и ведущие врачи влияют на решения.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2. Изменения требований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 пилоте пользователи могут менять требования к интерфейсу и функциям.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5. Скрытое сопротивление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врачей может поддерживать проект формально, но избегать использования.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8. Конкуренция интересов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Подразделения конкурируют за бюджет, сроки внедрения и приоритеты процессов.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5811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3. Неопределённость данных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Качество старых записей и трудоёмкость интеграции заранее неизвестны.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6. Критерии провала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Риски известны: ошибки миграции, перегрузка пользователей, отказ от системы.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9. Смена спонсора</a:t>
                      </a:r>
                    </a:p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Проект может замедлиться, но обязательные требования организации не дадут ему остановиться.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375D4-846E-4B25-85FF-FED1B346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81875"/>
            <a:ext cx="14097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E1327-29E6-4AEE-9E7C-544778A9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43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Итог диагностики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FFF93-4EDC-42BF-A9DA-7A93D7DF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51522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7 проблем из 9. Оценка совпадает с предварительной оценкой куратора.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7D934-D851-4285-9DD1-F640075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КОНТЕКСТ И МЕТОДОЛОГИЯ</a:t>
            </a:r>
          </a:p>
        </p:txBody>
      </p:sp>
    </p:spTree>
    <p:extLst>
      <p:ext uri="{BB962C8B-B14F-4D97-AF65-F5344CB8AC3E}">
        <p14:creationId xmlns:p14="http://schemas.microsoft.com/office/powerpoint/2010/main" val="1566319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BAD4B9-131A-45A9-B4B5-3ADD20D6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Устав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09BA3-EEDE-4AF0-A162-295A3E63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D36CE-096A-41B8-835D-C5C8D70D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Цель и границы двухмесячного пилота в кардиологии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54730-6A47-4EA4-9532-D60B6C1E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FE600-FFC4-42E5-A31B-70A8785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A87D5-C98B-4C64-88AD-F635563E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01  Наименование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FFCC8-C645-494D-859A-578C4116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Внедрение медицинской информационной системы «МедКарта» в кардиологии. Формат: пилот на 2 месяца с отдельным решением о масштабировании.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2606E-98C1-42E6-8F28-6513D82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02  Бизнес-обоснование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BA19F-3BBC-40CB-A56F-BEA5B7C5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Электронная карта должна сократить время приёма, повысить эффективность врачей и уменьшить среднюю длительность визита.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5A2A7-491E-4BAA-9F1C-F047227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03  SMART-цель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21519-75C9-448A-9E8E-CCCE1C7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90750"/>
            <a:ext cx="4333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Сократить среднее время приёма пациента в кардиологии на 20% за 2 месяца с помощью электронной карты и расписания.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B4D52-E215-4E63-9232-D7277444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409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33976-659D-4950-AB1C-0F86270B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Ограничения и допущение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B61C5-9ACB-460E-8599-38C63384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6572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B3AB6-0181-4A75-AC14-A874B723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41C32-5FFE-4B3E-AED0-F1DD7F5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196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 проводится только в кардиологии и длится 2 месяца.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C70A7-6BDB-4BAC-B909-F44F3D7B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815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893C5-C973-4F17-B689-44D69B46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CE02D-BF5E-4714-8C4D-C910056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Внешние интеграции не входят в текущую фазу.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2D8E8-FA32-4F8D-9AB8-FEE14B0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A17DB8-1C1D-402C-BEED-6630B925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0F035A-116B-4AE2-95E3-E22FF3DA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0547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обработке персональных данных обязательны.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6E406-7702-46C6-9AA4-9CCDC8AE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6742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91D0F3-7AA9-4C0B-ABDC-855CFC25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484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82636-2CAA-4677-8B4A-14A8E24F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48400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Предзаполненные поля врач подтверждает вручную.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BD34F-4A55-4FE1-BCB8-93D2676F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610350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7EB24-1289-448B-882F-44C9098D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913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CD5D05-E3F6-4D83-B430-B195BB3F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91325"/>
            <a:ext cx="540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пилота руководство отдельно решает вопрос о масштабировании.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FC6F5-237E-47D3-9594-C6B8018B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7153275"/>
            <a:ext cx="54006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5983A-16DE-47A4-B4CD-424C45CF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Границы по MoSCoW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DB02F7-2BBD-43DF-AB12-384F4F8B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6953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5D2E34-EB13-4F3E-AF72-8565AE75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AE2572-C913-4EC8-94B9-F6CF5DB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1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Карта, автозаполнение с подтверждением, расписание, ручной ввод анализов, защита ПДн, замеры, тренинги и отчёт.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29868C-0B67-47EB-82DB-4FE21CC6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SHOULD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332442-A5D4-4005-9B21-60BE569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0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Инструкции, представления расписания, валидация анализов.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2AF5A2-9415-4B32-B4ED-E5646A40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115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8A4763-1EC4-4B72-85ED-3F6B689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960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и сбор обратной связи в системе.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6B3D0B-1944-4682-BF9A-F865C00C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8008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ФАЗА 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1815B5-6E1A-4B45-B08E-E7A60FDF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7818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5C7FB9-FB80-4B61-8866-9DCCB060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951295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A94F9-97E6-4360-9A07-92ED4FC9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Управление пилотом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CB0E2-0E8F-42C2-A8E6-3A9D5335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0A924-1804-4FF0-AA15-9B61AE1D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Бюджет, вехи, участники, полномочия и приёмка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BAC2D-1333-4072-A06D-D2714C76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AC7AA-3ADD-440B-91BE-54F4D53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28815-A86E-4314-B55C-B3F1F7A6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Вехи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6989C-EA7E-4CA6-876F-7D564FC4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FA281-7DD5-44BB-92BD-9ABB7C16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C6D6C-987C-4B24-BB6F-9A12A03A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557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Настройка карты пациента и расписания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C27A7-C0C5-4AD1-919D-54DB3305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6550C-8844-4178-961C-56877B2E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Месяц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4EF96-2270-4BE9-8FDD-0B1B743C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955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2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Пилотная эксплуатация, ручной ввод анализов, замер времени и итоговый отчёт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46271-E48C-44EA-A556-111B392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FC9AB-9CA2-4A66-96B2-BA8DCC44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Бюджет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87E39-2E0A-4FF3-B933-86CE899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 исходном брифе сумма не указана. Финансирование нужно согласовать с главным врачом и ИТ-отделом до утверждения устава.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CAEFB-2BC7-4069-8688-D7D7F40B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D00B7-5D1C-43E1-A1BE-F0993760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Куратор и руководитель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B8C78-F3DC-4AA0-9012-380915C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 утверждает бюджет, вехи и решение о масштабировании. Администрация должна назначить руководителя проекта и закрепить полномочия.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6068E-FF8F-4A5D-B4DD-3F9C7434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14750"/>
            <a:ext cx="4476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51744-65A3-4E23-8865-10BC853C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9814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C08F7-DF0B-4C4B-B8AD-A9A1C09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438650"/>
            <a:ext cx="3943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врач, заведующий кардиологией, ИТ-отдел и медсёстры. Вендор ЛИС не участвует в пилоте, но может консультировать по фазе 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2417C-1F5A-404F-B9B8-49B7C358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Критерии успеха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C3AD8-9F8B-4863-8ABB-667D9D7B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409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193CFE-AA81-4F87-9068-DEBC9707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43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Время приёма сокращается на 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F2A57-1C9A-43CC-95E1-4696068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743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Система готова к работе в согласованном масштабе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7BCC7E-886B-4D59-B55F-C7FE4FF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674370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ПДн защищены, базовые показатели измерены до и после пилота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8E6874-80F1-4665-B7F9-2CA4BD1F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96150"/>
            <a:ext cx="1343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Решение о масштабировании принимается отдельно после анализа результатов пилота.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E8B5D-4F8C-40C0-AA21-25963C5A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605364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8DEF7-6A24-4254-A777-1612ECB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Противоречия и риски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F6B82-F5AF-40E2-8389-583D43A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C6D09-D430-47F0-9542-47F6375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Разночтения брифа переведены в решения и конкретные планы реагирования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517C5-321E-4241-B1BD-0DC13067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E3A49-A6B7-44AF-ADBF-14D4D46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E7EAC-476B-4954-8922-44C5AC6A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Масштаб и срок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A3898-AC22-4F1D-8ABA-90152268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Бриф: вся больница за 6 месяцев. Решение: пилот в кардиологии за 2 месяца, общебольничная проверка позже.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310FE-ABB0-4AA1-AE48-095E69DB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Автозаполнение и ЛИС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8038F-23C2-4C4A-BE18-24CF8097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ЛИС относится к фазе 2. В пилоте используются предыдущие визиты в МедКарте, врач подтверждает поля, анализы вводятся вручную.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84284-7CB7-4D9B-8393-F1C0EA34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716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Цель и исходная база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2832E-C765-4B98-92F8-DC743238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Цель - снижение времени приёма на 20%. Решение: базовый замер до запуска и повторный замер по той же методике.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FA515-1CF5-4B4A-9FF0-DBE9F586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Реестр ключевых рисков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71500" y="3905250"/>
          <a:ext xmlns:a="http://schemas.openxmlformats.org/drawingml/2006/main" cx="14097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6667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Вероятность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Влияние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План реагирования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Нет исходного замера времени приёма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Собрать базовые данные до запуска и повторить замер по той же методике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увеличит время приёма и ошибки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Оставить обязательные поля, добавить шаблоны и проверку данных врачом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Врачи и медсёстры не примут процесс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Провести обучение, назначить поддержку, отслеживать долю приёмов в системе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Нарушение правил обработки данных пациентов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Средняя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Настроить роли и журнал действий, проверить права доступа до старта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Бюджет и руководитель не согласованы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Высокая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Высокое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Утвердить финансирование, назначить руководителя и закрепить полномочия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23A20-96B0-4882-B760-5A654BE0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228214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88A722-DF7F-4590-A163-36A93EBC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Стейкхолдеры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80E8E-3B54-4620-BA70-69DE693B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881E0-5AE9-4204-ADFD-8E0E667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влияния, проверка полноты и вопросы для трёх ключевых групп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8BA14-D9E4-409F-9C40-D3FDE7E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19506-A2C5-45D9-87A6-ACDB4A17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B77BA-6BE8-44B4-BEA4-D2A8169B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Влияние и заинтересованность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A7E40-5148-48D5-8C08-48EAEC00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6858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3AC98-5A7B-4110-8544-DB0DA124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333C4-FCA8-4CED-928A-BE403253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CC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3640F-4F77-42FE-B5F2-A1F3E204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Управлять внимательно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CDC25-1312-4CC3-9BDD-99C2A204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Главный врач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и руководитель проекта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МедКарты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059CA-0965-4F9B-A4C1-05169E45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Держать удовлетворёнными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2A7CF-32D1-4B09-BCC2-C897496A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289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Финансово-экономический отдел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Информационная безопасность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A674A-F030-4BA2-BEF1-B9B6103D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Держать информированными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F3294-C9DC-47A1-886C-A5A66563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2432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Врачи-кардиологи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Медсёстры и регистратура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Пациенты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2AB5A-09D1-4E5D-9392-096273B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43325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Минимальные усилия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2D91D-81C4-4671-896B-CDF54E13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24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Поставщик ЛИС на этапе пилота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1CD4E-A228-449D-B8FE-CAFE8FEA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Проверка полноты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FC817-F106-4E6E-BF51-1F2E5387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6762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118BC-3408-4DAB-AA46-E6E8ECA3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1. Финансирование: главный врач и финансовый отдел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99858-D7F5-424B-A149-78184551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2. Ежедневные пользователи: кардиологи, медсёстры, регистратура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2CC3B-FEE7-46D1-B3BF-518219FE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3. Поддержка: ИТ-отдел и поставщик МедКарты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C43662-6AD1-4FB3-BB84-D1E573A2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4. Блокирующие стороны: спонсор, ИБ, заведующий отделением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CB343-5238-45C9-A52B-651B400C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5. Данные и интеграции: ЛИС и администраторы данных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F72CA-AF2C-4043-AAEC-BFEA874E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6. Косвенно затронуты: пациенты кардиологии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A062E-ACB2-4DC5-9C5B-47E225FA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Чек-лист добавил финансовый отдел, ИБ, регистратуру и пациентов.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79CE5-5AC5-4D90-B052-41A83A75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Вопросы для ключевых стейкхолдеров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010F6D-33BB-45F9-BBFE-57390781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Главный врач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E82808-2326-44A7-B086-08611D80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Что будет провалом пилота даже при снижении времени на 20%?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 каком риске для бюджета или данных вы остановите проект?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42B7D6-CA4D-4F21-A932-72794EAE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Заведующий кардиологией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576CDE-2E74-4D28-A836-75D82E43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Какие изменения вызовут наибольшее сопротивление?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Кто реально определит, будут ли сотрудники пользоваться системой?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8563C-ADD9-4639-B76D-D6187B9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4835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ИТ-отдел и руководитель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5A0C5-039D-4089-89F6-C938655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229350"/>
            <a:ext cx="4429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Какое условие безопасности может задержать запуск?</a:t>
            </a:r>
          </a:p>
          <a:p xmlns:a="http://schemas.openxmlformats.org/drawingml/2006/main">
            <a:pPr algn="l">
              <a:defRPr sz="127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Какая зависимость от подрядчика или данных пока не отражена?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8E5C7-01EA-4255-90CD-319BDD4E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299940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68447-8E6F-4C44-906F-E6999DC3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Роли команды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B0167-D77D-4594-A183-5C5EADAB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D1168-FF5D-4DE4-B4BB-BBD39C63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Ответственность на этапе планирования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926CE-02B4-4E5D-BF44-A4B3457F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C60FA-F744-4352-BD47-655D28B0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13144500" cy="552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8620125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Зона ответственности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Менеджер проекта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Алимова Анастасия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Владеет Scope Statement, ведёт WBS-воркшоп, эскалирует спорные пункты спонсору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Бизнес-аналитик / Product Owner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Гусельникова Кристина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Формулирует измеримые критерии приёмки, приоритизирует результаты, снимает противоречия брифа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Технический лид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Базанов Максим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Декомпозирует эпики до Work Package, определяет техническую последовательность и зависимости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Команда разработки</a:t>
                      </a:r>
                    </a:p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Долотин Артур, Суворов Максим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Оценивает собственные Work Package по трудоёмкости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Спонсор и внешние стейкхолдеры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Утверждают границы Scope In / Scope Out и критерии приёмки, выступают точкой эскалации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346F6-E9E3-4F5F-A06B-A770E2A1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20011753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ED6EA-EBE2-406F-B1F3-5821180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Результаты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95E1B-1BCC-4B5A-8CA8-D222EE21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35DEF-E1AE-45C4-B9E6-D44C90C6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Шесть проверяемых результатов двухмесячного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1C4ED-23C6-4B65-8889-F86BB4ED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5889D-6E29-4B87-B7E2-B9D9806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429000"/>
                <a:gridCol w="97155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передаётся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D1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Создание, просмотр и редактирование карты. Шаблоны кардиолога. Автозаполнение из предыдущих визитов с подтверждением врача.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Запись, перенос и отмена. Представления «день / неделя». Фильтр по врачу.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D3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Форма с валидацией значений и единиц измерения. Прикрепление сканов PDF / JPG.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Роли врача, медсестры и администратора. Журнал доступа, шифрование, резервное копирование, согласованный чек-лист ИБ.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D5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 дня очных тренингов для двух групп медсестёр. Инструкция, памятки и зачёт по базовым операциям.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8924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Отчёт по пилоту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Замер времени до и после внедрения. Выводы и рекомендация по масштабированию для главного врача.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A47D9-67A2-4C38-ABEC-F00FE0E8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5544393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433D9-E53B-4D4C-9DFB-473F55D6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Критерии приёмки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2AF79-10BC-47AF-9FA5-EB82F02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54660-36FD-433D-AA8B-9C9F83AD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Каждый критерий связан со способом измерения и целевым значением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930A8-AF3C-4200-BCC1-3EA11FA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338E9-E61B-4F98-8DA1-52548DB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90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5810250"/>
                <a:gridCol w="4857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Способ измерения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Целевое значение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Сокращение времени приёма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Контрольный замер в последнюю неделю против базы первой недели. Не менее 100 приёмов в каждой выборке.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Среднее время снижено не менее чем на 20%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Подтверждение предзаполненных полей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Сохранение карты с неподтверждённым автозаполненным полем должно быть технически невозможно.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100% предзаполненных полей требуют явного подтверждения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Готовность персонала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Зачёт по чек-листу базовых операций после тренингов.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 менее 90% медсестёр прошли обучение и сдали зачёт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персональных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 ИБ и выгрузка журнала доступа.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Все пункты закрыты, журнал фиксирует 100% операций, 0 инцидентов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706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Устойчивость работы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инцидентов за период опытной эксплуатации.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 случаев потери данных, открытие карты не дольше 3 секунд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340B5-D6EE-400F-8D19-28D9986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11443553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2ECA3-BB18-480A-895B-C7EF107D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Границы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D2446-2FFD-45CB-BD6A-092894EB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E542E-0437-40F1-B500-DD74E7F2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Приоритеты MoSCoW отделяют обязательный пилот от второй фазы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40D5C-2CAF-4DFA-8363-628BCC32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889A4-24FA-44FD-92C3-84F34B89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ED39D-243A-40B7-882B-E6106707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1409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FBD6D-6255-4BA5-931D-3A427751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MUST HAVE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F8AC7-4455-42CE-86D8-CA0B502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33575"/>
            <a:ext cx="1081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шаблоны кардиолога, автозаполнение с подтверждением врача, расписание, ручной ввод анализов и сканов, защита ПДн, развёртывание в кардиологии, два замера времени, тренинги медсестёр, итоговый отчёт.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D6C07-F2B2-4294-868A-40AD8CF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1409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8303F-1355-4FE0-A774-51B38457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SHOULD HAVE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FF5DE-EC46-4596-9123-8CB2A3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10810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Инструкция и памятки, зачёт после тренингов, представления «день / неделя», фильтр по врачу, валидация значений и единиц измерения.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D0198-3584-4F21-9F4F-120918D6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409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49E7C-4B92-4CE3-9959-3E2022AF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COULD HAVE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2388E-DFCD-4854-98F1-507AD279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29175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Расширенные шаблоны сверх профиля кардиологии. Сбор обратной связи от врачей внутри системы.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E81C2-5A3E-433E-B7EA-BF7E73F5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4097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78C28-755D-4B85-9120-A0EE3205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WON'T HAVE THIS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9317A-577A-4660-B1FB-27A27D85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1081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Интеграция с ЛИС, печать и выгрузка выписки 1.2.5, интеграция со страховыми, телемедицина, масштабирование на другие отделения, эффект по всей больнице за 6 месяцев, миграция бумажного архива, мобильное приложение.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DCC01-C8EE-4651-B358-26D70072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8376168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378416-6272-47E5-B2D4-D8CE86D4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Допущения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8167-DD25-4C73-A026-CC2B8EB1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45C3-5282-47FC-8BB8-5C00BFB1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Условия, без которых пилот нельзя корректно оценить и принять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15E23-BC88-4818-B102-A0FE6DD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6B00F-54F5-4255-8D93-F0BB805F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F18CF-7DF1-45F9-B705-CD15510D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Допущения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86D53-CEEE-44AD-A90B-5B132036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2E800-9B07-4A69-9C2D-EE55C302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6667500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72BBE-FC4C-479D-8072-F5D2E1E9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6905625" cy="5572125"/>
          </a:xfrm>
          <a:prstGeom xmlns:a="http://schemas.openxmlformats.org/drawingml/2006/main" prst="roundRect">
            <a:avLst>
              <a:gd name="adj" fmla="val 1368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5B12A-25DA-46A8-AEA2-FCCEF038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BB890-72FD-45D3-95E5-A0C5257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241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5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ИТ-отдел предоставляет серверы, учётные записи и доступ в контур в первую неделю.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8ED1F-516D-42B6-85DB-A907CA5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151AA-F8F4-460E-ADC5-A6576AED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8D554-BE23-484A-BBB3-1CE783F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6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согласовывает график тренингов и выделяет медсестёр двумя группами.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141D4-5507-4E8C-B041-23DF71E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956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3C655-4E10-47EA-918E-B3065FE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80E48-5951-4BAF-8683-EA92624F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1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Базовый замер времени проходит в первую неделю. Без него цель −20% нельзя подтвердить.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7EE08-0B92-469D-9A98-5A22940D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7DB8F-4932-4E41-83EB-B2B7C552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4E0CC-19A7-43C8-8226-72401644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5297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9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Согласия пациентов оформляются по действующей процедуре больницы.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82D7E-925E-43B1-A535-EF85D29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AA0FA-5F75-4344-B3BD-FB332E61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1D5F10-C84E-4957-B3C2-CEBBCA6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58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Вендор ЛИС не участвует в пилоте. Его участие относится к фазе 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94E7F-C055-41E3-BC78-A8FA4272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24550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C34AB-7881-446D-A3F0-DFD7EF99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36C34-4703-4D31-848E-403F19B8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72225"/>
            <a:ext cx="549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53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Автозаполнение использует предыдущие визиты внутри МедКарты, а не внешние системы.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548C40-1CF6-47CE-9ECD-9F6567AE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34175"/>
            <a:ext cx="5495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3FB6A-AB35-413A-B8AF-821E96BA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241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0A435-3870-4C9C-9411-A5AE593D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241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Срок: 2 месяца или 40 рабочих дней. Дата окончания не сдвигается.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942F6-D26E-48A4-BEF0-625138C1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860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F5BAE4-B4C7-471F-9392-A4B204D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337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C70DC-CBF1-4324-8474-93A9FFDB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337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Масштаб: одно отделение и ограниченное число рабочих мест.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B0F17-6A27-4494-A331-3DB6D9FB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956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0F27B9-0C4A-44CA-82AA-E8B2758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4335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92C4CA-6FBD-4261-9884-FF7E31C8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Требования к ПДн обязательны и сокращению не подлежат.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49976B-0A48-4439-9923-F01C59E5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A1A4D2-E813-4F97-B32A-F3742CC7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529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3BC98E-9B8F-4BE8-A760-8EACDB05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5297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5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Тренинги 6 чел.-дней включены в WBS. Перенос печати в фазу 2 освобождает только 3 чел.-дня.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0B12A4-9F13-4A58-B480-5C88215E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1492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B46D68-44B2-448D-B99B-7326A124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62600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0DB1E2-7050-4F96-A74F-D49A1B6A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562600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7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Лимит: 100 чел.-дней, из них 97 работ и 3 резерва. Использование резерва утверждает спонсор.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41F512-FC6F-4FE2-87C0-8C588C58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924550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76C2BB-5D07-4A0B-9366-AD3CF9F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63722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0C0C09-17E1-4E6F-B9C6-DC29C6EB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372225"/>
            <a:ext cx="573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Денежный бюджет требует отдельного согласования.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21ABEB-9D94-4FCF-BD5C-B9CDEE8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6734175"/>
            <a:ext cx="573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5476A7-B63A-4FBC-9573-A407A1F7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КОНТУР ПИЛОТА</a:t>
            </a:r>
          </a:p>
        </p:txBody>
      </p:sp>
    </p:spTree>
    <p:extLst>
      <p:ext uri="{BB962C8B-B14F-4D97-AF65-F5344CB8AC3E}">
        <p14:creationId xmlns:p14="http://schemas.microsoft.com/office/powerpoint/2010/main" val="516920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148E9-390A-43BC-975C-6038D0BE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Исходные данные сетевого плана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4651D-F87C-4E3A-AF40-D443D209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1BC70-4FFF-4641-8C8A-5517477F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Длительность отражает календарную работу, WBS - трудозатраты в человеко-днях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AE762-04C3-4098-9D13-F63ABE85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27551-613C-444F-BFD9-4CADFCBD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1428750" y="1762125"/>
          <a:ext xmlns:a="http://schemas.openxmlformats.org/drawingml/2006/main" cx="123825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5810250"/>
                <a:gridCol w="2476500"/>
                <a:gridCol w="295275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Эпик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Длительность,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Предшественники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A,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B, C, D, E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Опытная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0E8C4-3074-4BF2-9820-A2668422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29450"/>
            <a:ext cx="1238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49202-CFBD-422E-AF3C-8F6CF4BB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2199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Параллельные работы нельзя просто суммировать. Срок проекта определяется сетевыми зависимостями и критическим путём.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8F3B6-57B0-4B4D-A811-FB4192C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8874437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D7970B-9206-4997-88DD-0796F034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Сетевой график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53E0E-3223-4D73-9F51-14F6F7F7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1A6C1-2B1C-49D2-B5EB-3C6CE0C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Исходная схема сохранена, критический путь выделен цветом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FE001-88D5-40CB-ADE6-CA069F8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4FBF7-F147-491D-A0ED-A3D1D69B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8D7D5-0AD1-4329-B655-07A5BEDB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BFF7A-34F2-4B79-B8CF-C5F0D71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2902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Подготовка</a:t>
            </a:r>
          </a:p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аналитика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C345F-9B25-4D35-9959-08D4F117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719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 дн.  ·  резерв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F73BB-411E-4182-AE0D-A05474DC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C1A70-477B-417F-A8D7-EBCFCD2E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62902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B  Карта пациента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69E32-FD0B-4D0E-A1AD-EB60E4B4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719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  ·  резерв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64C48-D040-46F6-B8AC-6D210C8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AEBCC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7DAB1-D43F-4CCF-A7BF-00B04AC6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1452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C  Расписание</a:t>
            </a:r>
          </a:p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приёма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418A8-9054-4A3E-AF10-5D256E8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574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дн.  ·  резерв 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573A-E210-44D4-8FA6-308F22BE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AEBC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FEC72-128E-4411-B3E5-25E8BC2A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2902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  Ручной ввод</a:t>
            </a:r>
          </a:p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анализов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2EEEA-7C8C-4894-B015-866BC2A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719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дн.  ·  резерв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C404F-749D-41FA-860E-8105C34B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91125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4FA4B-08C1-435A-A795-0690245B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34352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  Защита ПДн</a:t>
            </a:r>
          </a:p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доступ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6ED8A-B642-4FE3-BB1C-99C22F35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60864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7 дн.  ·  резерв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77A8C-0102-43FD-A6CE-E70B5027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71C40-AA04-4DD1-8E8F-9CAD70BE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29025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F  Развёртывание</a:t>
            </a:r>
          </a:p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обучение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FA410-7C48-4DF4-8BB4-444D1CF9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37197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6 дн.  ·  резерв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7A860-9710-4359-810F-8F8C75BB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76625"/>
            <a:ext cx="2762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19050">
            <a:solidFill>
              <a:srgbClr val="C84E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CB673-BAE2-481E-BA4F-B0EC1B84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629025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G  Эксплуатация</a:t>
            </a:r>
          </a:p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 приёмка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11113-15B0-4505-8FD6-D2BA2B82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4371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10 дн.  ·  резерв 0</a:t>
            </a:r>
          </a:p>
        </p:txBody>
      </p: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52750" y="41052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C84E5A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6" idx="0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762125" y="2390775"/>
            <a:ext cx="4429125" cy="1085850"/>
          </a:xfrm>
          <a:prstGeom xmlns:a="http://schemas.openxmlformats.org/drawingml/2006/main" prst="bentConnector5">
            <a:avLst>
              <a:gd name="adj1" fmla="val 0"/>
              <a:gd name="adj2" fmla="val 21053"/>
              <a:gd name="adj3" fmla="val 94839"/>
            </a:avLst>
          </a:prstGeom>
          <a:ln xmlns:a="http://schemas.openxmlformats.org/drawingml/2006/main" w="14288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6" idx="2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762125" y="4733925"/>
            <a:ext cx="5619750" cy="2286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6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762125" y="4733925"/>
            <a:ext cx="4429125" cy="1085850"/>
          </a:xfrm>
          <a:prstGeom xmlns:a="http://schemas.openxmlformats.org/drawingml/2006/main" prst="bentConnector5">
            <a:avLst>
              <a:gd name="adj1" fmla="val 0"/>
              <a:gd name="adj2" fmla="val 21053"/>
              <a:gd name="adj3" fmla="val 94839"/>
            </a:avLst>
          </a:prstGeom>
          <a:ln xmlns:a="http://schemas.openxmlformats.org/drawingml/2006/main" w="14288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715000" y="4105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524375" y="4733925"/>
            <a:ext cx="2857500" cy="457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3338">
            <a:solidFill>
              <a:srgbClr val="C84E5A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9" idx="0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524375" y="3248025"/>
            <a:ext cx="4524375" cy="8572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12" idx="3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572500" y="2390775"/>
            <a:ext cx="1666875" cy="108585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572500" y="4105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EBCC4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8" idx="3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8572500" y="4733925"/>
            <a:ext cx="1666875" cy="1085850"/>
          </a:xfrm>
          <a:prstGeom xmlns:a="http://schemas.openxmlformats.org/drawingml/2006/main" prst="bentConnector2">
            <a:avLst/>
          </a:prstGeom>
          <a:ln xmlns:a="http://schemas.openxmlformats.org/drawingml/2006/main" w="33338">
            <a:solidFill>
              <a:srgbClr val="C84E5A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1430000" y="4105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C84E5A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213A06-8336-45E3-A1FC-AADBD70E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05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Критический путь:  A  →  B  →  E  →  F  →  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8014E9-F59C-4668-AC06-B32D3B57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5 + 10 + 7 + 6 + 10 = 38 рабочих дней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2BEFC7-D38C-42DD-BD95-0B54A7E6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20949843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0A1EF-FD0D-406D-9048-979B3442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Критический путь и резервы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D80BB-B832-4134-B075-53560FB6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39F75-9785-487E-9326-36DB2C24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лимите 40 рабочих дней остаётся 2 дня, работа D почти критическая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188C3-09E1-4AD6-8B61-7B6A2C50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294CA-04CA-4F0D-A949-90168FC8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C9F8E-F2B8-46ED-A0AA-E426EE51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F46EA-06A8-4F5B-979B-52C6CFFD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76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Ключевой вывод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10553-7135-4295-B3B3-7418CC21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527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09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EB942-28CE-416B-BC2B-4230511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051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FB5BA-D71B-4C70-8977-C169AA10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7B5B4-1DCD-4400-BFD9-EA52311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Критический путь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709E8-D509-4870-B488-CC18CF1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76700"/>
            <a:ext cx="300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E  →  F  →  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08333-5DD7-4AC7-AC41-2D81DBA7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D имеет резерв 1 день.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имеет резерв 11 дней.</a:t>
            </a:r>
          </a:p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До лимита остаётся 2 дня.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77E70-FFDE-4B8B-8A29-DB9BFBE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35E2C-753D-4E6D-826C-AF0785B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Работа D требует контроля: один день задержки делает её критической.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3D9ED-9732-4324-9DA6-DD8D7FDF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936285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91F0E-66E9-4578-A20E-A16C7D84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DSM зависимостей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6ACA6-7194-4210-A733-46BABB0A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A676D-76A8-4ECE-8349-55F31DD5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Матрица быстрее показывает узлы с большим числом связей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BFEA7-454F-4109-BDEF-46B2DEC9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3A18E-5986-427D-B6B2-96AFB70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40970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162050"/>
                <a:gridCol w="1162050"/>
                <a:gridCol w="1162050"/>
                <a:gridCol w="1162050"/>
                <a:gridCol w="1162050"/>
                <a:gridCol w="1162050"/>
                <a:gridCol w="1219200"/>
              </a:tblGrid>
              <a:tr h="5524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 / предшественник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  Подготовка и аналитика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  Развёртывание и обучение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6286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  Эксплуатация и приёмка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5D067-6853-4F00-89CB-230C95EA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29450"/>
            <a:ext cx="1409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F7461-AB95-486E-AB49-235AEAE7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0425"/>
            <a:ext cx="1343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A запускает несколько веток, F собирает их в одну точку интеграции. Сеть лучше показывает последовательность, DSM - концентрацию связей.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F3F9E-DD98-4A89-AB0C-4A41B8BF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3366624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7A96-10BD-4E07-B579-7DD243CD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Проверка WBS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6B333-D568-43D9-9D49-A082E2F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6154B-CA6C-4D73-B192-BAFEA7D4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Структура переведена из набора действий в проверяемые пакеты работ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D4796-BD4D-4504-931C-CDC6372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7F055-116B-4DDD-BBF7-ECF12611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733550"/>
          <a:ext xmlns:a="http://schemas.openxmlformats.org/drawingml/2006/main" cx="140970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524500"/>
                <a:gridCol w="5810250"/>
              </a:tblGrid>
              <a:tr h="533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Проблема исходной WBS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Полнота охвата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Работа 1.2.5 фазы 2 оставалась внутри пилота.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Печать вынесена за WBS пилота. Все 97 чел.-дней работ сохранены.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Отсутствие пересечений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Структура карты и шаблоны в 1.1.3 пересекались с реализацией 1.2.3.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1.1.3 - согласованная спецификация. 1.2.3 - реализованные шаблоны.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Декомпозиция по результатам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Уровень Story смешивал действия, результаты и группы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Единая иерархия: пилот, раздел, проверяемый пакет работ.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7440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05E59"/>
                          </a:solidFill>
                          <a:latin typeface="Arial"/>
                          <a:ea typeface="Arial"/>
                          <a:cs typeface="Arial"/>
                        </a:rPr>
                        <a:t>Управляемость пакетов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 ряда пакетов не был назван конкретный результат или ответственный.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Результаты сформулированы явно. Ответственные и оценки указаны у каждого пакета.</a:t>
                      </a:r>
                    </a:p>
                  </a:txBody>
                  <a:tcPr marL="91440" marR="91440" marT="45720" marB="45720">
                    <a:solidFill>
                      <a:srgbClr val="DFF0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2A9AD-3458-446F-92B8-D59708B5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14097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1AF23-652B-46E2-A95A-A718229D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15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Перестроен уровень между разделом и пакетом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D7ABA-647F-47B2-AE01-EF194157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Было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344DA-AC76-482A-88AE-E5B678FC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247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Story: тестирование, печать фазы 2 и тесты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8BBE5-32B1-4B29-BF9E-56B6F5B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16280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Стало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A3563-8E4B-41E0-91A6-C3FE8C8C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0675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Карта пациента, модель данных, CRUD, шаблоны, автозаполнение, результаты тестирования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EF2D2-4C72-48D0-BC31-C7DF0DC1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0332466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AA5425-2862-413A-8E8B-82177B49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подготовка и основные модули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7775B-B8A0-4F53-99C9-0D68526E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D6771-89D7-453E-933F-0165E925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97 чел.-дней работ. Сроки эпиков взяты из сетевого плана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290B5-E9C8-4466-ADDA-B4FB6273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5876E-2201-4E1B-83E5-2BA24CFE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40DD3-B88D-490E-B04D-90FE089E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FD898A-5D40-4865-B544-2794832A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 Подготовка и аналитика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9C41-830C-4951-91D3-C8BFDB2A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10,3% · срок 5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8172D-250B-4DFD-A116-5C16D30D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FA206-0C0D-4746-9021-8BC1B34F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1.1.1 Интервью и сбор требований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5E3DA-D253-4D46-A5DC-B6BF7470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A8165-56FE-42ED-942C-1AC37F79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05CB8-67F9-411C-8BC3-0E8F2DF4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1.1.2 Базовый замер времени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A3027-0640-4FF5-9828-2BFE9A60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 + заведующий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53E04-5C2D-4692-958E-D90A578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B3690-C274-41DC-AF74-5BAE1B62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1.1.3 Спецификация карты и шаблонов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27190-2DA4-4C9D-A0D2-C652563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техлид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3A46D-31A4-46B1-A8E9-B740038A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ED4EE-B041-44BB-9FA4-F7A83302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1.1.4 Тестовый стенд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65E67-3611-4859-A771-F9704E90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ИТ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417FA-1A74-412C-BCDB-47A45545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D07AB-E89E-4590-AB5F-DBD4DA11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 Карта пациента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D2D0B-A945-48B7-9585-F65E23E5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27,8% · срок 10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C80D9A-59B4-4579-AD11-5C053912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504B1-2F6B-4EBB-AACC-49D6D16A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1.2.1 Модель данных и схема БД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BC007-20A0-425E-8D75-CA3B3979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07C5FC-0D59-4C96-8E4E-3694B560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2C5B1-7EFC-45BE-AB4A-A31E9A50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1.2.2 CRUD карты пациента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57D132-08F7-42DC-A292-9BCBE899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30CCB8-C142-4B2E-A498-A8C14AF0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480FA-8441-4DFD-9E10-B08ADA5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1.2.3 Шаблоны осмотра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1F321-8854-481E-BB72-FE59C588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18772B-F200-429C-9E35-AB0376A3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4BFED5-8A8E-4DE1-8C5A-8D3985F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1.2.4 Автозаполнение и подтверждение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C6C7A-B350-49F4-A038-1F6379D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Backend + Frontend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0E88BA-2CE3-4E5A-A9A5-C197A0EA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210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787A22-438F-4F7F-8562-49212B71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324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1.2.6 Тестирование модуля карты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9B1B80-77A0-43AD-8F4F-AE0C3821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724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QA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2EC9EF-BF7A-4C1F-BD0F-5C266C8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097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814145-921D-4C4B-ACFF-D094C4AE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24050"/>
            <a:ext cx="4029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 Расписание приёма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E4B8EA-6F5E-49F6-9B0B-BA9C6E28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4029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15,5% · срок 6 дней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92206C-F0D5-401A-9749-35B6B8CA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4A939E-3F51-4777-9980-DFCCE48D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956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1.3.1 Модель расписания и слотов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7F8C7A-ED50-489A-8405-2B954AC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956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2262E2-2239-4D5D-80B7-F00DE7E5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385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FA31D7-3D16-4B3C-935D-5F9EA194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7528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1.3.2 Запись, перенос, отмена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88075D-9391-44A4-B571-DA1CC49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529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5 чел.-дн. · Frontend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8CD6CB-C6C6-4CE5-88A8-BA0E55E0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9580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353965-4793-4E98-89C0-E355752E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1.3.3 День / неделя и фильтр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C20192-CF55-47CD-96ED-8E35BF56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0101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Frontend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05EB2E-8643-4154-AA29-98C3CB99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3530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D61AF5-9CFB-4E9C-8C1C-6289257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4673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1.3.4 Тестирование расписания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A65972-E52F-40A6-9649-DBD085E0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6740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QA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ACEE73-3774-4619-967C-7E4E1D62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15250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ID 1.2.5 сохранён за работой «Печать и выгрузка выписки», которая относится к фазе 2.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D17812-6D2E-442B-9558-A99F9EC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8324990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565EA4-0CAD-4F0E-B416-A6AD3AA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WBS: безопасность, внедрение и приёмка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15E2F-8C62-4A78-9FDA-6C531E42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D5FFA-A4BD-4E61-97A6-71113453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Доли рассчитаны от 97 чел.-дней. Резерв 3 чел.-дня учитывается отдельно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5DBEE-86CE-4EF3-821D-919B2DC3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8C2F9-18CA-48C7-B209-6031B67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D58CB-F17B-4C72-9BE3-19B87552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44650-D178-43A9-A746-F4CD5342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 Ручной ввод анализов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975FC-6BB0-44EB-9C68-2DD53F3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DA61A-452E-4416-B421-2EE4352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C4BE3-1CE8-40A7-AE53-39BFABAD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1.4.1 Форма ручного ввода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4C70D-A1AA-4A8E-B485-F3957DA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EE20E-57AE-4154-A892-85729824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A05FF-0BB9-4094-ACCD-A46FB030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1.4.2 Сканы и хранение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48A12-48F5-440C-A01D-B9272A7D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D90BA-57D2-4A6D-A8F6-CE5DF42E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2269E-BAB1-4F13-A9AF-ED81D6A7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1.4.3 Валидация значений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CD8BE-236F-4983-AAB1-C242CFA6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A0586-00B4-4A33-914F-6186D8A4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1CA3A-C217-4C34-A83D-331F61F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1.4.4 Тестирование ввода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63315-0654-43DA-91B3-5B53912C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19D37-2317-4F64-AA9D-C73E8569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F03311-07C3-4FBE-9CF0-F0A8C377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 Защита ПДн и доступ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6B7C3-7836-4A09-962A-8A933A20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13,4% · срок 7 дней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9DA56-7072-4E14-9AA6-DB805E41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3BACD-7F83-4314-9435-BAFB684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1.5.1 Ролевая модель доступа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2F6F5-E663-4816-9A36-A5D8EECD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4 чел.-дн. ·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F353D-459E-4F9D-A225-53A1EA6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14BD38-5FAF-43C3-BF6C-269465E5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1.5.2 Журнал доступа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E212C-3BE7-4A20-8BB8-666D556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Backend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1EA6E0-BB07-4191-B5A9-A3793D4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D0591A-E78F-4B26-B9D4-FFEEB639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1.5.3 Шифрование и резервные копии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3769A-13C0-46E1-B3F7-5E1A768F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 + 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282A97-5F95-4864-9D2A-D4ECB916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EEAE46-751F-44A9-8034-7F7A3A5D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1.5.4 Проверка требований ПДн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A85031-34D8-4FCB-AA20-0DB5A648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БА + ИТ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4EEA91-BFE9-4250-851F-97897644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8343A7-9094-4FD3-A350-D423E4D9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 Развёртывание и обучение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352E45-F3C1-4356-868B-F2917FAD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12,4% · срок 6 дней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D580F6-2261-45E9-979B-101CA28B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2799B9-AD1E-445A-9BFC-A974B61D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1.6.1 Развёртывание в отделении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D0696-5D2D-4E87-8D0E-644FB616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ИТ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62BF68-08E2-4337-82C1-F4703707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FF2190-F20B-4D64-899B-7F3EA423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1.6.2 Инструкция и памятки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E2F429-1113-4DC9-BFA1-BBBC84EB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FE0C44-63D9-4789-B2FA-D9A10A90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648DCF-4D3C-469D-AD83-A2DCC448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1.6.3 Очные тренинги медсестёр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E49755-EF6A-47D0-B6F0-F07CF33B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6 чел.-дн. · Команда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91EE3B-123D-4B68-A29C-703EE959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6609E6-41B5-4817-9972-91B9B929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1.6.4 Проверка навыков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ACE67B-D0C1-4CFF-B485-EB52B99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БА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E69344-170F-4CAA-AE2B-B293CF93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809750"/>
            <a:ext cx="3333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9D10F2-52D0-493F-A5E7-C0D38D5F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19240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 Эксплуатация и приёмка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D37E8F-D92D-4764-B535-9B978FA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2669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8,2% · срок 10 дней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B70E48-101A-46A1-8228-93A96AB9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7813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4DA0B9-E355-446D-8E25-99795A17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28956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1.7.1 Сопровождение первых двух недель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0253D4-B0C1-47C2-830B-FEC372D0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2956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3 чел.-дн. · Разработка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D7150D-26A1-42A9-BA68-0007ED96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38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29E8A0-71E1-452D-A525-115998B8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37528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1.7.2 Контрольный замер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F7B54D-643D-4ACE-9B05-346F63E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1529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БА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9DA1A3-D6E2-4517-B6CF-69C6801E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95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D15864-B9CF-40C2-BAF5-26BEABD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461010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1.7.3 Итоговый отчёт и рекомендации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5DBF39-040E-46DA-A8E4-2AB73E3A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01015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2 чел.-дн. · PM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8F8C7D-FB11-4501-845A-467AAF8C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353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8A52A1-0AEC-4937-9C71-24AFEED3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4673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1.7.4 Приёмочная встреча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F18861-A1F9-49E9-A2D0-80044BA9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5867400"/>
            <a:ext cx="325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1 чел.-дн. · PM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41F06D-F2AC-4B45-B1A9-5A9EB24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971071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698F2-789D-4CE6-A0C4-AF6B236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Уточнение оценок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3D279-47E7-40DF-A210-570FC0C5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372F5-0F31-4095-8D8E-CED78FC8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Пересмотр четырёх работ проверяет устойчивость критического пути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F89EF-8936-4735-9EAC-9147849A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04446-4303-4490-8950-ED0ED136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1143000" y="1809750"/>
          <a:ext xmlns:a="http://schemas.openxmlformats.org/drawingml/2006/main" cx="12954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1714500"/>
                <a:gridCol w="1714500"/>
                <a:gridCol w="5524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Было,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Стало, дн.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Причина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  Карта пациента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Часть компонентов можно использовать повторно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  Защита ПДн и доступ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Используются готовые механизмы больничной инфраструктуры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  Ручной ввод анализов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Недооценена работа со сканами и валидацией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762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  Расписание приёма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Потребовалась дополнительная настройка фильтров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17021-12B6-433B-87A7-47D89F0B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7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Почему выбраны эти работы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47539-6599-4284-A93E-A653B5E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38875"/>
            <a:ext cx="12954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03F02-82FE-452A-81B7-A67B5CA3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96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B и 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0B235-41FE-441C-BAF5-E7C78C72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96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критические работы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2FE22-087E-4417-97A1-EF54C735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20C05-51FE-4EF8-AA0E-07ABF5A0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4960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почти критическая, исходный резерв 1 день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1FECE-4445-4FD5-A748-78877EA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13C36-C95F-4F7F-8C1E-3470A9D1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некритическая, резерв 11 дней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90BE1-39CD-4887-90ED-B6D844AF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048500"/>
            <a:ext cx="1219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 сети только одна почти критическая работа. C включена для проверки чувствительности плана.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24701-9716-4EDB-9805-829AE058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8229080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A133A-8F22-4342-9CBA-E16E069C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Пересчёт сроков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3D705-D032-416A-A24A-4921B81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3D4EE-2992-4DE5-8628-D7460B8A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Срок остался 38 дней, но критическая ветка сместилась с E на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B291A-4C69-4133-AC73-CB46EC8C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18EF-9EE6-406A-9906-87638454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790700"/>
          <a:ext xmlns:a="http://schemas.openxmlformats.org/drawingml/2006/main" cx="9906000" cy="4905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Работа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LF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2579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23C09-8C0F-4C08-A5CE-5809AB3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790700"/>
            <a:ext cx="3810000" cy="4905375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F5E37-D900-4D73-9A95-B91DB01B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0955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Новый критический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0A84E-CA21-4C2C-9135-9E232938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71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  →  B  →  D  →  F  →  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23047-E872-472C-BC1F-A1D65C78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0"/>
            <a:ext cx="152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E1BE5-162F-4075-8757-46CB36DE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рабочих дней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1EC77-F3F1-4481-89EE-84645A59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19625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209BB-E43C-4C36-ACCD-DD69693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E получает резерв 2 дня.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C сохраняет резерв 10 дней.</a:t>
            </a:r>
          </a:p>
          <a:p xmlns:a="http://schemas.openxmlformats.org/drawingml/2006/main">
            <a:pPr algn="l">
              <a:defRPr sz="135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Изменившиеся значения выделены цветом.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CECED-9F97-4FCC-9D15-EED762A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00875"/>
            <a:ext cx="1409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DE312-0203-4B24-936F-BE477C58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91375"/>
            <a:ext cx="1343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Сокращение B и E не уменьшило общий срок: рост D поглотил выигрыш и изменил приоритет контроля.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1E238-525F-4ADE-820A-FF857B3D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2026087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AF345-042D-483B-9AB9-C46AFE59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Итерации и переделки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62AB3-F11E-44FC-844B-80D4B486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9283C-2880-43C4-9B0D-9CBBE02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Обратная связь меняет оценки и критический путь даже при неизменном сроке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83EB4-91DC-427E-8DFC-00B41078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2C37A-56A6-4D1F-84BB-CEE2E53B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38E03-5949-4BDA-9675-CBCAC260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54D"/>
          </a:solidFill>
          <a:ln xmlns:a="http://schemas.openxmlformats.org/drawingml/2006/main" w="9525">
            <a:solidFill>
              <a:srgbClr val="1735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ABC15-14A1-49DF-BECA-7083CC1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343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«Классический PM плохо учитывает итерации и переделки»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07818-051A-4C95-92D6-6A0E7B29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5EEF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F9F0C-FF45-44DA-9BA7-2D86164E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5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54D"/>
                </a:solidFill>
                <a:latin typeface="Arial"/>
                <a:ea typeface="Arial"/>
                <a:cs typeface="Arial"/>
              </a:rPr>
              <a:t>Значение для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FCEDA-13FE-45B5-8D94-B359F450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Врачи и медсёстры проверяют формы в работе. После обратной связи могут потребоваться изменения шаблонов, фильтров и проверки результатов анализов.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B8396-4650-42C9-8FCB-0A6E926D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CE7F4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800E6-7055-498B-9D14-BDE4A636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5B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E5B8C"/>
                </a:solidFill>
                <a:latin typeface="Arial"/>
                <a:ea typeface="Arial"/>
                <a:cs typeface="Arial"/>
              </a:rPr>
              <a:t>Результат уточнения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27C24-9FA2-47AC-8DA9-39176160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Сокращение B и E на один день не сократило срок: D выросла с 6 до 8 дней и стала критической. При том же сроке 38 дней изменился приоритет контроля.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78418-F319-4C5B-A974-C96C147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14097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51698-889F-4405-B082-ECB0E661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62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5E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5E59"/>
                </a:solidFill>
                <a:latin typeface="Arial"/>
                <a:ea typeface="Arial"/>
                <a:cs typeface="Arial"/>
              </a:rPr>
              <a:t>Управление изменениями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C56EF-12CF-41D3-B906-3C61F64E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341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После демонстраций оценки и критический путь уточняются. Изменения фиксируются, повторно проверяются и согласуются со спонсором по влиянию на срок и резерв.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EB62C-5B72-46A5-82E9-972FC13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ПЛАНИРОВАНИЕ РАБОТ</a:t>
            </a:r>
          </a:p>
        </p:txBody>
      </p:sp>
    </p:spTree>
    <p:extLst>
      <p:ext uri="{BB962C8B-B14F-4D97-AF65-F5344CB8AC3E}">
        <p14:creationId xmlns:p14="http://schemas.microsoft.com/office/powerpoint/2010/main" val="10457012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4DE83-4FA6-4687-80B2-AB799D4D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Контрольная точка EVM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D8BEE-93C1-42D5-A29F-574B6431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FD0BD-800B-4B3E-BE74-23173712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Учебные данные семинара 8 для пилота «МедКарта»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34A86-E06C-41B4-922A-8CD7F84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5CA2F-BB2C-4839-8C87-332727D6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10B6B-8E7A-4599-9BA0-9B169463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22416-AEF2-4F88-A8E2-1374DE5A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145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Новое вводное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5BE2B-0464-4829-AE5C-9563D0F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1133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Заведующий задержал согласование обучения медсестёр. Пилот отстаёт, дополнительные консультации увеличили расходы.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" y="2762250"/>
          <a:ext xmlns:a="http://schemas.openxmlformats.org/drawingml/2006/main" cx="619125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7813"/>
                <a:gridCol w="1547813"/>
                <a:gridCol w="1547813"/>
                <a:gridCol w="1547813"/>
              </a:tblGrid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1143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8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140 000 ₽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7239000" y="2714625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714dfd707441bf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30E7B-1A6A-4EE6-8203-F66ECCFF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6191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1B529-24DB-4351-810A-E8E359B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Первичный диагноз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03B2A-9B4B-4B3D-9562-BAC3653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EV ниже PV на 30 000 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E3184-1B00-434D-A7A8-A546F439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AC выше EV на 20 000 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D0861-CDFE-4EE9-A2F3-D529293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0"/>
            <a:ext cx="1409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SV измеряется в рублях плановой стоимости, а не в календарных днях.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16D80-AE70-44E8-9995-5E71CD6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97456770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E70EB-3744-4D1B-8FD3-2F760CA7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Расчёт EVM: отставание и перерасход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E2189-67A8-433E-80E4-53CF711C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9C8C3-3A0D-4F52-8DD7-F0CF0FF4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Все восемь показателей рассчитаны для исходного BAC 250 000 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0CCD8-9C39-44F1-AAD9-CF40FA12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E7374-B1CE-40EB-97C5-008435A2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4097000" cy="547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48000"/>
                <a:gridCol w="2381250"/>
                <a:gridCol w="6953250"/>
              </a:tblGrid>
              <a:tr h="523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Формула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Интерпретация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AC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−20 000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Перерасход на контрольную дату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− PV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меньше плана; показатель выражен в ₽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CPI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AC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0,86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86 коп. плановой ценности на 1 ₽ затрат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SPI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EV / PV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0,80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Выполнено 80% планового объёма</a:t>
                      </a:r>
                    </a:p>
                  </a:txBody>
                  <a:tcPr marL="91440" marR="91440" marT="45720" marB="45720">
                    <a:solidFill>
                      <a:srgbClr val="E5EEF5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/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291 667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 итоговой стоимости при сохранении CPI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VAC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BAC − EAC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C84E5A"/>
                          </a:solidFill>
                          <a:latin typeface="Arial"/>
                          <a:ea typeface="Arial"/>
                          <a:cs typeface="Arial"/>
                        </a:rPr>
                        <a:t>−41 667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Прогнозный перерасход относительно BAC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ETC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EAC − AC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151 667 ₽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Ожидаемые затраты до завершения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(BAC − EV) / (BAC − AC)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1,18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Остаток работ требует эффективности на 18% выше плана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94AA2-79C6-4197-862D-DD776310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48550"/>
            <a:ext cx="1409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3E5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6502C-281B-40DC-A423-C4B2A543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5914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Диагноз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4EB69-113D-454B-AAFE-6627A6F8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62850"/>
            <a:ext cx="1209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Проект отстаёт по объёму и превышает бюджет. При текущей эффективности прогнозный перерасход составляет 41 667 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CE327-22D0-4583-84B6-1A9849B1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21414127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F98B0-66BB-4332-A47F-6FEE481F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409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Управленческое 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273D1-3A66-4AF2-B31D-F4712EB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96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A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72EAE-D5C5-47FE-AF76-E395415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152525"/>
            <a:ext cx="1162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Корректирующие действия сохраняют требования к безопасности и приёмке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F440E-F9B3-4AB7-A781-4C43DB7C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72450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МедКарта. Пилот в кардиологии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D8ABC-7B21-4704-B90C-086EE30A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8134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9A019-5665-456C-B811-6DD57DF7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409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6FF99-874F-4954-A6ED-AE075E9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335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72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7213"/>
                </a:solidFill>
                <a:latin typeface="Arial"/>
                <a:ea typeface="Arial"/>
                <a:cs typeface="Arial"/>
              </a:rPr>
              <a:t>Причина отклонений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F6928-0D8A-4419-89DD-C8F5B975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050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Задержка согласования обучения снизила EV относительно плана, дополнительные консультации увеличили AC.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1CACB-4D72-4124-ACDE-5AD3D22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Рекомендуемые действия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8C1D9-0642-40FA-918D-E7A2A66A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667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DFF0ED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D9EAC-19BE-4614-AAB7-0F42C570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6B2FF-A34D-4C0F-B16C-3A05EA3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Зафиксировать решение по обучению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46EE3A-2C90-47D6-81B3-71CD2BCE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Назначить одного согласующего, заместителя и дату обучения. Убрать повторные согласования программы.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D8C5A-5CF7-45F2-9DF7-DF83F2DF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012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89853-212F-46D8-918B-090960DB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Оформить изменение базового плана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B55C9-0AF3-4455-82FD-C24C4F39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7207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Вынести спонсору EAC 291 667 ₽: увеличить BAC на 41 667 ₽ или сократить только некритичный объём.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208C5-1E83-466F-8544-A25C6BC0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483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CACD8-727E-4B49-A8AA-5BF21CAA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535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Контролировать восстановление еженедельно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ED66A8-5EC6-4168-9F83-C94873D8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10325"/>
            <a:ext cx="535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E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E78"/>
                </a:solidFill>
                <a:latin typeface="Arial"/>
                <a:ea typeface="Arial"/>
                <a:cs typeface="Arial"/>
              </a:rPr>
              <a:t>Повторять PV, EV и AC по правилу 0/50/100. Не сокращать защиту данных, тестирование и критерий обучения 90%.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D95D5-C58D-456C-AC47-EADCA080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4E5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4E5A"/>
                </a:solidFill>
                <a:latin typeface="Arial"/>
                <a:ea typeface="Arial"/>
                <a:cs typeface="Arial"/>
              </a:rPr>
              <a:t>Риски решения и меры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7715250" y="32575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815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Как нивелировать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Согласование снова сдвигается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Срок ответа, заместитель согласующего и календарь обучения, утверждённый спонсором</a:t>
                      </a:r>
                    </a:p>
                  </a:txBody>
                  <a:tcPr marL="91440" marR="91440" marT="45720" marB="45720">
                    <a:solidFill>
                      <a:srgbClr val="F7E3E5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Ускорение ухудшит подготовку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3 дня тренингов и порог приёмки: 90% медсестёр сдали зачёт</a:t>
                      </a:r>
                    </a:p>
                  </a:txBody>
                  <a:tcPr marL="91440" marR="91440" marT="45720" marB="45720">
                    <a:solidFill>
                      <a:srgbClr val="FFF0C9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Консультации увеличат AC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Ограничить часы, согласовать фиксированный пакет, превышения проводить через запрос на изменение</a:t>
                      </a:r>
                    </a:p>
                  </a:txBody>
                  <a:tcPr marL="91440" marR="91440" marT="45720" marB="45720">
                    <a:solidFill>
                      <a:srgbClr val="ECE7F4"/>
                    </a:solidFill>
                  </a:tcPr>
                </a:tc>
              </a:tr>
              <a:tr h="8048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TCPI 1,18 недостижим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18242D"/>
                          </a:solidFill>
                          <a:latin typeface="Arial"/>
                          <a:ea typeface="Arial"/>
                          <a:cs typeface="Arial"/>
                        </a:rPr>
                        <a:t>Пересмотреть BAC или срок решением спонсора, не скрывать сокращение объёма</a:t>
                      </a:r>
                    </a:p>
                  </a:txBody>
                  <a:tcPr marL="91440" marR="91440" marT="45720" marB="45720">
                    <a:solidFill>
                      <a:srgbClr val="E5EFDE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0BD39-AF84-44BE-8920-5BE4BDE6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86625"/>
            <a:ext cx="1409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EFDE"/>
          </a:solidFill>
          <a:ln xmlns:a="http://schemas.openxmlformats.org/drawingml/2006/main" w="9525">
            <a:solidFill>
              <a:srgbClr val="CBD5D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D72F3-378D-43C4-B1AD-B61CD791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86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A3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F7A3E"/>
                </a:solidFill>
                <a:latin typeface="Arial"/>
                <a:ea typeface="Arial"/>
                <a:cs typeface="Arial"/>
              </a:rPr>
              <a:t>Контроль через неделю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153FEF-B549-406D-A5F0-A937F478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4580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42D"/>
                </a:solidFill>
                <a:latin typeface="Arial"/>
                <a:ea typeface="Arial"/>
                <a:cs typeface="Arial"/>
              </a:rPr>
              <a:t>Если CPI или SPI остаются ниже 0,90, спонсор утверждает новый бюджет или срок.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8F175-2FB5-48CD-95A4-9776D74C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A73"/>
                </a:solidFill>
                <a:latin typeface="Arial"/>
                <a:ea typeface="Arial"/>
                <a:cs typeface="Arial"/>
              </a:rPr>
              <a:t>КОНТРОЛЬ СТОИМОСТИ</a:t>
            </a:r>
          </a:p>
        </p:txBody>
      </p:sp>
    </p:spTree>
    <p:extLst>
      <p:ext uri="{BB962C8B-B14F-4D97-AF65-F5344CB8AC3E}">
        <p14:creationId xmlns:p14="http://schemas.microsoft.com/office/powerpoint/2010/main" val="1236760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2026-09-22T12:15:39.8400000Z</dcterms:created>
  <dcterms:modified xsi:type="dcterms:W3CDTF">2026-09-22T12:15:39.8400000Z</dcterms:modified>
</coreProperties>
</file>