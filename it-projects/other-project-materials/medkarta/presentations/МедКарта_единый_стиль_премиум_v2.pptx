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0646dcc2f43df" /><Relationship Type="http://schemas.openxmlformats.org/officeDocument/2006/relationships/extended-properties" Target="/docProps/app.xml" Id="R607fbae88cd4438e" /><Relationship Type="http://schemas.openxmlformats.org/officeDocument/2006/relationships/officeDocument" Target="/ppt/presentation.xml" Id="R02d1398c8861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21cd5a5b484e50"/>
  </p:sldMasterIdLst>
  <p:notesMasterIdLst>
    <p:notesMasterId xmlns:r="http://schemas.openxmlformats.org/officeDocument/2006/relationships" r:id="Ra0d8ff3b54314a41"/>
  </p:notesMasterIdLst>
  <p:sldIdLst>
    <p:sldId xmlns:r="http://schemas.openxmlformats.org/officeDocument/2006/relationships" id="256" r:id="R60cddd957f1f4bf1"/>
    <p:sldId xmlns:r="http://schemas.openxmlformats.org/officeDocument/2006/relationships" id="257" r:id="R1c88031476254e3c"/>
    <p:sldId xmlns:r="http://schemas.openxmlformats.org/officeDocument/2006/relationships" id="258" r:id="Re778174730c944a5"/>
    <p:sldId xmlns:r="http://schemas.openxmlformats.org/officeDocument/2006/relationships" id="259" r:id="R27cf25205d0e430f"/>
    <p:sldId xmlns:r="http://schemas.openxmlformats.org/officeDocument/2006/relationships" id="260" r:id="R6212246fde6a4e60"/>
    <p:sldId xmlns:r="http://schemas.openxmlformats.org/officeDocument/2006/relationships" id="261" r:id="R3a2de56955634cd2"/>
    <p:sldId xmlns:r="http://schemas.openxmlformats.org/officeDocument/2006/relationships" id="262" r:id="R0900952a46b040b9"/>
    <p:sldId xmlns:r="http://schemas.openxmlformats.org/officeDocument/2006/relationships" id="263" r:id="R8a07faf823704232"/>
    <p:sldId xmlns:r="http://schemas.openxmlformats.org/officeDocument/2006/relationships" id="264" r:id="R3c7e328c48a94b3b"/>
    <p:sldId xmlns:r="http://schemas.openxmlformats.org/officeDocument/2006/relationships" id="265" r:id="R0bab608e119a4343"/>
    <p:sldId xmlns:r="http://schemas.openxmlformats.org/officeDocument/2006/relationships" id="266" r:id="Rcdb6873f6b0740bc"/>
    <p:sldId xmlns:r="http://schemas.openxmlformats.org/officeDocument/2006/relationships" id="267" r:id="R82d48a86789b4ba2"/>
    <p:sldId xmlns:r="http://schemas.openxmlformats.org/officeDocument/2006/relationships" id="268" r:id="Rfe0288090ff9433c"/>
    <p:sldId xmlns:r="http://schemas.openxmlformats.org/officeDocument/2006/relationships" id="269" r:id="Rc7ebbd018a774fce"/>
    <p:sldId xmlns:r="http://schemas.openxmlformats.org/officeDocument/2006/relationships" id="270" r:id="R95ed3987aaf9495f"/>
    <p:sldId xmlns:r="http://schemas.openxmlformats.org/officeDocument/2006/relationships" id="271" r:id="Rae9966d8858e4eef"/>
    <p:sldId xmlns:r="http://schemas.openxmlformats.org/officeDocument/2006/relationships" id="272" r:id="Rb7f564a23c0b478a"/>
    <p:sldId xmlns:r="http://schemas.openxmlformats.org/officeDocument/2006/relationships" id="273" r:id="R9e5316b7a25949ef"/>
    <p:sldId xmlns:r="http://schemas.openxmlformats.org/officeDocument/2006/relationships" id="274" r:id="Rcdc93b94075a4592"/>
    <p:sldId xmlns:r="http://schemas.openxmlformats.org/officeDocument/2006/relationships" id="275" r:id="R97571886f93d4655"/>
    <p:sldId xmlns:r="http://schemas.openxmlformats.org/officeDocument/2006/relationships" id="276" r:id="R8e11fdb8d1a34bfe"/>
    <p:sldId xmlns:r="http://schemas.openxmlformats.org/officeDocument/2006/relationships" id="277" r:id="R993f1e80384a4dd4"/>
    <p:sldId xmlns:r="http://schemas.openxmlformats.org/officeDocument/2006/relationships" id="278" r:id="R55238a6172f44c10"/>
    <p:sldId xmlns:r="http://schemas.openxmlformats.org/officeDocument/2006/relationships" id="279" r:id="R8a02cef747894475"/>
    <p:sldId xmlns:r="http://schemas.openxmlformats.org/officeDocument/2006/relationships" id="280" r:id="R75b5bf849ef343d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66267a7034ea3" /><Relationship Type="http://schemas.openxmlformats.org/officeDocument/2006/relationships/slideMaster" Target="/ppt/slideMasters/slideMaster1.xml" Id="R6021cd5a5b484e50" /><Relationship Type="http://schemas.openxmlformats.org/officeDocument/2006/relationships/notesMaster" Target="/ppt/notesMasters/notesMaster1.xml" Id="Ra0d8ff3b54314a41" /><Relationship Type="http://schemas.openxmlformats.org/officeDocument/2006/relationships/presProps" Target="/ppt/presProps.xml" Id="R0050f1d7f9604368" /><Relationship Type="http://schemas.openxmlformats.org/officeDocument/2006/relationships/tableStyles" Target="/ppt/tableStyles.xml" Id="R997b4ec293824ea9" /><Relationship Type="http://schemas.openxmlformats.org/officeDocument/2006/relationships/slide" Target="/ppt/slides/slide1.xml" Id="R60cddd957f1f4bf1" /><Relationship Type="http://schemas.openxmlformats.org/officeDocument/2006/relationships/slide" Target="/ppt/slides/slide2.xml" Id="R1c88031476254e3c" /><Relationship Type="http://schemas.openxmlformats.org/officeDocument/2006/relationships/slide" Target="/ppt/slides/slide3.xml" Id="Re778174730c944a5" /><Relationship Type="http://schemas.openxmlformats.org/officeDocument/2006/relationships/slide" Target="/ppt/slides/slide4.xml" Id="R27cf25205d0e430f" /><Relationship Type="http://schemas.openxmlformats.org/officeDocument/2006/relationships/slide" Target="/ppt/slides/slide5.xml" Id="R6212246fde6a4e60" /><Relationship Type="http://schemas.openxmlformats.org/officeDocument/2006/relationships/slide" Target="/ppt/slides/slide6.xml" Id="R3a2de56955634cd2" /><Relationship Type="http://schemas.openxmlformats.org/officeDocument/2006/relationships/slide" Target="/ppt/slides/slide7.xml" Id="R0900952a46b040b9" /><Relationship Type="http://schemas.openxmlformats.org/officeDocument/2006/relationships/slide" Target="/ppt/slides/slide8.xml" Id="R8a07faf823704232" /><Relationship Type="http://schemas.openxmlformats.org/officeDocument/2006/relationships/slide" Target="/ppt/slides/slide9.xml" Id="R3c7e328c48a94b3b" /><Relationship Type="http://schemas.openxmlformats.org/officeDocument/2006/relationships/slide" Target="/ppt/slides/slide10.xml" Id="R0bab608e119a4343" /><Relationship Type="http://schemas.openxmlformats.org/officeDocument/2006/relationships/slide" Target="/ppt/slides/slide11.xml" Id="Rcdb6873f6b0740bc" /><Relationship Type="http://schemas.openxmlformats.org/officeDocument/2006/relationships/slide" Target="/ppt/slides/slide12.xml" Id="R82d48a86789b4ba2" /><Relationship Type="http://schemas.openxmlformats.org/officeDocument/2006/relationships/slide" Target="/ppt/slides/slide13.xml" Id="Rfe0288090ff9433c" /><Relationship Type="http://schemas.openxmlformats.org/officeDocument/2006/relationships/slide" Target="/ppt/slides/slide14.xml" Id="Rc7ebbd018a774fce" /><Relationship Type="http://schemas.openxmlformats.org/officeDocument/2006/relationships/slide" Target="/ppt/slides/slide15.xml" Id="R95ed3987aaf9495f" /><Relationship Type="http://schemas.openxmlformats.org/officeDocument/2006/relationships/slide" Target="/ppt/slides/slide16.xml" Id="Rae9966d8858e4eef" /><Relationship Type="http://schemas.openxmlformats.org/officeDocument/2006/relationships/slide" Target="/ppt/slides/slide17.xml" Id="Rb7f564a23c0b478a" /><Relationship Type="http://schemas.openxmlformats.org/officeDocument/2006/relationships/slide" Target="/ppt/slides/slide18.xml" Id="R9e5316b7a25949ef" /><Relationship Type="http://schemas.openxmlformats.org/officeDocument/2006/relationships/slide" Target="/ppt/slides/slide19.xml" Id="Rcdc93b94075a4592" /><Relationship Type="http://schemas.openxmlformats.org/officeDocument/2006/relationships/slide" Target="/ppt/slides/slide20.xml" Id="R97571886f93d4655" /><Relationship Type="http://schemas.openxmlformats.org/officeDocument/2006/relationships/slide" Target="/ppt/slides/slide21.xml" Id="R8e11fdb8d1a34bfe" /><Relationship Type="http://schemas.openxmlformats.org/officeDocument/2006/relationships/slide" Target="/ppt/slides/slide22.xml" Id="R993f1e80384a4dd4" /><Relationship Type="http://schemas.openxmlformats.org/officeDocument/2006/relationships/slide" Target="/ppt/slides/slide23.xml" Id="R55238a6172f44c10" /><Relationship Type="http://schemas.openxmlformats.org/officeDocument/2006/relationships/slide" Target="/ppt/slides/slide24.xml" Id="R8a02cef747894475" /><Relationship Type="http://schemas.openxmlformats.org/officeDocument/2006/relationships/slide" Target="/ppt/slides/slide25.xml" Id="R75b5bf849ef343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849c9931241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fa674006b461b" /><Relationship Type="http://schemas.openxmlformats.org/officeDocument/2006/relationships/notesMaster" Target="/ppt/notesMasters/notesMaster1.xml" Id="R16f7fa6d37ad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afbfbf5da44505" /><Relationship Type="http://schemas.openxmlformats.org/officeDocument/2006/relationships/notesMaster" Target="/ppt/notesMasters/notesMaster1.xml" Id="R20cce9b75bbf44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322428110433e" /><Relationship Type="http://schemas.openxmlformats.org/officeDocument/2006/relationships/notesMaster" Target="/ppt/notesMasters/notesMaster1.xml" Id="R26996c6dbb6f4b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e72d5fa4954aa6" /><Relationship Type="http://schemas.openxmlformats.org/officeDocument/2006/relationships/notesMaster" Target="/ppt/notesMasters/notesMaster1.xml" Id="R50acf3c0791f40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762e03390416c" /><Relationship Type="http://schemas.openxmlformats.org/officeDocument/2006/relationships/notesMaster" Target="/ppt/notesMasters/notesMaster1.xml" Id="Rfa4ed68c203d47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bc3e25308f455d" /><Relationship Type="http://schemas.openxmlformats.org/officeDocument/2006/relationships/notesMaster" Target="/ppt/notesMasters/notesMaster1.xml" Id="R0719a3b6d97642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95f00c9d94d0e" /><Relationship Type="http://schemas.openxmlformats.org/officeDocument/2006/relationships/notesMaster" Target="/ppt/notesMasters/notesMaster1.xml" Id="Rcd6d0b41c85345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05fb5ff4f4912" /><Relationship Type="http://schemas.openxmlformats.org/officeDocument/2006/relationships/notesMaster" Target="/ppt/notesMasters/notesMaster1.xml" Id="R91e2edc99ff741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0314b569704a56" /><Relationship Type="http://schemas.openxmlformats.org/officeDocument/2006/relationships/notesMaster" Target="/ppt/notesMasters/notesMaster1.xml" Id="R44d65925498e47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e09f47c21e45ee" /><Relationship Type="http://schemas.openxmlformats.org/officeDocument/2006/relationships/notesMaster" Target="/ppt/notesMasters/notesMaster1.xml" Id="Rf79ac00be69948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4ae3ab2aa74949" /><Relationship Type="http://schemas.openxmlformats.org/officeDocument/2006/relationships/notesMaster" Target="/ppt/notesMasters/notesMaster1.xml" Id="R3eeb5a0b2d264f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4f6daebc6740ed" /><Relationship Type="http://schemas.openxmlformats.org/officeDocument/2006/relationships/notesMaster" Target="/ppt/notesMasters/notesMaster1.xml" Id="Rfe3256b3e9bb4c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ff153758b4657" /><Relationship Type="http://schemas.openxmlformats.org/officeDocument/2006/relationships/notesMaster" Target="/ppt/notesMasters/notesMaster1.xml" Id="Red29128c312743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ab015496d54554" /><Relationship Type="http://schemas.openxmlformats.org/officeDocument/2006/relationships/notesMaster" Target="/ppt/notesMasters/notesMaster1.xml" Id="R30fbb01707734d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72b01bdddd4288" /><Relationship Type="http://schemas.openxmlformats.org/officeDocument/2006/relationships/notesMaster" Target="/ppt/notesMasters/notesMaster1.xml" Id="Rcd9c49bcf7914b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398b11635d484d" /><Relationship Type="http://schemas.openxmlformats.org/officeDocument/2006/relationships/notesMaster" Target="/ppt/notesMasters/notesMaster1.xml" Id="Rfc48dc72b35346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f944e59e5047c6" /><Relationship Type="http://schemas.openxmlformats.org/officeDocument/2006/relationships/notesMaster" Target="/ppt/notesMasters/notesMaster1.xml" Id="Re999c0f258ca4da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71b44ffb854425" /><Relationship Type="http://schemas.openxmlformats.org/officeDocument/2006/relationships/notesMaster" Target="/ppt/notesMasters/notesMaster1.xml" Id="R272c115430c541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525f15dabf7417f" /><Relationship Type="http://schemas.openxmlformats.org/officeDocument/2006/relationships/notesMaster" Target="/ppt/notesMasters/notesMaster1.xml" Id="Rceafde58638540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59b584be5041db" /><Relationship Type="http://schemas.openxmlformats.org/officeDocument/2006/relationships/notesMaster" Target="/ppt/notesMasters/notesMaster1.xml" Id="R170b4cb37b6048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17c5b25fda4781" /><Relationship Type="http://schemas.openxmlformats.org/officeDocument/2006/relationships/notesMaster" Target="/ppt/notesMasters/notesMaster1.xml" Id="R6693757873a44a3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8d7fd41a844422e" /><Relationship Type="http://schemas.openxmlformats.org/officeDocument/2006/relationships/notesMaster" Target="/ppt/notesMasters/notesMaster1.xml" Id="R073ea75909f94d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46091053ed4e15" /><Relationship Type="http://schemas.openxmlformats.org/officeDocument/2006/relationships/notesMaster" Target="/ppt/notesMasters/notesMaster1.xml" Id="R1deeb33d889340a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3b4d62a0f549ef" /><Relationship Type="http://schemas.openxmlformats.org/officeDocument/2006/relationships/notesMaster" Target="/ppt/notesMasters/notesMaster1.xml" Id="Rfd9265f3814c47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fa0382f93e4054" /><Relationship Type="http://schemas.openxmlformats.org/officeDocument/2006/relationships/notesMaster" Target="/ppt/notesMasters/notesMaster1.xml" Id="R1555f8835dbe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иллюстративное изображение создано с помощью OpenAI Image Generation. Изображение не содержит реальных пациентов или медицинских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перенесено из исходного слайда «Методология». Формулировки сокращены без изменения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сохранено из исходной 3D-диагностики. Итоговая оценка: 7/9.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семинар 8, задание команды 3. BAC 250 000 ₽, PV 150 000 ₽, EV 120 000 ₽, AC 140 000 ₽. Диаграмма показывает значения на контрольную дату, не динамику во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Индексы округлены до двух знаков, денежные значения до целого рубля. EAC =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0,90 взят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2127bc59548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6de6bd444f4987" /><Relationship Type="http://schemas.openxmlformats.org/officeDocument/2006/relationships/slideLayout" Target="/ppt/slideLayouts/slideLayout1.xml" Id="R2bfae9b87d124c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fae9b87d124c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5b6979f4c42ab" /><Relationship Type="http://schemas.openxmlformats.org/officeDocument/2006/relationships/image" Target="/ppt/media/image.png" Id="R605bb35c6c274bd0" /><Relationship Type="http://schemas.openxmlformats.org/officeDocument/2006/relationships/notesSlide" Target="/ppt/notesSlides/notesSlide1.xml" Id="Rdf1e14d96a5a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25a94f4ba49a5" /><Relationship Type="http://schemas.openxmlformats.org/officeDocument/2006/relationships/notesSlide" Target="/ppt/notesSlides/notesSlide2.xml" Id="R1a0c81258d33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441306997498c" /><Relationship Type="http://schemas.openxmlformats.org/officeDocument/2006/relationships/notesSlide" Target="/ppt/notesSlides/notesSlide3.xml" Id="R01b83fd1c77c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f8b273dae4f80" /><Relationship Type="http://schemas.openxmlformats.org/officeDocument/2006/relationships/notesSlide" Target="/ppt/notesSlides/notesSlide4.xml" Id="R46c1994c17c142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160f4b3b84dcf" /><Relationship Type="http://schemas.openxmlformats.org/officeDocument/2006/relationships/notesSlide" Target="/ppt/notesSlides/notesSlide5.xml" Id="R1d3d27e5df334c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4d5616ef4835" /><Relationship Type="http://schemas.openxmlformats.org/officeDocument/2006/relationships/notesSlide" Target="/ppt/notesSlides/notesSlide6.xml" Id="R392b522fc66849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8347920845a2" /><Relationship Type="http://schemas.openxmlformats.org/officeDocument/2006/relationships/notesSlide" Target="/ppt/notesSlides/notesSlide7.xml" Id="Ra75c1bfd4b1c46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1220385534837" /><Relationship Type="http://schemas.openxmlformats.org/officeDocument/2006/relationships/notesSlide" Target="/ppt/notesSlides/notesSlide8.xml" Id="R086b8951b36844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b94f51c3e44cc" /><Relationship Type="http://schemas.openxmlformats.org/officeDocument/2006/relationships/notesSlide" Target="/ppt/notesSlides/notesSlide9.xml" Id="R87baf3d45672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d633402247ea" /><Relationship Type="http://schemas.openxmlformats.org/officeDocument/2006/relationships/notesSlide" Target="/ppt/notesSlides/notesSlide10.xml" Id="R36d696d7c627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0df5d38314542" /><Relationship Type="http://schemas.openxmlformats.org/officeDocument/2006/relationships/notesSlide" Target="/ppt/notesSlides/notesSlide11.xml" Id="R9d62737c9f424f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3dade126f4185" /><Relationship Type="http://schemas.openxmlformats.org/officeDocument/2006/relationships/notesSlide" Target="/ppt/notesSlides/notesSlide12.xml" Id="R38d16aa7362943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cb46e790e4794" /><Relationship Type="http://schemas.openxmlformats.org/officeDocument/2006/relationships/notesSlide" Target="/ppt/notesSlides/notesSlide13.xml" Id="Rd1b513bcda0e43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0f039892346fc" /><Relationship Type="http://schemas.openxmlformats.org/officeDocument/2006/relationships/notesSlide" Target="/ppt/notesSlides/notesSlide14.xml" Id="Rce2c8276fdb645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ffa77f3e5424c" /><Relationship Type="http://schemas.openxmlformats.org/officeDocument/2006/relationships/notesSlide" Target="/ppt/notesSlides/notesSlide15.xml" Id="Rfbcbd0f4a83240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c71156a04d0a" /><Relationship Type="http://schemas.openxmlformats.org/officeDocument/2006/relationships/notesSlide" Target="/ppt/notesSlides/notesSlide16.xml" Id="Rf19f88d64fff4f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a1ad9b2044672" /><Relationship Type="http://schemas.openxmlformats.org/officeDocument/2006/relationships/notesSlide" Target="/ppt/notesSlides/notesSlide17.xml" Id="R08707b571b6848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80cafd1c241d9" /><Relationship Type="http://schemas.openxmlformats.org/officeDocument/2006/relationships/notesSlide" Target="/ppt/notesSlides/notesSlide18.xml" Id="R90ae171bb8eb4b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8eac2876247da" /><Relationship Type="http://schemas.openxmlformats.org/officeDocument/2006/relationships/notesSlide" Target="/ppt/notesSlides/notesSlide19.xml" Id="R6ea81003340d40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58dbb72d4e95" /><Relationship Type="http://schemas.openxmlformats.org/officeDocument/2006/relationships/notesSlide" Target="/ppt/notesSlides/notesSlide20.xml" Id="R9ee9d19c1d254e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9704718a74141" /><Relationship Type="http://schemas.openxmlformats.org/officeDocument/2006/relationships/notesSlide" Target="/ppt/notesSlides/notesSlide21.xml" Id="R1a778fa00ad142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d7534cef84f37" /><Relationship Type="http://schemas.openxmlformats.org/officeDocument/2006/relationships/notesSlide" Target="/ppt/notesSlides/notesSlide22.xml" Id="Re5882dca6e0140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34fc253ba4302" /><Relationship Type="http://schemas.openxmlformats.org/officeDocument/2006/relationships/chart" Target="/ppt/slides/charts/chart1.xml" Id="Rb32d8704b6bb4a88" /><Relationship Type="http://schemas.openxmlformats.org/officeDocument/2006/relationships/notesSlide" Target="/ppt/notesSlides/notesSlide23.xml" Id="Ra9c765b2dd174a7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ddc28d3ef46db" /><Relationship Type="http://schemas.openxmlformats.org/officeDocument/2006/relationships/notesSlide" Target="/ppt/notesSlides/notesSlide24.xml" Id="Re27f77f1bda940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6f4e91b6043f7" /><Relationship Type="http://schemas.openxmlformats.org/officeDocument/2006/relationships/notesSlide" Target="/ppt/notesSlides/notesSlide25.xml" Id="R17a58f29e81e4ed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Стоимость на контрольную дату,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8242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тыс. ₽</c:v>
          </c:tx>
          <c:spPr>
            <a:solidFill xmlns:a="http://schemas.openxmlformats.org/drawingml/2006/main">
              <a:srgbClr val="197A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3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7A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4E5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PV  план</c:v>
                </c:pt>
                <c:pt idx="1">
                  <c:v>EV  выполнено</c:v>
                </c:pt>
                <c:pt idx="2">
                  <c:v>AC  затраты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4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bb35c6c274b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07019-B20B-44B1-85F0-A82A723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2937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B632A-5BA4-4308-93D4-718A2267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AAB0C-C45F-4110-A619-EF246A39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B8989-C30A-4041-8E5E-09E8E1C6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медицинской информационной системы</a:t>
            </a:r>
          </a:p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отделении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3562C-1DC8-48AE-8865-53FE26A8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Планирование, сроки, риски и контроль стоимости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D54B5-1CFD-4867-9FAE-834463F5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14ECD-C2EA-430F-88A2-7145788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Проектная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725378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FD6D1-0CE6-49DB-A858-588AE373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Почему PRINCE2 подходит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CECE1-9B02-44D9-8B34-C99238A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5CB37-EE20-4A1A-8CD1-95219239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Формальный контроль нужен из-за цены ошибки, числа участников и интеграционных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A240B-F64A-4651-B546-FE250C4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E88ED-77FA-42D4-B238-EB3DFC6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3B3EC-CC95-4465-A3F2-6E4A95B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EEB93-5731-4A0A-A501-B6F8AA7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0654D-CCBB-4EF4-A41B-D35D49FC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47BAD-0E51-43BE-99A9-1C0E6301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приёмки по этапам.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C43CD-8C92-4800-A7F0-6B471B86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85ECD-8B24-4FBA-8C82-FDCD1C70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0F7BD-BB05-4E83-96FE-840D1C2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0F5F3-B2E0-4883-A7C2-FAFD875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проекте участвуют врачи, администрация, ИТ, регуляторы, подрядчик и пациенты. PRINCE2 фиксирует роли и ответственность.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21D63-A6D6-474B-9D7D-FC1E3ADE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BBF0E-D8AE-4164-8C23-A67E0396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55A90-4C96-4B8C-A3A2-DBADB18C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88797-7B93-4132-8B11-893A0A1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Поэтапный запуск и контроль изменений снижают риск ошибок при переносе данных и подключении систем.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A6048-13FA-4DDC-A06C-251D42E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Три типовых причины провала ЭМК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F3DAA-945B-4FCB-981C-E34097C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5611D-ACC9-4C9B-8232-C5A9C74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Нагрузка на врачей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AA8CE-67E6-4325-8E7D-190D0262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489BE-CC48-407D-9AA4-74CEB21F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F1EA4-0C0B-42F3-90DA-7B1900D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Миграция данных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7C214-0FFB-4D14-99A6-A71821C2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175D7-58E3-45B9-9740-7E4C8C53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517C6-78DC-4E6C-A7FD-2D87083A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Нет владельца решений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DBDC9-71F4-48A2-ADF9-A22505F6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Долгие согласования требований и приоритетов увеличивают сроки и бюджет.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0E7BA5-0D2A-42C3-A094-3ABB924C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295263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F6E0B-CDD1-481B-8C90-F7D09813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3D-диагностика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8A31B-F88C-4873-A9FD-B474CE0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1A2AE-7310-491D-81C8-3EF9B2E5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Проблемы распределены по рациональному, психосоциальному и политическому измерениям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E6445-2A56-49F1-B637-77837979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6DFF8-7DA9-499A-9134-4DF1D91F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95825"/>
                <a:gridCol w="4695825"/>
                <a:gridCol w="470535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Рациональное · 3/3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Психосоциальное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Политическое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 Сроки, бюджет и качество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удобства, безопасности и скорости согласованы частично.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4. Цель и ожидания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Администрации нужна отчётность, врачам важно сократить время ввода данных.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7. Власть и влияние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Формальный спонсор решает не всё. Заведующие и ведущие врачи влияют на решения.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2. Изменения требований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 пилоте пользователи могут менять требования к интерфейсу и функциям.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5. Скрытое сопротивление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врачей может поддерживать проект формально, но избегать использования.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8. Конкуренция интересов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Подразделения конкурируют за бюджет, сроки внедрения и приоритеты процессов.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3. Неопределённость данных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старых записей и трудоёмкость интеграции заранее неизвестны.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6. Критерии провала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Риски известны: ошибки миграции, перегрузка пользователей, отказ от системы.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9. Смена спонсора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Проект может замедлиться, но обязательные требования организации не дадут ему остановиться.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24140-120A-4439-8015-8D538B20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1409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A5DB3-4BDB-4E50-9528-32300489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Итог диагностики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505DC-CC47-43A0-9877-EBC7EB03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5152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7 проблем из 9. Оценка совпадает с предварительной оценкой куратора.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DE4E2-A76D-4EDC-BCFB-D1C18B89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227539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49BC67-451B-4561-8425-651B077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38CDA-2022-4002-ABCF-F188087D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4DBED-ACB4-4F5F-93A6-5ECAC437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Цель и границы двухмесячного пилота в кардиологии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9462-23A9-432B-8744-83D7D5DD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F1BC0-63D9-498C-A5D6-17F1AB5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16F6F-9C92-4DE1-BCC5-8601CDA4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  Наименование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369F6-BF83-4BA6-A79D-6A63BA55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кардиологии. Формат: пилот на 2 месяца с отдельным решением о масштабировании.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90405-1AF3-4716-840D-63A85CF6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  Бизнес-обоснование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A7B7F6-C566-450B-B9E3-F7F9956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Электронная карта должна сократить время приёма, повысить эффективность врачей и уменьшить среднюю длительность визита.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550728-4803-4B5F-8EE8-096C999A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  SMART-цель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37C6A-D2C9-4E07-8379-C9C12A62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с помощью электронной карты и расписания.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635AA-A5FF-482D-8389-6FBA238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6A94E-7A77-4287-9E67-93BB0AEB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Ограничения и допущение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10F161-71A3-40A9-A824-6CE0D128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6572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D6620-6427-4077-BBA0-D752DE7B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3B237-480A-4484-A7E5-0EA0BB3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проводится только в кардиологии и длится 2 месяца.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38832-B205-4D6B-8C94-AD6028C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66982-2FAB-41DB-9F8B-F01D6404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0310E-D157-451F-90DF-9792C1C4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Внешние интеграции не входят в текущую фазу.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34D84-A1C6-41ED-9EFA-B7F425E1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38D28-6230-4C3B-959C-1527D04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C752B-2266-47E6-94C1-6F2D25F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0547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обработке персональных данных обязательны.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7691C-B7E3-4ABC-9F66-6EAE58D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6044A-5000-4AB4-A4A7-EFFC30EA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C3354-ED6A-4768-959C-61BDCC09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Предзаполненные поля врач подтверждает вручную.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92CEE-5B1A-4344-8AC1-F665B76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DE16F-9B41-46F7-9FE8-9837714F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913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AF849-1B8A-4EB1-A201-F217CC08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E5AD1-BF9C-4A13-A941-CC9DE54E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532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0D276-37CB-4BA4-92D8-7A1D045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Границы по MoSCoW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2AF33-0B08-4205-AFF8-698E3FAA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6953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9241A-681F-4D22-92CB-0757415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B2BCF5-9075-4C76-87C2-92A5FE5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Карта, автозаполнение с подтверждением, расписание, ручной ввод анализов, защита ПДн, замеры, тренинги и отчёт.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61BD24-4A03-4E72-8192-DD2BBCEC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EF12F0-873F-4C71-A8BF-15638B9B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D746E-2A38-4CFB-8902-A1FC0FB1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1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E0D0A-C1A8-45EB-89C3-58A68688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E5CDC1-F2E9-42DD-87C9-2A9965E9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0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ФАЗА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83916E-16E9-4066-8397-D0D0A844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78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F65721-8107-4ADD-85AD-460F35A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331685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5B49ED-6CFA-44DA-AA4A-CED5D06A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65E4E-8812-47B3-9693-713D8E5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B955C-8EA7-4DD3-8C51-66977DA8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FEDB3-90B0-48A4-866F-87A3D8E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71A5B-CE2E-48BA-A5D6-F527B39A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62364-5F8C-48CB-9052-353FDEC0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Вехи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A56E9-997A-4EC0-840F-644CA7BE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F30A3-6B15-4CE1-BF99-120E8798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6F4D8-AFAA-40EF-AA6F-F416A38D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Настройка карты пациента 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3E313-580D-4AC4-B9DD-5AC0BC4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418CC-8DAA-4E88-9DAA-E9F962D1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102EE-0CB1-49CC-A532-A6D865C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Пилотная эксплуатация, ручной ввод анализов, замер времени и итоговый отчёт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0810E-FF2D-4230-9AD0-C66E388B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0700D-BD48-46D8-89A1-F3E3515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33A54-6663-49B0-BA21-2851A49E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исходном брифе сумма не указана. Финансирование нужно согласовать с главным врачом и ИТ-отделом до утверждения устава.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FFBE6-F197-4EA9-9A64-FB2DB8F6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6721C-00C6-431A-A25B-9C474B1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Куратор и руководитель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CC6F-0787-42B3-ADFB-F9BDAC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 утверждает бюджет, вехи и решение о масштабировании. Администрация должна назначить руководителя проекта и закрепить полномочия.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52AEA-DD17-4336-9085-BE55D45F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DBBF3-8492-4028-826B-0362F316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82BF7-79EE-4A01-99EE-1710496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врач, заведующий кардиологией, ИТ-отдел и медсёстры. Вендор ЛИС не участвует в пилоте, но может консультировать по фазе 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84B64-0CB7-4301-BDE5-EC8BE214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Критерии успеха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DAA9D-32C3-4CB6-B526-DB0C43E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3ABE2-68BD-41E8-B562-3736767B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4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Время приёма сокращается на 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B961A-E0B8-41AC-8121-9C11045A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43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Система готова к работе в согласованном масштабе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12283-C691-49F7-A376-67ACDE63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437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ПДн защищены, базовые показатели измерены до и после пилота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BC1FCB-A134-46CD-8DD2-9F88DF24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F7DAF-FEAB-4DCF-9A16-95193E92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204063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812CA-EBE0-4486-A7A3-43E0BB4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1BDD3-2D41-4E95-8175-2D1CD8F6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C480-2546-435E-8AB8-7C91382A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Разночтения брифа переведены в решения и конкретные планы реагирования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C94BF-B045-4EFF-97ED-73201CA9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3BCC9-F0AB-4B6F-9299-E6808B6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4B6BB-DB3E-4BBD-9DDD-F4901FD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Масштаб и срок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4EBEE-243B-4C41-BF67-3694FC60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Бриф: вся больница за 6 месяцев. Решение: пилот в кардиологии за 2 месяца, общебольничная проверка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99EFE-C530-4BD2-815D-559BC79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Автозаполнение и ЛИС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A63A8-F829-4637-A6B6-DAA357A3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ЛИС относится к фазе 2. В пилоте используются предыдущие визиты в МедКарте, врач подтверждает поля, анализы вводятся вручную.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4A723-5D5C-4165-8334-D5FA987E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Цель и исходная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095B6-C649-451D-A59D-3D1694D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Цель - снижение времени приёма на 20%. Решение: базовый замер до запуска и повторный замер по той же методике.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D2B0-9BEF-4F74-8CD3-40AC05A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14097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6667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процесс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3EC6E-DF65-49E5-9033-8F0D1D72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905071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4D984E-0047-42C7-B5FD-F5332D1D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E53A4-0F6D-439C-9EAF-314E328C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97EF6-9CB3-4D03-8E76-C35126F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влияния, проверка полноты и вопросы для трёх ключевых групп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6CCAB-AC90-43FE-ADF1-FE1EAC5C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2F0D9-515A-4C1C-94FF-95DA7851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6A311-5A7E-404B-9060-41D8A568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Влияние и заинтересованность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BB152-4BFA-4804-B39E-0F10D78D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32F1A-402A-4918-8EB2-B53896A1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EA0AB-7B3C-47AD-AD18-3EBE12E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4DE06-9C6C-4EB5-AD69-B98C5814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01835-4232-45EA-81BE-223D6144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и руководитель проекта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BC013-0715-4819-9437-4843F365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41D4F-495E-4FB4-AC3C-40E4928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15A7B-9A4D-4770-BAD7-1211FC70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3A285-D1C4-4AB1-99EA-4985C31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72ECB-867C-45B7-AF8E-90124AAE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4D319-61C5-4C5D-B901-2C9D88F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F6720-EDAB-4FE5-B8DA-F1ABBEB0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Проверка полноты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67222-A513-4CE0-8483-B1A5E8BC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E02A8-B0DD-4968-9AAB-537E05B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1. Финансирование: главный врач и финансовый отдел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83DC6-204C-410D-8824-B6E197B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2. Ежедневные пользователи: кардиологи, медсёстры, регистратура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CC642-C974-4383-9CA7-BC27EC5F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3. Поддержка: ИТ-отдел и поставщик МедКарты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9CD5C-64FA-49B4-AE76-62EE05CA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4. Блокирующие стороны: спонсор, ИБ, заведующий отделением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CA58A-DB25-4342-8987-F868C4B7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5. Данные и интеграции: ЛИС и администраторы 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691C85-0458-4956-93FC-F605BF00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6. Косвенно затронуты: пациенты кардиологии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EB0BB-AC0E-4E0C-934D-D8F7FAF4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0029B-12E1-4352-A54C-E89B15B1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Вопросы для ключевых стейкхолдеров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8E7ED-11E4-4957-8225-4C23659E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Главный врач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952B0-C983-415E-896E-A561ACBD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Что будет провалом пилота даже при снижении времени на 20%?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 каком риске для бюджета или данных вы остановите проект?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BB62D-C29C-4783-A79F-33E8199D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AF2E73-3676-445B-AFD7-DEA5DCD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Какие изменения вызовут наибольшее сопротивление?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Кто реально определит, будут ли сотрудники пользоваться системой?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D4A0A5-949C-4143-9D58-7BDF9ACD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ИТ-отдел и руководитель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E137DF-6D04-4088-8E83-6A846169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Какое условие безопасности может задержать запуск?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Какая зависимость от подрядчика или данных пока не отражена?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C1789-75D2-41CB-B050-7ECB13F8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34559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F4F7B-3A45-41CC-ABFB-40A6DE7A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65F2E-C952-4134-96BD-DE5D6E4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D241B-4ED2-4351-AD06-B1285026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Ответственность на этапе планирования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5AE05-5C88-41B7-A022-083AF9AF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9B503-69CF-4BFA-BFB5-366B20AD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131445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862012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Алимова Анастасия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Владеет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/ Product Owner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Гусельникова Кристина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результаты, снимает противоречия брифа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Базанов Максим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Долотин Артур, Суворов Максим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Спонсор и внешние стейкхолдеры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Scope Out и критерии приёмки, выступают точкой эскалации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60AA2-A1E9-4CE9-8E06-4168DA4D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669592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7C170-8335-4A44-9E6F-51981AE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D1EB7-675F-4BA1-AC8D-3A3A5522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46721-D2C3-47D0-90B5-4DE8E9BE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Шесть проверяемых результатов двухмесячного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75759-0E59-4A57-9839-2CD5E4B7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A233F-7EED-426E-801A-C9C798C1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429000"/>
                <a:gridCol w="97155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передаётся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карты. Шаблоны кардиолога. Автозаполнение из предыдущих визитов с подтверждением врача.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отмена. Представления «день / неделя». Фильтр по врачу.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 с валидацией значений и единиц измерения. Прикрепление сканов PDF / JPG.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Роли врача, медсестры и администратора. Журнал доступа, шифрование, резервное копирование, согласованный чек-лист ИБ.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двух групп медсестёр. Инструкция, памятки и зачёт по базовым операциям.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Отчёт по пилоту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до и после внедрения. Выводы и рекомендация по масштабированию для главного врача.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D1B5E-9351-40B1-8270-2B52F2A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661979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CA9C6-3741-4D0F-9A84-B2BEDD65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CC9B9-491A-4F5C-882A-B031024E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7EC0-0A29-4A65-830C-F5E89016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Каждый критерий связан со способом измерения и целевым значением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5F046-B5F6-4351-A50B-8295284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C55DE-A36D-4B52-96AD-98F93985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857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Контрольный замер в последнюю неделю против базы первой недели. Не менее 100 приёмов в каждой выборке.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снижено не менее чем на 20%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карты с неподтверждённым автозаполненным полем должно быть технически невозможно.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100%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прошли обучение и сдали зачёт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ИБ и выгрузка журнала доступа.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закрыты, журнал фиксирует 100% операций, 0 инцидентов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данных, открытие карты не дольше 3 секунд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C1111-8799-418D-8560-7ACC7CC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646760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8E3A7-A08B-4194-877D-40C4232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0FE8D-BB7C-4DCF-B2C2-85A60192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07EA7-264F-4069-B8DE-E92E369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Приоритеты MoSCoW отделяют обязательный пилот от второй фазы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AFA2D-46B6-443A-85F9-4A422598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35024-A028-498E-8477-3BFCBBD6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B5533-B67D-40ED-B7CA-F81D0EA4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05FD3-8D8B-409D-857B-51D8407C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EA1D7-9EA7-4E9E-B014-C348D67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1081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шаблоны кардиолога, автозаполнение с подтверждением врача, расписание, ручной ввод анализов и сканов, защита ПДн, развёртывание в кардиологии, два замера времени, тренинги медсестёр, итоговый отчёт.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6B2D9-68C9-478E-90A0-007214D9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409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459B-3FF3-4F85-B8D2-F27D0267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0AE24-55EB-4DF0-AE96-B9D4CC3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Инструкция и памятки, зачёт после тренингов, представления «день / неделя», фильтр по врачу, валидация значений и единиц измерения.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B1AF9-E99A-45B0-8A7B-CFB58550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09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3AA2E-0EFA-4B90-886D-897025FF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80BC2-4B4E-473C-86F6-B16DB0F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2917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сверх профиля кардиологии. Сбор обратной связи от врачей внутри системы.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76441-495F-4BCE-8AB6-FAD2D20A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409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01DB6-7BED-4F2F-B653-007AEEAB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WON'T HAVE THIS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5F13D-117F-4974-997D-CCCE54F5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1081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 1.2.5, интеграция со страховыми, телемедицина, масштабирование на другие отделения, эффект по всей больнице за 6 месяцев, миграция бумажного архива, мобильное приложение.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59B67-6DB1-49B2-97AD-68DD5AF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535541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2C1229-0BB5-47FA-9C1F-594C05D1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Допущения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6FF41-9F3C-4E28-9BC2-BA640F5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F8C3-3F5E-418D-B7B2-F6582D8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Условия, без которых пилот нельзя корректно оценить и принять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6E230-EAB1-40BF-B96A-E59BDE8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7B5B9-6608-411A-9CAA-1058C875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73E0D-D642-4F6C-ACF1-9C7C6D9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7E3B1-D3E2-46EF-81C8-519BCD25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F0636-A33C-43E8-AF20-BABB9C8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191BA-0427-46F1-919E-922716C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6905625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5F623-CD26-4B01-BF34-417027EF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4E702-B102-4EDE-96FB-0EE6B81E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предоставляет серверы, учётные записи и доступ в контур в первую неделю.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FA411-7CA0-4B2B-AD88-675D6A9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DFE7B-5E01-4D3E-94DD-52DA4360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61C39-754F-48C5-9C8D-1690063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согласовывает график тренингов и выделяет медсестёр двумя группами.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7107E-79B3-4436-933D-92072FEB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E6738-1F5E-450E-A617-D10B744D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BA1B5-DA2F-42F7-847F-08773208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1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Базовый замер времени проходит в первую неделю. Без него цель −20% нельзя подтвердить.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1AB3A-8DCC-4189-BD08-4DF139C6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506FE-04EC-4F65-892B-2D48EC1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E6C1A-E720-4F1D-980C-EF9E55B0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Согласия пациентов оформляются по действующей процедуре больницы.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C6661-D70E-452B-8980-1712E3A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F2B21-C2E4-468A-A642-51DA37E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1E91C-EC5E-4F38-8F9A-F592CB8D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Вендор ЛИС не участвует в пилоте. Его участие относится к фазе 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5413C-83EE-478F-9052-AF30384A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B2637-22A0-41CF-B5A4-1351B791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11C0C-4A14-4D17-A7C1-078DA5ED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722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Автозаполнение использует предыдущие визиты внутри МедКарты, а не внешние системы.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CAE69-87D1-4726-8109-7A1C524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341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228252-F37B-4D31-99B8-6E8AF84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0C7020-DB5D-47EA-843F-ED5E240E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Срок: 2 месяца или 40 рабочих дней. Дата окончания не сдвигается.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CBE86-DEBF-4D72-AB2A-9DDCA8A7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41BC2-FDF0-4E34-A3B1-C78850D9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696F1-124A-4CE4-A89E-5366705B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337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Масштаб: одно отделение и ограниченное число рабочих мест.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6F3AC-43B5-42C4-8C7F-82545B2E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B9D1F5-4342-45B8-9EC4-647E348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033752-E8D4-4E75-9E4E-8E8D1BD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ПДн обязательны и сокращению не подлежат.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D29927-B564-4180-B40B-2F607157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38F548-2D2A-4712-9B24-2667F0E4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773578-05BF-4F14-8F6F-F2D57F2A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Тренинги 6 чел.-дней включены в WBS. Перенос печати в фазу 2 освобождает только 3 чел.-дня.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D4AAA1-BFBF-4B3D-9E19-8448E405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1492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4EBF1A-347E-4542-B2FB-33BDCA4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518E1A-3C3D-4016-92B7-2DE0CCED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26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Лимит: 100 чел.-дней, из них 97 работ и 3 резерва. Использование резерва утверждает спонсор.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C7C46D-CD8D-461A-B96C-A9768425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9245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5AB09A-A37E-45D4-BBB8-1CE1D398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524BC-5ECB-43E8-A823-AA94FE2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3722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Денежный бюджет требует отдельного согласования.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E38A1E-4096-470E-8BE5-7FE6BBB4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7341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385142-A61D-4873-9D30-DAB562F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0801313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DA66-7182-4B71-8EA7-E65201BE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Исходные данные сетевого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B2906-03DC-4D87-90B0-A03EA86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C9CFB-C1F1-4C77-9C52-7221ED41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Длительность отражает календарную работу, WBS - трудозатраты в человеко-днях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009F1-5F82-4BEE-AFA5-B358DFDB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D6C36-0235-437E-9B5D-8BC49628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12382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2476500"/>
                <a:gridCol w="2952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4160A-E1AE-47DE-817A-1C06F762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38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63106-7DC6-4DB8-BB73-770DAC6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199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Параллельные работы нельзя просто суммировать. Срок проекта определяется сетевыми зависимостями и критическим путём.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448B2-804A-4B5F-98CC-091EF64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5509209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2825E-C867-410E-A5A5-084188F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Сетевой график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0E373-5907-42C3-9578-5C6ACE28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095BE-B448-4479-939C-EEC0A83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Критический путь проходит через A, B, E, F и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7ADF6-0AEB-4D0A-8160-595E8BDB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CB90A-54F3-4B08-A90E-A601A2E1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0F4CE-B1E9-4CE8-A6E6-EF8C0A3F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7A77D-31D5-4CAE-BAA0-47B2979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Подготовка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DD94C-66F1-44AA-BF85-51E36E2A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дн.   резерв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33DD4-70E3-4333-8632-A77BDAEA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D45B7-E453-49D5-94BC-E31136F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B  Карта пациента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8F3B2-3D4F-40B0-AA5D-0BC5DCA5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 резерв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84F7C-3B04-4201-950E-BEEEAC7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F50321-DBE8-4D08-B7BA-BEDE4FA9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7167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C  Расписание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приёма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C95D8-C6A1-4375-9EA5-B1CD439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 резерв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DD98C-6484-4683-A5E8-05A4F69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8B44C-682D-419E-9DCD-987BAEB4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  Ручной ввод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DA34D-2FAE-4F3B-92E8-2FB5068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 резерв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2AA8B-9CE6-47E6-8887-4F8B2664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208F8-CC1B-45C0-889B-AF3632C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14925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  Защита ПДн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D83DF-2DAE-415F-AA64-8C51160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695950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7 дн.   резерв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61CA7-957D-49B9-9F6C-28938008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047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6F013-1B40-4283-AB7C-61A0590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43300"/>
            <a:ext cx="1743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F  Развёртывание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96F94-BF30-4A62-909A-92F824D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24325"/>
            <a:ext cx="1743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 дн.   резерв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081E7B-2E3F-4704-810E-9AECA72C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381375"/>
            <a:ext cx="2428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18A3CA-B20D-4321-ABF5-2B75B48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543300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G  Эксплуатация</a:t>
            </a:r>
          </a:p>
          <a:p xmlns:a="http://schemas.openxmlformats.org/drawingml/2006/main">
            <a:pPr algn="l">
              <a:defRPr sz="13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приёмка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17248-518B-49A4-90E8-A9EE69D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4124325"/>
            <a:ext cx="2124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 резерв 0</a:t>
            </a:r>
          </a:p>
        </p:txBody>
      </p: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19375" y="39528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6" idx="0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595438" y="2381250"/>
            <a:ext cx="4024313" cy="1000125"/>
          </a:xfrm>
          <a:prstGeom xmlns:a="http://schemas.openxmlformats.org/drawingml/2006/main" prst="bentConnector5">
            <a:avLst>
              <a:gd name="adj1" fmla="val 0"/>
              <a:gd name="adj2" fmla="val 22857"/>
              <a:gd name="adj3" fmla="val 94320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619375" y="3267075"/>
            <a:ext cx="3000375" cy="685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6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595438" y="4524375"/>
            <a:ext cx="4024313" cy="1000125"/>
          </a:xfrm>
          <a:prstGeom xmlns:a="http://schemas.openxmlformats.org/drawingml/2006/main" prst="bentConnector5">
            <a:avLst>
              <a:gd name="adj1" fmla="val 0"/>
              <a:gd name="adj2" fmla="val 22857"/>
              <a:gd name="adj3" fmla="val 94320"/>
            </a:avLst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9528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95875" y="3952875"/>
            <a:ext cx="523875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9" idx="0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071938" y="3152775"/>
            <a:ext cx="4500563" cy="800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2" idx="3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667625" y="2381250"/>
            <a:ext cx="1928813" cy="10001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39528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8" idx="3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7667625" y="4524375"/>
            <a:ext cx="1928813" cy="1000125"/>
          </a:xfrm>
          <a:prstGeom xmlns:a="http://schemas.openxmlformats.org/drawingml/2006/main" prst="bentConnector2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0620375" y="39528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4E5A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F9433-41D3-4906-A8A7-842C8D40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81800"/>
            <a:ext cx="1352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451791-8FBB-4E04-9ACF-96FD7061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104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CFFE61-48F0-4775-9567-41E5051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953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D5E544-2515-4B89-8193-27FC0E01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818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5 + 10 + 7 + 6 + 10 = 38 рабочих дней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A29234-499A-4E68-8DA5-94C9DFF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968370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B87D2-61C4-47C2-BB94-3533887D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 и резервы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C9703-7389-47B3-A54B-96A9A5D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210B2-CE28-42EC-B79E-D42D0D9F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лимите 40 рабочих дней остаётся 2 дня, работа D почти критическая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0B2EB-51E3-4F6A-98E7-B98E57D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0E209-F60A-4D2B-9B95-E0A622D5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B7C48-67D1-48B3-983E-EBD34CAB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B4758-CB65-487D-BD43-02BB446D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Ключевой 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26499-AA68-40CA-9922-C37F5FC2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527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ADCDD-1E04-4A39-9264-65D23030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051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B5D08-7248-40E6-858E-241CCC9A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E3A63-E9B6-4EB5-BBA4-5074A948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4C375-925C-45EF-B25F-EA62D2D1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76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51CB82-86B6-4277-AE8E-7D7657F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D имеет резерв 1 день.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имеет резерв 11 дней.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 лимита остаётся 2 дня.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CF6FB-D053-4BE3-9A21-39C11A8E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9804C-FC6E-49BB-B6BD-E2744546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Работа D требует контроля: один день задержки делает её критической.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62B3F-5879-49FE-A1E4-98DD652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6534337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9F121-B851-4A22-A930-5B0B78BA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DSM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8BA20-2006-4024-90BC-495F43D0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56DD7-86A7-43D0-931A-E2C66629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быстрее показывает узлы с большим числом связей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A047C-3A2D-4172-AF15-C492B028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C317-2267-42C3-A0C3-597654B8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162050"/>
                <a:gridCol w="1162050"/>
                <a:gridCol w="1162050"/>
                <a:gridCol w="1162050"/>
                <a:gridCol w="1162050"/>
                <a:gridCol w="1162050"/>
                <a:gridCol w="12192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  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34449-F67B-4E75-88F8-9496B0AE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1409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51347-00CA-4F93-B4FF-1D88992E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0425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A запускает несколько веток, F собирает их в одну точку интеграции. Сеть лучше показывает последовательность, DSM - концентрацию связей.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31419-BF8B-420B-99B7-F9848B75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4623612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A6163C-BE15-47C2-B922-13A34D8D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Проверка WBS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C8697-5EAE-4632-A094-82F01E7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ED0B3-90B7-4AAA-8AA9-37A4A18F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Структура переведена из набора действий в проверяемые пакеты работ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AC000-6752-4462-8E3D-30CEC57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52F86-BC52-420A-9A46-1B98D6B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409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524500"/>
                <a:gridCol w="5810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исходной WBS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оставалась внутри пилота.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пересекались с реализацией 1.2.3.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1.1.3 - согласованная спецификация. 1.2.3 - реализованные шаблоны.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смешивал действия, результаты и группы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пилот, раздел, проверяемый пакет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был назван конкретный результат или ответственный.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0F677-C10B-46D2-935C-2B487DE7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409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4B9F2-DA36-49F1-8369-E98D4318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9D011-7195-4DFD-8C7E-382286D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C3CA4-E191-4591-ABFD-140D430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Story: тестирование, печать фазы 2 и тесты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E7111-8BC0-428C-BABB-8B88378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E8F55-1834-4A58-A87E-FAC2E4F4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модель данных, CRUD, шаблоны, автозаполнение, результаты тестирования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3ED48-557A-416F-8760-A67D2FEA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5522951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54D608-F2BD-4224-B3F1-86458C78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подготовка и основные модули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40031-80BD-4CD1-8445-248D2B3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D901-630E-42A2-926E-D921F76D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97 чел.-дней работ. Сроки эпиков взяты из сетевого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47287-089A-454C-842E-464AF83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22EE9-F4CF-47B5-8277-93385B9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E478D-58C7-4A03-B433-8243455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B58DD-780E-4AC5-BC01-6D30577D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 Подготовка 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93D09-BE9D-4955-8839-407F5F4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10,3% · срок 5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98348-1845-4636-A8C3-FF4457A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2AD27-9695-47F3-8B86-99048C0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6B6C1-2C9C-4179-AAA3-BE65162B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A6329-CC89-4876-830D-FC63BDD2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7B3C6-CB97-426E-B48E-23519DE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1.1.2 Базовый замер времени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90A44-11CB-4690-810F-CF479972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 + заведующий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87390-2720-45B2-8DBE-6C65C911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FA35E-9F13-4232-85A2-F2170E9B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7914F-BD04-49DE-8D62-4D4F8FF6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F4F85-D9C0-4021-A38B-95A83A1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22E05-2873-40F3-8904-15380AA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CC77D-0DE0-4843-8CE9-8DD272E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17BAA-B802-4F8A-93DF-984A2127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18521-AB91-4B65-8E06-0ADD16E9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06011-E9BA-4881-9318-18D8D21C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27,8% · срок 10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5F388-E0E6-407A-98A6-15F08ED3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16D898-0C47-436D-900D-C2818E72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92DB3-0882-4AB1-9AC6-6C925BC0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39454-AD16-4D4E-A091-95ECB72C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594A0-700E-4D09-A10A-4F40C1D6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1F507-99AD-41C4-B868-795741B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8EC9A-78A2-4B32-A346-5296CF4F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6C695A-0C02-4744-8B4D-B3825E0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0071C-F502-4727-808A-1A5C2A82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4F7891-DEA2-45BC-A374-35F2BA50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B799F9-73D8-49DC-B5D1-C078AD20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1.2.4 Автозаполнение и подтверждение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4208EC-2834-4157-9A9C-51300F3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 + Frontend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4D2C27-2610-446D-BF90-F480883A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10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1FDC1-A0DA-4D4D-85BE-1AFB0B6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24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770277-9108-42B7-AFE3-E7328C0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24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755A2A-4F12-4065-917B-4CC523D7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9670B2-7F98-4A95-89D4-63872F35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 Расписание приёма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26BEEF-776B-4782-AF2A-59F65A55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15,5% · срок 6 дней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0695CA-4011-4091-BDBD-FA9CD16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5443D8-668E-48C1-B8D8-4EF0FB47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0D478F-8029-4038-ACEC-7D2B63B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C7AF0D-4F40-40B9-A5DC-DDFE77E3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DC1C91-F5E4-4A59-BDB2-83C02E0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1.3.2 Запись, перенос, отмена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746ACD-D7E8-4228-BB14-CE4991F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4AF9CE-3BC2-4F01-8567-07642993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BB5F1B-997C-4F2F-BC8F-92472BD9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1.3.3 День / неделя и фильтр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90D73B-5322-4035-8DF6-335E376C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88D724-56B7-46F9-A335-465D62BE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17A77A-F8B7-4CDB-8483-1C4D0601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E27B6E-00B3-4908-BA9B-5BC4E887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F4BF0D-319B-471C-A64D-AB72A060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15250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ID 1.2.5 сохранён за работой «Печать и выгрузка выписки», которая относится к фазе 2.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6E84CE-534A-4109-8E88-94CF1C52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5962096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4A8BC0-B2BE-40DE-A871-9041FA4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безопасность, внедрение и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1EBEB-7C9A-4F54-9A96-1BFC93E4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8F988-D832-4206-B386-C802BFE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Доли рассчитаны от 97 чел.-дней. Резерв 3 чел.-дня учитывается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65DB4-D419-4319-976B-DBA2128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8ECD8-0176-4A75-BD12-0AAA2323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64EB3-4D34-4412-B22F-57D2AA2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67051-D39C-41DB-9D8F-FE5885E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 Ручной ввод анализов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E53FD-A4A6-4CA3-AD6E-F2E46E1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8E63D-AC02-4922-A1BA-874A54A2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509A8-8E11-40C2-8312-031292C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6A8BD-AF75-426A-981D-D8046A8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2241F-075A-47AD-B212-A880FE2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C8718-2E0A-44B2-A9BD-A5410B01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48E58-7AF4-4E1A-9465-2E84FED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C3960-DE60-4E0A-9A14-B1137186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1C3EF-21D1-4DBD-8BD7-2DF6705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2788-28D6-4EA1-9419-6732FEE7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35BA20-5769-4870-AC2D-AA4D128E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5AE9A-B3F5-4003-8475-3BF2437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8E312-80F9-4EC4-BD8F-085344D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12C55-801E-489F-8C6D-9EE39586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2A79F-2671-4A69-9E76-C200E90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 Защита ПДн 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F57BDC-09E4-4651-BB55-D9CAB44E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13,4% · срок 7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1A307D-189E-4571-96C8-8EE73E46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4550A-42BE-45D7-A368-BD6D18E7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2BD32-66DB-4C54-B543-26ED357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5AC81-8FD3-4D77-BA6F-CB4C8AC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13607-567E-4FF9-9916-CA3B24B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EF3A4D-E303-43C5-90B2-F483D1B3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568300-C515-44D0-8341-407B1BC1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9E1D43-DBF2-4E20-A359-A74D178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CDB95-15FD-488E-8C4E-F40B89C3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 +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E2F54-99FC-4714-8EED-9181382B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6E89DA-46CE-498C-BEA8-447A9706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C9A866-C313-48AE-BEAC-B468887A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71C716-E500-4A99-A2A5-0F4B297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AF97C6-4B74-4928-AC3F-C64B400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 Развёртывание и обучение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403E2-9301-498D-A8CE-85A4374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D0D29D-D77F-455C-BAA3-8359A29B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E53BCF-E390-4475-B3D2-1B9D0EF8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1.6.1 Развёртывание в отделении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5A27BA-754C-440F-847B-A200844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8D02F-0D6A-41E9-A2EC-45E2A7A3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2C55F4-6BA6-4C7E-9FBA-B1D62314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D11863-38EA-4D0C-9FFE-71BD8465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A149B6-2EEB-4BF4-A23A-175DCEA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F2E5DD-5500-4E20-8BEE-D1F9343D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1.6.3 Очные тренинги медсестёр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0CD389-072F-4425-B7BE-F44ACAB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AA9A28-458C-40E7-9502-3A8E713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6953AF-D460-439F-A01D-ACCCC07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6A5732-FFC1-4251-BAAB-5E12CFF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5A508F-1576-461E-99EC-E47DAB1C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233343-E23D-4513-AAEA-285699CC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 Эксплуатация и приёмка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CBF4AA-D1BE-4E7F-A352-700D1B90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8,2% · срок 10 дней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0614AE-FB04-4911-8C29-5C67DA49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70D5F0-B1BD-49B1-A011-26DB693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95FDE4-D19C-4987-AAE4-345F0AD1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718D97-BA8F-41A2-BC40-6702162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E9F1F8-6163-42A8-BB6D-2B836A80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78EA26-0D10-435D-B433-EFE7B75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50AE76-BCC3-4E3F-8FC4-713FF20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BB8167-D8D5-4A95-8618-C0740337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1.7.3 Итоговый отчёт и рекомендации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0C474E-3E08-4A3A-BD54-9DE9C4E8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1D0961-CC91-4186-98EB-676C0C8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05E4E1-F8AC-4A19-B382-C97B2A67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1.7.4 Приёмочная встреча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FB1B1F-2315-481E-9ED0-FE15DF7E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2F748B-C618-4FAC-8BD4-21C34C73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2868912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5FE3B-24F8-4C6C-A4D7-82E4DED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7A0EE-D6D9-42DA-AFFB-0C1CAD3C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6B3D0-A6F8-457C-9E1D-1245864D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Пересмотр четырёх работ проверяет устойчивость критического пути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C1776-4C7F-44FB-BF98-2E7E8A9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F4751-9BEC-427A-887D-B3976DB0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12954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5524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Недооценена работа со сканами и валидацией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A3A8-B91F-480F-A34B-0B02848A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Почему выбраны эти работы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D9F6A-532C-4FDF-BC0E-DBD2156F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295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6B216-3189-4665-9FD9-4B52957C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B и 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AFDC5-750C-4C83-A659-C11B16B0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9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критические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F1134-7B5D-4E85-9CFA-A41C241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8221E-A222-485F-BD3D-E80F591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9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почти критическая, исходный резерв 1 день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92F9C-CA13-4325-8E2C-534EF34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8E64-AD70-42C8-8579-641A7D6B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некритическая, резерв 11 дней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C9F1F-5D3A-4E0F-91A7-9308B40D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0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сети только одна почти критическая работа. C включена для проверки чувствительности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B4B4C-4110-42FB-8CDD-4F846D52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1715210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3E94B8-E282-43A7-AA81-726A60A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Пересчёт сроков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4254B-D02A-48C6-A1E2-6529E380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ADC95-290F-46EE-9077-4F52432C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Срок остался 38 дней, но критическая ветка сместилась с E на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E90D4-38A0-4DC5-A6E5-0679EF0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3F5B0-01D8-4D86-AC66-F1A78CDF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EC6CA-A139-4871-8BF8-00D08505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F3B22-460E-41BD-83CB-3EEED40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93AD2-ECA6-480A-A6FC-C9D9EBE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D  →  F  → 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4E571-94DB-4E6F-BF3A-6BBD3B83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B078-44C9-48AF-A5B5-A81D8D6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71715-EE33-477E-BB26-10E635CB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BDF70-666D-4FC1-B98D-4CABCB3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E получает резерв 2 дня.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сохраняет резерв 10 дней.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Изменившиеся значения выделены цветом.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7400C-FEE2-4133-9A73-411F405A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26283-DA86-4C4B-9B26-70F6BBE1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Сокращение B и E не уменьшило общий срок: рост D поглотил выигрыш и изменил приоритет контроля.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82B3D-EABB-4C4D-AA32-BF181C0A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042954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9F753-6DC0-4724-AE27-F22FBB9B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EAC99-880C-47A5-996A-5EDD877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C9AB6-F2AE-4EE5-810C-7C16E0C2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Обратная связь меняет оценки и критический путь даже при неизменном сроке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CB34A-A24A-45AD-919C-710BE400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78266-BC53-47E9-99BB-829C8D09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70064-13D8-4209-B971-3F4ECE2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07A73-58F9-4F46-B33D-E49BD9F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43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88603-0A2D-4DB7-AC99-118324BE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2601F-B589-4F10-99A0-17BE966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C2FA5-2300-44BE-BA9A-AFB73254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 и медсёстры проверяют формы в работе. После обратной связи могут потребоваться изменения шаблонов, фильтров и проверки результатов анализов.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646C1-C2D9-4C80-80C1-0147BD7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D80BF-A961-4837-91AF-E5F20F2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4A907-5CD5-47DF-80C5-0CC35E6C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срок: D выросла с 6 до 8 дней и стала критической. При том же сроке 38 дней изменился приоритет контроля.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5BCF6-3DA3-4FCF-87C2-F74B5F1E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3C350-A2B9-48C5-A157-859E27AD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6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602AD-53E9-484D-9051-6D60AB8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фиксируются, повторно проверяются и согласуются со спонсором по влиянию на срок и резерв.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4EC01-9004-44DA-9462-79DC0CA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6506848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8A1F2-5661-4578-B68D-B6552F83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A3158-B607-405F-9D23-E66295B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5E745-90DB-419E-80ED-E5EBA82F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E19CA-39C1-4A86-8A00-0F148A5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2B08B-CC26-43DD-88E0-3AC01184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BA01E-F085-4B13-AFDF-AC26D56C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11DF5-5CDB-4041-8282-5644CE11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9C0A6-A73A-4963-B3E2-C365D0B0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задержал согласование обучения медсестёр. Пилот отстаёт, дополнительные консультации увеличили расходы.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2762250"/>
          <a:ext xmlns:a="http://schemas.openxmlformats.org/drawingml/2006/main" cx="61912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143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239000" y="2714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d8704b6bb4a88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FB1D4-F245-4753-9B57-6DDB130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19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DDDCA-E6D2-45C1-9993-550DBD6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Первичный диагноз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BADD7-D82E-46FC-83FD-2F4BDE35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EV ниже PV на 30 000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E2E7E-16E0-4B72-93F8-6063851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AC выше EV на 20 000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FA5C6-925B-4FAA-A8A3-686C558F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SV измеряется в рублях плановой стоимости, а не в календарных днях.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0D922-75FC-4F22-81D5-A71239F0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3294610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F48B9-6F91-44AB-AA8B-B196CF1A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3DECB-9856-4889-882D-6196381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2289F-251A-44F0-9AFE-83CDADA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D3890-4D91-43F1-8C87-77783F7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102A7-D5C0-4109-90BB-46731CBB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15C6A-CB9E-40D7-810F-D03D8CE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409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8721A-4AE2-41A9-94DD-BCAC244E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91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FF29B-C3BA-4132-9FA5-D505358C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628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Проект отстаёт по объёму и превышает бюджет. При текущей эффективности прогнозный перерасход составляет 41 667 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F97FA-FB19-4AD4-ADE4-F801927F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8103576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4BAB5-7E09-4520-9B9C-D749E9BB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881D6-3CA0-4DD5-9FC6-2F99C74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656C0-683A-488E-8BB2-51C37B0F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Корректирующие действия сохраняют требования к безопасности и приёмке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15411-B3C8-4AC9-956C-6ACFE412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9EC4D-22D1-478B-B7C4-5BC12D3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7E8AB-4178-4629-AAFD-FF8A4826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AC503-4594-4F58-B922-DA86D6D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49F0C-B444-4DB7-8028-B888D63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дополнительные консультации увеличили 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B17F5-6E68-488F-B0CA-88D4105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22D73-683B-420F-94FC-3125D14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3A622-453D-4B42-BF74-F0A356F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53364-0A8B-4617-8373-33741423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C91FD-B17E-492F-BC42-2972C2C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Назначить одного согласующего, заместителя и дату обучения. Убрать повторные согласования программы.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BE3ED-E8FA-4F07-A5C0-9E56E589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6E944-BAF3-49C8-A3E0-D9EFB8DB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5A6D1-F537-441B-8CE2-465E729D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Вынести спонсору EAC 291 667 ₽: увеличить BAC на 41 667 ₽ или сократить только некритичный объём.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F3566-D87F-437D-A74A-F523F2AD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A6FDB-9B65-4455-A212-4F407AE7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22E17-3798-45D1-9006-BAF18BD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03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Повторять PV, EV и AC по правилу 0/50/100. Не сокращать защиту данных, тестирование и критерий обучения 90%.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320B6-7117-48C8-8FFA-4AC20351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715250" y="32575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увеличат AC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пакет, превышения проводить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 1,18 недостижим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Пересмотреть BAC или срок решением спонсора, не скрывать сокращение объёма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6D6A2-BF0D-46D6-80FB-3DE4114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2CA3A-C232-4BDB-95DB-B77EFEE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8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7246A1-2A94-4EDC-93C7-3418D74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4580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E258C-E6A3-497E-B55C-6BF9B150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511899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2026-09-22T12:04:15.2470000Z</dcterms:created>
  <dcterms:modified xsi:type="dcterms:W3CDTF">2026-09-22T12:04:15.2470000Z</dcterms:modified>
</coreProperties>
</file>