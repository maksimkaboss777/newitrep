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30eaeec820429c" /><Relationship Type="http://schemas.openxmlformats.org/officeDocument/2006/relationships/extended-properties" Target="/docProps/app.xml" Id="R2f9983b3a0b44648" /><Relationship Type="http://schemas.openxmlformats.org/officeDocument/2006/relationships/officeDocument" Target="/ppt/presentation.xml" Id="Rfec4ded3a27746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2fb21b5588455b"/>
  </p:sldMasterIdLst>
  <p:notesMasterIdLst>
    <p:notesMasterId xmlns:r="http://schemas.openxmlformats.org/officeDocument/2006/relationships" r:id="R88de65a7fcc2431b"/>
  </p:notesMasterIdLst>
  <p:sldIdLst>
    <p:sldId xmlns:r="http://schemas.openxmlformats.org/officeDocument/2006/relationships" id="256" r:id="R041d35bd1bcf446d"/>
    <p:sldId xmlns:r="http://schemas.openxmlformats.org/officeDocument/2006/relationships" id="257" r:id="R889d4c23cfb345b0"/>
    <p:sldId xmlns:r="http://schemas.openxmlformats.org/officeDocument/2006/relationships" id="258" r:id="Rcc840a1ff82d4567"/>
    <p:sldId xmlns:r="http://schemas.openxmlformats.org/officeDocument/2006/relationships" id="259" r:id="Rf76eeb6286d64eb8"/>
    <p:sldId xmlns:r="http://schemas.openxmlformats.org/officeDocument/2006/relationships" id="260" r:id="R8f56eaf902644b19"/>
    <p:sldId xmlns:r="http://schemas.openxmlformats.org/officeDocument/2006/relationships" id="261" r:id="R0985541128a04201"/>
    <p:sldId xmlns:r="http://schemas.openxmlformats.org/officeDocument/2006/relationships" id="262" r:id="R23f6d0a8c58f4914"/>
    <p:sldId xmlns:r="http://schemas.openxmlformats.org/officeDocument/2006/relationships" id="263" r:id="R4760684faaad4b12"/>
    <p:sldId xmlns:r="http://schemas.openxmlformats.org/officeDocument/2006/relationships" id="264" r:id="Rc323069ead4241a4"/>
    <p:sldId xmlns:r="http://schemas.openxmlformats.org/officeDocument/2006/relationships" id="265" r:id="Rae9fabe6b0e049d5"/>
    <p:sldId xmlns:r="http://schemas.openxmlformats.org/officeDocument/2006/relationships" id="266" r:id="Rfa27913f847c4fd2"/>
    <p:sldId xmlns:r="http://schemas.openxmlformats.org/officeDocument/2006/relationships" id="267" r:id="Refd35171db8d4642"/>
    <p:sldId xmlns:r="http://schemas.openxmlformats.org/officeDocument/2006/relationships" id="268" r:id="R44cb1ce3eb8a42c7"/>
    <p:sldId xmlns:r="http://schemas.openxmlformats.org/officeDocument/2006/relationships" id="269" r:id="R92acb34be6f34c02"/>
    <p:sldId xmlns:r="http://schemas.openxmlformats.org/officeDocument/2006/relationships" id="270" r:id="R57c37a33cb224ec4"/>
    <p:sldId xmlns:r="http://schemas.openxmlformats.org/officeDocument/2006/relationships" id="271" r:id="R385e713ed19e4831"/>
    <p:sldId xmlns:r="http://schemas.openxmlformats.org/officeDocument/2006/relationships" id="272" r:id="Rbe5fcf54e40e488f"/>
    <p:sldId xmlns:r="http://schemas.openxmlformats.org/officeDocument/2006/relationships" id="273" r:id="Rf51bd4232fb841bd"/>
    <p:sldId xmlns:r="http://schemas.openxmlformats.org/officeDocument/2006/relationships" id="274" r:id="Re87095a651ec4ec6"/>
    <p:sldId xmlns:r="http://schemas.openxmlformats.org/officeDocument/2006/relationships" id="275" r:id="R1941422e818047c1"/>
    <p:sldId xmlns:r="http://schemas.openxmlformats.org/officeDocument/2006/relationships" id="276" r:id="R4fd852fb5800460d"/>
    <p:sldId xmlns:r="http://schemas.openxmlformats.org/officeDocument/2006/relationships" id="277" r:id="R558b8e50f7a141d6"/>
    <p:sldId xmlns:r="http://schemas.openxmlformats.org/officeDocument/2006/relationships" id="278" r:id="Rd1ed11e9f3264770"/>
    <p:sldId xmlns:r="http://schemas.openxmlformats.org/officeDocument/2006/relationships" id="279" r:id="Rc69528e01e2d4195"/>
    <p:sldId xmlns:r="http://schemas.openxmlformats.org/officeDocument/2006/relationships" id="280" r:id="R6df52b7fc45747e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35989641974f1f" /><Relationship Type="http://schemas.openxmlformats.org/officeDocument/2006/relationships/slideMaster" Target="/ppt/slideMasters/slideMaster1.xml" Id="R8b2fb21b5588455b" /><Relationship Type="http://schemas.openxmlformats.org/officeDocument/2006/relationships/notesMaster" Target="/ppt/notesMasters/notesMaster1.xml" Id="R88de65a7fcc2431b" /><Relationship Type="http://schemas.openxmlformats.org/officeDocument/2006/relationships/presProps" Target="/ppt/presProps.xml" Id="R3af8b8b6f9094d92" /><Relationship Type="http://schemas.openxmlformats.org/officeDocument/2006/relationships/tableStyles" Target="/ppt/tableStyles.xml" Id="Rf667eb5505be4a94" /><Relationship Type="http://schemas.openxmlformats.org/officeDocument/2006/relationships/slide" Target="/ppt/slides/slide1.xml" Id="R041d35bd1bcf446d" /><Relationship Type="http://schemas.openxmlformats.org/officeDocument/2006/relationships/slide" Target="/ppt/slides/slide2.xml" Id="R889d4c23cfb345b0" /><Relationship Type="http://schemas.openxmlformats.org/officeDocument/2006/relationships/slide" Target="/ppt/slides/slide3.xml" Id="Rcc840a1ff82d4567" /><Relationship Type="http://schemas.openxmlformats.org/officeDocument/2006/relationships/slide" Target="/ppt/slides/slide4.xml" Id="Rf76eeb6286d64eb8" /><Relationship Type="http://schemas.openxmlformats.org/officeDocument/2006/relationships/slide" Target="/ppt/slides/slide5.xml" Id="R8f56eaf902644b19" /><Relationship Type="http://schemas.openxmlformats.org/officeDocument/2006/relationships/slide" Target="/ppt/slides/slide6.xml" Id="R0985541128a04201" /><Relationship Type="http://schemas.openxmlformats.org/officeDocument/2006/relationships/slide" Target="/ppt/slides/slide7.xml" Id="R23f6d0a8c58f4914" /><Relationship Type="http://schemas.openxmlformats.org/officeDocument/2006/relationships/slide" Target="/ppt/slides/slide8.xml" Id="R4760684faaad4b12" /><Relationship Type="http://schemas.openxmlformats.org/officeDocument/2006/relationships/slide" Target="/ppt/slides/slide9.xml" Id="Rc323069ead4241a4" /><Relationship Type="http://schemas.openxmlformats.org/officeDocument/2006/relationships/slide" Target="/ppt/slides/slide10.xml" Id="Rae9fabe6b0e049d5" /><Relationship Type="http://schemas.openxmlformats.org/officeDocument/2006/relationships/slide" Target="/ppt/slides/slide11.xml" Id="Rfa27913f847c4fd2" /><Relationship Type="http://schemas.openxmlformats.org/officeDocument/2006/relationships/slide" Target="/ppt/slides/slide12.xml" Id="Refd35171db8d4642" /><Relationship Type="http://schemas.openxmlformats.org/officeDocument/2006/relationships/slide" Target="/ppt/slides/slide13.xml" Id="R44cb1ce3eb8a42c7" /><Relationship Type="http://schemas.openxmlformats.org/officeDocument/2006/relationships/slide" Target="/ppt/slides/slide14.xml" Id="R92acb34be6f34c02" /><Relationship Type="http://schemas.openxmlformats.org/officeDocument/2006/relationships/slide" Target="/ppt/slides/slide15.xml" Id="R57c37a33cb224ec4" /><Relationship Type="http://schemas.openxmlformats.org/officeDocument/2006/relationships/slide" Target="/ppt/slides/slide16.xml" Id="R385e713ed19e4831" /><Relationship Type="http://schemas.openxmlformats.org/officeDocument/2006/relationships/slide" Target="/ppt/slides/slide17.xml" Id="Rbe5fcf54e40e488f" /><Relationship Type="http://schemas.openxmlformats.org/officeDocument/2006/relationships/slide" Target="/ppt/slides/slide18.xml" Id="Rf51bd4232fb841bd" /><Relationship Type="http://schemas.openxmlformats.org/officeDocument/2006/relationships/slide" Target="/ppt/slides/slide19.xml" Id="Re87095a651ec4ec6" /><Relationship Type="http://schemas.openxmlformats.org/officeDocument/2006/relationships/slide" Target="/ppt/slides/slide20.xml" Id="R1941422e818047c1" /><Relationship Type="http://schemas.openxmlformats.org/officeDocument/2006/relationships/slide" Target="/ppt/slides/slide21.xml" Id="R4fd852fb5800460d" /><Relationship Type="http://schemas.openxmlformats.org/officeDocument/2006/relationships/slide" Target="/ppt/slides/slide22.xml" Id="R558b8e50f7a141d6" /><Relationship Type="http://schemas.openxmlformats.org/officeDocument/2006/relationships/slide" Target="/ppt/slides/slide23.xml" Id="Rd1ed11e9f3264770" /><Relationship Type="http://schemas.openxmlformats.org/officeDocument/2006/relationships/slide" Target="/ppt/slides/slide24.xml" Id="Rc69528e01e2d4195" /><Relationship Type="http://schemas.openxmlformats.org/officeDocument/2006/relationships/slide" Target="/ppt/slides/slide25.xml" Id="R6df52b7fc45747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838a9ffdf44a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4188ce887d4fe8" /><Relationship Type="http://schemas.openxmlformats.org/officeDocument/2006/relationships/notesMaster" Target="/ppt/notesMasters/notesMaster1.xml" Id="Rccbdbbb73f1147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405a5919be4794" /><Relationship Type="http://schemas.openxmlformats.org/officeDocument/2006/relationships/notesMaster" Target="/ppt/notesMasters/notesMaster1.xml" Id="Re9f79c294b5e4a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b7822b14a648ff" /><Relationship Type="http://schemas.openxmlformats.org/officeDocument/2006/relationships/notesMaster" Target="/ppt/notesMasters/notesMaster1.xml" Id="R3951de5c0e8848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9db094b31c4c95" /><Relationship Type="http://schemas.openxmlformats.org/officeDocument/2006/relationships/notesMaster" Target="/ppt/notesMasters/notesMaster1.xml" Id="R29cf70f7617a4d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b74d56e8094f9c" /><Relationship Type="http://schemas.openxmlformats.org/officeDocument/2006/relationships/notesMaster" Target="/ppt/notesMasters/notesMaster1.xml" Id="R49e8936b0e6843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d216c9a09542c4" /><Relationship Type="http://schemas.openxmlformats.org/officeDocument/2006/relationships/notesMaster" Target="/ppt/notesMasters/notesMaster1.xml" Id="R0b2a47af42ca4c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aeddeefdc341ef" /><Relationship Type="http://schemas.openxmlformats.org/officeDocument/2006/relationships/notesMaster" Target="/ppt/notesMasters/notesMaster1.xml" Id="R6402df33c2a341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efbdbdebc245a7" /><Relationship Type="http://schemas.openxmlformats.org/officeDocument/2006/relationships/notesMaster" Target="/ppt/notesMasters/notesMaster1.xml" Id="R0e74697f54424e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1247149f4048a1" /><Relationship Type="http://schemas.openxmlformats.org/officeDocument/2006/relationships/notesMaster" Target="/ppt/notesMasters/notesMaster1.xml" Id="R6684d90ca8a344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28fb4f85434414" /><Relationship Type="http://schemas.openxmlformats.org/officeDocument/2006/relationships/notesMaster" Target="/ppt/notesMasters/notesMaster1.xml" Id="R13d267b1b0914a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686ca8f2c64d53" /><Relationship Type="http://schemas.openxmlformats.org/officeDocument/2006/relationships/notesMaster" Target="/ppt/notesMasters/notesMaster1.xml" Id="Rc3626ea236b249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f38a3992514539" /><Relationship Type="http://schemas.openxmlformats.org/officeDocument/2006/relationships/notesMaster" Target="/ppt/notesMasters/notesMaster1.xml" Id="R7d931ecf8a8343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b55d53fdbd41b9" /><Relationship Type="http://schemas.openxmlformats.org/officeDocument/2006/relationships/notesMaster" Target="/ppt/notesMasters/notesMaster1.xml" Id="R1f4a10603f8144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b2ca74826354de6" /><Relationship Type="http://schemas.openxmlformats.org/officeDocument/2006/relationships/notesMaster" Target="/ppt/notesMasters/notesMaster1.xml" Id="Rcdf36f7fcc424a3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f64381e24b64af4" /><Relationship Type="http://schemas.openxmlformats.org/officeDocument/2006/relationships/notesMaster" Target="/ppt/notesMasters/notesMaster1.xml" Id="Rd9e9dd1bf0e44b2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880890ab95f4a8f" /><Relationship Type="http://schemas.openxmlformats.org/officeDocument/2006/relationships/notesMaster" Target="/ppt/notesMasters/notesMaster1.xml" Id="R6a3f6bad7bd4408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f6c557e2af8460a" /><Relationship Type="http://schemas.openxmlformats.org/officeDocument/2006/relationships/notesMaster" Target="/ppt/notesMasters/notesMaster1.xml" Id="Re72c9945561146d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49bb275a9e44d5" /><Relationship Type="http://schemas.openxmlformats.org/officeDocument/2006/relationships/notesMaster" Target="/ppt/notesMasters/notesMaster1.xml" Id="R0e04602aab86498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7d717305e3348c7" /><Relationship Type="http://schemas.openxmlformats.org/officeDocument/2006/relationships/notesMaster" Target="/ppt/notesMasters/notesMaster1.xml" Id="R75f7cd7be7f448e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462bc69354c462f" /><Relationship Type="http://schemas.openxmlformats.org/officeDocument/2006/relationships/notesMaster" Target="/ppt/notesMasters/notesMaster1.xml" Id="R106e3164fb05458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4b117251c8b40ca" /><Relationship Type="http://schemas.openxmlformats.org/officeDocument/2006/relationships/notesMaster" Target="/ppt/notesMasters/notesMaster1.xml" Id="R91e746a44a2442c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0f222ec1c1c4095" /><Relationship Type="http://schemas.openxmlformats.org/officeDocument/2006/relationships/notesMaster" Target="/ppt/notesMasters/notesMaster1.xml" Id="Rd930fdc3d5a34d8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cf8bd8b27914281" /><Relationship Type="http://schemas.openxmlformats.org/officeDocument/2006/relationships/notesMaster" Target="/ppt/notesMasters/notesMaster1.xml" Id="Rae617c975e604d3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b686577cb9c413a" /><Relationship Type="http://schemas.openxmlformats.org/officeDocument/2006/relationships/notesMaster" Target="/ppt/notesMasters/notesMaster1.xml" Id="R67935b9bce76486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5ad00a350914864" /><Relationship Type="http://schemas.openxmlformats.org/officeDocument/2006/relationships/notesMaster" Target="/ppt/notesMasters/notesMaster1.xml" Id="Rc72dec87aa8c4c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Обложка: иллюстративное изображение создано с помощью OpenAI Image Generation. Изображение не содержит реальных пациентов или медицинских данных.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перенесено из исходного слайда «Методология». Формулировки сокращены без изменения смысла.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сохранено из исходной 3D-диагностики. Итоговая оценка: 7/9.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семинар 8, задание команды 3. BAC 250 000 ₽, PV 150 000 ₽, EV 120 000 ₽, AC 140 000 ₽. Диаграмма показывает значения на контрольную дату, не динамику во времени.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Индексы округлены до двух знаков, денежные значения до целого рубля. EAC = BAC / CPI. TCPI рассчитан для исходного BAC.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Порог 0,90 взят из материалов семинара 8. Сокращение требований безопасности и критериев приёмки не предлагается.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c7b883a83e48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19ab7f6b894418" /><Relationship Type="http://schemas.openxmlformats.org/officeDocument/2006/relationships/slideLayout" Target="/ppt/slideLayouts/slideLayout1.xml" Id="R8b7b4b2a43b14d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7b4b2a43b14d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86090f90f4385" /><Relationship Type="http://schemas.openxmlformats.org/officeDocument/2006/relationships/image" Target="/ppt/media/image.png" Id="R5eaf5c39f06147ae" /><Relationship Type="http://schemas.openxmlformats.org/officeDocument/2006/relationships/notesSlide" Target="/ppt/notesSlides/notesSlide1.xml" Id="Refc098efc4c045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3830fe250440d" /><Relationship Type="http://schemas.openxmlformats.org/officeDocument/2006/relationships/notesSlide" Target="/ppt/notesSlides/notesSlide2.xml" Id="R6648cfce55254f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9ea1c7f20450e" /><Relationship Type="http://schemas.openxmlformats.org/officeDocument/2006/relationships/notesSlide" Target="/ppt/notesSlides/notesSlide3.xml" Id="R3779afc82f2244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1ec173fa14edb" /><Relationship Type="http://schemas.openxmlformats.org/officeDocument/2006/relationships/notesSlide" Target="/ppt/notesSlides/notesSlide4.xml" Id="R07ae25e62c4f47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682b80d894846" /><Relationship Type="http://schemas.openxmlformats.org/officeDocument/2006/relationships/notesSlide" Target="/ppt/notesSlides/notesSlide5.xml" Id="R085463a337f143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65a27c07948bb" /><Relationship Type="http://schemas.openxmlformats.org/officeDocument/2006/relationships/notesSlide" Target="/ppt/notesSlides/notesSlide6.xml" Id="Rd1e9b3285cc645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180d631144f79" /><Relationship Type="http://schemas.openxmlformats.org/officeDocument/2006/relationships/notesSlide" Target="/ppt/notesSlides/notesSlide7.xml" Id="R8afd8769857a4a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38fb7c90b48c0" /><Relationship Type="http://schemas.openxmlformats.org/officeDocument/2006/relationships/notesSlide" Target="/ppt/notesSlides/notesSlide8.xml" Id="Ra078721478b041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3762d20ca4b3d" /><Relationship Type="http://schemas.openxmlformats.org/officeDocument/2006/relationships/notesSlide" Target="/ppt/notesSlides/notesSlide9.xml" Id="R554bf1fc062742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833460cae4fd2" /><Relationship Type="http://schemas.openxmlformats.org/officeDocument/2006/relationships/notesSlide" Target="/ppt/notesSlides/notesSlide10.xml" Id="R2a155630feb849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d509215384211" /><Relationship Type="http://schemas.openxmlformats.org/officeDocument/2006/relationships/notesSlide" Target="/ppt/notesSlides/notesSlide11.xml" Id="Rfd4478f5ec334b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e2415ce784d95" /><Relationship Type="http://schemas.openxmlformats.org/officeDocument/2006/relationships/notesSlide" Target="/ppt/notesSlides/notesSlide12.xml" Id="Re2d33a688a3840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93a4843884e30" /><Relationship Type="http://schemas.openxmlformats.org/officeDocument/2006/relationships/notesSlide" Target="/ppt/notesSlides/notesSlide13.xml" Id="Ra12d76a06f8244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d0d360b704cc1" /><Relationship Type="http://schemas.openxmlformats.org/officeDocument/2006/relationships/notesSlide" Target="/ppt/notesSlides/notesSlide14.xml" Id="Rc679ac3e69f14e5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c44055f664b80" /><Relationship Type="http://schemas.openxmlformats.org/officeDocument/2006/relationships/notesSlide" Target="/ppt/notesSlides/notesSlide15.xml" Id="R7009dec1dccd408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668f8393344d0" /><Relationship Type="http://schemas.openxmlformats.org/officeDocument/2006/relationships/notesSlide" Target="/ppt/notesSlides/notesSlide16.xml" Id="Re94139962f83479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209bf370f49ad" /><Relationship Type="http://schemas.openxmlformats.org/officeDocument/2006/relationships/notesSlide" Target="/ppt/notesSlides/notesSlide17.xml" Id="Rcbdd5af60fa041a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97ec624e24ce4" /><Relationship Type="http://schemas.openxmlformats.org/officeDocument/2006/relationships/notesSlide" Target="/ppt/notesSlides/notesSlide18.xml" Id="R7a91b292352a46c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40b77ded74884" /><Relationship Type="http://schemas.openxmlformats.org/officeDocument/2006/relationships/notesSlide" Target="/ppt/notesSlides/notesSlide19.xml" Id="Ra35d477668a4499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5e51f720f4dea" /><Relationship Type="http://schemas.openxmlformats.org/officeDocument/2006/relationships/notesSlide" Target="/ppt/notesSlides/notesSlide20.xml" Id="R996c440e2355484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0bd296ed0459d" /><Relationship Type="http://schemas.openxmlformats.org/officeDocument/2006/relationships/notesSlide" Target="/ppt/notesSlides/notesSlide21.xml" Id="R0f4f0ee1687545b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8d529ad664e95" /><Relationship Type="http://schemas.openxmlformats.org/officeDocument/2006/relationships/notesSlide" Target="/ppt/notesSlides/notesSlide22.xml" Id="R0afe37c6bf6e491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e9b61093c41cd" /><Relationship Type="http://schemas.openxmlformats.org/officeDocument/2006/relationships/chart" Target="/ppt/slides/charts/chart1.xml" Id="R08742c0a6bb84dac" /><Relationship Type="http://schemas.openxmlformats.org/officeDocument/2006/relationships/notesSlide" Target="/ppt/notesSlides/notesSlide23.xml" Id="Ree8b7b12d671462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5b450be02497d" /><Relationship Type="http://schemas.openxmlformats.org/officeDocument/2006/relationships/notesSlide" Target="/ppt/notesSlides/notesSlide24.xml" Id="R2ca15ea5b976498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99cafe3664b57" /><Relationship Type="http://schemas.openxmlformats.org/officeDocument/2006/relationships/notesSlide" Target="/ppt/notesSlides/notesSlide25.xml" Id="Raa0f66d64a8b470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Стоимость на контрольную дату, тыс. ₽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8242D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тыс. ₽</c:v>
          </c:tx>
          <c:spPr>
            <a:solidFill xmlns:a="http://schemas.openxmlformats.org/drawingml/2006/main">
              <a:srgbClr val="197A7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7354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97A73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84E5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PV  план</c:v>
                </c:pt>
                <c:pt idx="1">
                  <c:v>EV  выполнено</c:v>
                </c:pt>
                <c:pt idx="2">
                  <c:v>AC  затраты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150</c:v>
                </c:pt>
                <c:pt idx="1">
                  <c:v>120</c:v>
                </c:pt>
                <c:pt idx="2">
                  <c:v>140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8242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E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E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7F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7F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f5c39f06147a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8CE74-71B4-4F9C-8ABC-F5B53031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2937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93BDF-258A-4149-B2F8-C654D2FE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407EB-5379-4A74-8AFA-0E4CEF55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286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МедКарта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5DD39-A39B-467C-B8A5-4379F667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523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226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Пилот медицинской информационной системы</a:t>
            </a:r>
          </a:p>
          <a:p xmlns:a="http://schemas.openxmlformats.org/drawingml/2006/main">
            <a:pPr algn="l">
              <a:defRPr sz="21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в отделении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1EDA7-744E-45A4-97B1-0CC8E8BD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57675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Планирование, сроки, риски и контроль стоимости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2DF42-8B4A-4C97-8798-B012A6D8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3810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Алимова Анастасия</a:t>
            </a:r>
          </a:p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Базанов Максим</a:t>
            </a:r>
          </a:p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Гусельникова Кристина</a:t>
            </a:r>
          </a:p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Долотин Артур</a:t>
            </a:r>
          </a:p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Суворов Максим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0A1A4-A0DB-4269-8469-437C5018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Проектная презентация</a:t>
            </a:r>
          </a:p>
        </p:txBody>
      </p:sp>
    </p:spTree>
    <p:extLst>
      <p:ext uri="{BB962C8B-B14F-4D97-AF65-F5344CB8AC3E}">
        <p14:creationId xmlns:p14="http://schemas.microsoft.com/office/powerpoint/2010/main" val="5120412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686A36-7211-490C-9EBF-1D17355E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Почему PRINCE2 подходит пилоту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77979-3480-40AD-A79A-156B37C9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1A563-7B2C-40D8-B963-FCACB5EF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Формальный контроль нужен из-за цены ошибки, числа участников и интеграционных рисков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F7B12-ED92-424D-90BD-3403AA60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DEADA-9694-4125-BF62-D6814EC0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D191C-3482-4313-940C-3F901BE0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61C41-7F89-4E24-8899-4F325635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5262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Безопасность пациента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29B0D-61AD-43A0-8309-40287014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81250"/>
            <a:ext cx="385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B81D8-4DDB-4344-A8BD-C7373B91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90800"/>
            <a:ext cx="3857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Высокая цена ошибки требует формального контроля качества и приёмки по этапам.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2CC405-03D7-4549-BDD0-66D6242A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52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62958-521C-4A32-B241-F3192A3E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5262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Много стейкхолдеров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8389D-12AA-4677-AFBF-EB945171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81250"/>
            <a:ext cx="385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EF77C-F866-4DBA-A24A-6FE1029B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90800"/>
            <a:ext cx="3857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 проекте участвуют врачи, администрация, ИТ, регуляторы, подрядчик и пациенты. PRINCE2 фиксирует роли и ответственность.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6CA9B-1F62-4EB4-90FC-F6176145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6773B2-872D-40CC-B00A-F8D27323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95262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Миграция и интеграции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3FD1B-B284-4C2F-91DF-B5679C9D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381250"/>
            <a:ext cx="385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06076B-393D-4AEC-B381-49F9DDA7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590800"/>
            <a:ext cx="3857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Поэтапный запуск и контроль изменений снижают риск ошибок при переносе данных и подключении систем.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12E2E0-502B-4BDA-841A-485C5BE1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Три типовых причины провала ЭМК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EFF971-EAFB-45E2-B745-2758D8A8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476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307C0C-E3C1-4E03-B651-BFB506CE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Нагрузка на врачей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7A6DEA-5A28-4FA7-A8B6-09898BB6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3943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Неудобный интерфейс и дополнительный ввод снижают принятие системы.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335F50-6DA6-435B-8B4C-95747CD9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810125"/>
            <a:ext cx="4476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4816DC-D251-41A1-B92E-B5E43BAB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1054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Миграция данных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63B5B4-726A-4D48-B3BF-3E1D4F88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619750"/>
            <a:ext cx="3943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Дубли, старые форматы и плохое качество данных увеличивают риск срыва запуска.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96F1E7-CFB2-4AF8-8890-2ACB3682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810125"/>
            <a:ext cx="4476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0D577D-BB63-441D-A423-652FF744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1054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Нет владельца решений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DE8440-92E2-45A6-B892-00E2554F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619750"/>
            <a:ext cx="3943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Долгие согласования требований и приоритетов увеличивают сроки и бюджет.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A62A11-4FCE-4F1B-B202-4E8702B4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КОНТЕКСТ И МЕТОДОЛОГИЯ</a:t>
            </a:r>
          </a:p>
        </p:txBody>
      </p:sp>
    </p:spTree>
    <p:extLst>
      <p:ext uri="{BB962C8B-B14F-4D97-AF65-F5344CB8AC3E}">
        <p14:creationId xmlns:p14="http://schemas.microsoft.com/office/powerpoint/2010/main" val="3625787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39F20-CB43-4D63-9F9C-7BD5F980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3D-диагностика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AB65F-167C-423B-B685-242593D1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27669-12AA-4398-A143-B3E56812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Проблемы распределены по рациональному, психосоциальному и политическому измерениям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3EDD1-872E-4834-8552-94BF0958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E4FDB-AC30-4C07-9751-A50CA69C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4097000" cy="533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95825"/>
                <a:gridCol w="4695825"/>
                <a:gridCol w="4705350"/>
              </a:tblGrid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Рациональное · 3/3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Психосоциальное · 2/3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Политическое · 2/3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15811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1. Сроки, бюджет и качество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Критерии удобства, безопасности и скорости согласованы частично.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4. Цель и ожидания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Администрации нужна отчётность, врачам важно сократить время ввода данных.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7. Власть и влияние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Формальный спонсор решает не всё. Заведующие и ведущие врачи влияют на решения.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15811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2. Изменения требований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На пилоте пользователи могут менять требования к интерфейсу и функциям.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5. Скрытое сопротивление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Часть врачей может поддерживать проект формально, но избегать использования.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8. Конкуренция интересов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Подразделения конкурируют за бюджет, сроки внедрения и приоритеты процессов.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15811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3. Неопределённость данных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Качество старых записей и трудоёмкость интеграции заранее неизвестны.</a:t>
                      </a:r>
                    </a:p>
                  </a:txBody>
                  <a:tcPr marL="91440" marR="91440" marT="45720" marB="45720">
                    <a:solidFill>
                      <a:srgbClr val="ECE7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6. Критерии провала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Риски известны: ошибки миграции, перегрузка пользователей, отказ от системы.</a:t>
                      </a:r>
                    </a:p>
                  </a:txBody>
                  <a:tcPr marL="91440" marR="91440" marT="45720" marB="45720">
                    <a:solidFill>
                      <a:srgbClr val="ECE7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9. Смена спонсора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Проект может замедлиться, но обязательные требования организации не дадут ему остановиться.</a:t>
                      </a:r>
                    </a:p>
                  </a:txBody>
                  <a:tcPr marL="91440" marR="91440" marT="45720" marB="45720">
                    <a:solidFill>
                      <a:srgbClr val="ECE7F4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E3C14-5475-460F-942E-064FDC65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81875"/>
            <a:ext cx="1409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EFDE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98FB8-F5E4-41FA-81D5-70C5BED9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543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F7A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7A3E"/>
                </a:solidFill>
                <a:latin typeface="Arial"/>
                <a:ea typeface="Arial"/>
                <a:cs typeface="Arial"/>
              </a:rPr>
              <a:t>Итог диагностики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A9CB9-4486-4C65-A17E-08DC5178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7515225"/>
            <a:ext cx="1123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7 проблем из 9. Оценка совпадает с предварительной оценкой куратора.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AC1C6-EDF1-4C29-8FF6-FEBBD39C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КОНТЕКСТ И МЕТОДОЛОГИЯ</a:t>
            </a:r>
          </a:p>
        </p:txBody>
      </p:sp>
    </p:spTree>
    <p:extLst>
      <p:ext uri="{BB962C8B-B14F-4D97-AF65-F5344CB8AC3E}">
        <p14:creationId xmlns:p14="http://schemas.microsoft.com/office/powerpoint/2010/main" val="17777394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C2BC06-712A-41DE-B2F6-4CC441D4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Устав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E061D-4AD1-4C76-9771-D34364CE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A1E4C-73AF-4AA3-967C-CBD64F7A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Цель и границы двухмесячного пилота в кардиологии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8EE34-4B54-4442-89B4-CBC7A72E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3F1A5-14E0-4330-B054-A114FFE3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2769F-27C2-4A76-8AD2-E64DD8B5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01  Наименование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7E1D8-DA38-4545-84E8-0CFC8D7C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4333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Внедрение медицинской информационной системы «МедКарта» в кардиологии. Формат: пилот на 2 месяца с отдельным решением о масштабировании.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7FF05-5F59-4053-8EA5-81A0E1A2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7716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02  Бизнес-обоснование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820DB-204D-422F-AEB2-BE4E9539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90750"/>
            <a:ext cx="4333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Электронная карта должна сократить время приёма, повысить эффективность врачей и уменьшить среднюю длительность визита.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967615-B6FA-4FE5-9C8C-C4D896FA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716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03  SMART-цель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F1E6E-48BF-4925-94BB-6FF63E39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90750"/>
            <a:ext cx="4333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Сократить среднее время приёма пациента в кардиологии на 20% за 2 месяца с помощью электронной карты и расписания.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9E908-573A-4AD9-9C46-92836728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409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8BCE9-0670-4C44-921C-77B843F7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95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Ограничения и допущение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CABEF-3576-44D4-ACDA-BDAC0449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00550"/>
            <a:ext cx="657225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71134C-583B-40A4-A846-D6A02C8D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0DF510-8A08-4F76-AEFC-CC20B564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19625"/>
            <a:ext cx="540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8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Пилот проводится только в кардиологии и длится 2 месяца.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BC98A9-02D6-47E6-ACE5-AE6DBA50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81575"/>
            <a:ext cx="540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377E28-F6DB-4125-91FC-50B0A214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E93BA9-B934-41D9-AB08-0DDABD82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62550"/>
            <a:ext cx="540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Внешние интеграции не входят в текущую фазу.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982907-8922-468F-91FE-3920A2DB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24500"/>
            <a:ext cx="540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C7A7C7-421A-4985-A2B4-E872D79F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054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416973-838A-4203-8C81-2815D960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05475"/>
            <a:ext cx="540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16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Требования к обработке персональных данных обязательны.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05B300-950C-412A-B22F-6624F9F1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067425"/>
            <a:ext cx="540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F270ED-88BD-4711-9803-5621876F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484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627AF8-550D-4967-B9A3-789B418C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48400"/>
            <a:ext cx="540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Предзаполненные поля врач подтверждает вручную.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5685F2-2FF7-4FC9-BC8C-CFBA93F6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610350"/>
            <a:ext cx="540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A3810E-AB05-4946-9C3B-C6C5DEC7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913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6CD6A3-DB8A-43A9-A181-58D31152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791325"/>
            <a:ext cx="540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1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После пилота руководство отдельно решает вопрос о масштабировании.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4B2232-8E53-498F-A075-381D8ACB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7153275"/>
            <a:ext cx="540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9E87A6-8130-4B0A-A5B3-1A441C1E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195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Границы по MoSCoW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D007D6-2FE0-4E36-B306-73B97EAD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00550"/>
            <a:ext cx="695325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F9BE3A-FA48-45B2-9B12-FBB1C387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MUST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ECF758-90D3-4C5D-8C26-0764AEDA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101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16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Карта, автозаполнение с подтверждением, расписание, ручной ввод анализов, защита ПДн, замеры, тренинги и отчёт.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B75518-96F4-4BE6-859F-D1542205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29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SHOULD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A84C76-737B-4A25-85E2-5BAE4AB7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102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03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Инструкции, представления расписания, валидация анализов.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C74C44-D33B-4B48-B648-DBE1A822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1150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5B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E5B8C"/>
                </a:solidFill>
                <a:latin typeface="Arial"/>
                <a:ea typeface="Arial"/>
                <a:cs typeface="Arial"/>
              </a:rPr>
              <a:t>COULD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0E3E6E-F03A-4F9A-9395-4A35BF14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960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Расширенные шаблоны и сбор обратной связи в системе.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4CB697-C772-4E1B-B8F6-59346FD9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800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ФАЗА 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2842E8-032B-4469-8961-A251D1E0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7818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Интеграция с ЛИС, печать и выгрузка выписки.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E70AAE-547F-4D81-90D5-27C16113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11901213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983E28-5956-4BEC-A97E-F6B004C5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Управление пилотом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64E4C-33BC-4609-BD8D-8C4BBF74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196CB-5789-4E06-8828-003B96D3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Бюджет, вехи, участники, полномочия и приёмка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3382F-C5FE-4F53-895C-733E57A1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9F6BF-DEBF-41E0-B7FE-40CAC5C1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9F201-4782-4299-A210-04C4BF44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Вехи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DCC7B-3495-4261-AC2B-E1A27C47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14097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4E626-3BB4-4054-8A33-1061F560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Месяц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5FB7A-5FE0-407D-ADF2-E164C06F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95575"/>
            <a:ext cx="528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Настройка карты пациента и расписания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94409-3D15-499E-A43F-600A4B95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CC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D04D6-F192-4A77-9206-B9B6411D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24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Месяц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3EDCA2-287A-41D8-B98B-33657D9B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955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2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Пилотная эксплуатация, ручной ввод анализов, замер времени и итоговый отчёт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984C2-614C-4F0B-9A5A-A03CBF70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4476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CC460C-2C4F-4C79-AB4C-A0D63E46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Бюджет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F325A5-A33E-4B34-9816-3023CBFA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3943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В исходном брифе сумма не указана. Финансирование нужно согласовать с главным врачом и ИТ-отделом до утверждения устава.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732C0E-392D-43FE-AEC5-147682F8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714750"/>
            <a:ext cx="4476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6A8E3F-AF4A-4243-8E35-9D155155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9814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Куратор и руководитель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5374D7-DDAA-4711-89BC-67D0AFF5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438650"/>
            <a:ext cx="3943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Главный врач утверждает бюджет, вехи и решение о масштабировании. Администрация должна назначить руководителя проекта и закрепить полномочия.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E86BA6-1ABF-4026-9DEF-03090C81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714750"/>
            <a:ext cx="4476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0478AD-B048-4782-B829-FD0D262B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9814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Стейкхолдеры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FFAF0-589C-441D-8187-8E0AB195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943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Главный врач, заведующий кардиологией, ИТ-отдел и медсёстры. Вендор ЛИС не участвует в пилоте, но может консультировать по фазе 2.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265454-F4A1-4DC2-98FA-45A8DD1A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Критерии успеха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C39657-5E4F-4729-952C-C5073612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4097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5EFDE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E231C5-923F-47A3-B01A-86EE3235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7437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7A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7A3E"/>
                </a:solidFill>
                <a:latin typeface="Arial"/>
                <a:ea typeface="Arial"/>
                <a:cs typeface="Arial"/>
              </a:rPr>
              <a:t>Время приёма сокращается на 20%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257CBE-154B-4DAF-B917-3F388DA5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7437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60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Система готова к работе в согласованном масштабе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FCE61A-DFD8-473A-9E29-D3CA07D1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74370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ПДн защищены, базовые показатели измерены до и после пилота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B85D91-B88D-4EC1-800C-BF7A46D1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Решение о масштабировании принимается отдельно после анализа результатов пилота.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D0322C-C4C7-45C6-996D-BBAD6235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8266857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31E0E2-4712-4A34-8224-BCE8B394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Противоречия и риски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78F59-F447-4261-A650-AE2EC8B9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D4F96-3DA3-473D-BBF0-2FB0D4B0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Разночтения брифа переведены в решения и конкретные планы реагирования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86153-0DA3-4800-AB3F-E88CC574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217F3-9DEC-40AD-B334-CB63C847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E342C-9AB3-4316-B2E5-650C2EB4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Масштаб и срок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04BF7-D0C0-47B8-BA42-DE0BAA76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Бриф: вся больница за 6 месяцев. Решение: пилот в кардиологии за 2 месяца, общебольничная проверка позже.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2D688-B506-4B29-8660-E6B98F80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771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Автозаполнение и ЛИС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5C913-5799-4EDE-BEE5-588208E6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717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ЛИС относится к фазе 2. В пилоте используются предыдущие визиты в МедКарте, врач подтверждает поля, анализы вводятся вручную.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93D93-472C-41A5-B800-6978D8CB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71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Цель и исходная база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969DE-270E-4D32-9CAA-1B759C54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717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Цель - снижение времени приёма на 20%. Решение: базовый замер до запуска и повторный замер по той же методике.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8C652-23C2-429E-A29F-B927D864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Реестр ключевых рисков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571500" y="3905250"/>
          <a:ext xmlns:a="http://schemas.openxmlformats.org/drawingml/2006/main" cx="14097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1714500"/>
                <a:gridCol w="1714500"/>
                <a:gridCol w="6667500"/>
              </a:tblGrid>
              <a:tr h="495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Риск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Вероятность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Влияние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План реагирования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6294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Нет исходного замера времени приёма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Высокая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Высокое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Собрать базовые данные до запуска и повторить замер по той же методике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6294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Ручной ввод увеличит время приёма и ошибки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Высокая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Высокое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Оставить обязательные поля, добавить шаблоны и проверку данных врачом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Врачи и медсёстры не примут процесс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Высокая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Высокое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Провести обучение, назначить поддержку, отслеживать долю приёмов в системе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6294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Нарушение правил обработки данных пациентов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Средняя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Критическое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Настроить роли и журнал действий, проверить права доступа до старта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Бюджет и руководитель не согласованы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Высокая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Высокое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Утвердить финансирование, назначить руководителя и закрепить полномочия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1D49B-5FCF-4DA5-9ECF-A2CD486E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17034437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3934EF-3DC8-4876-9655-8E84F3C7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Стейкхолдеры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6AEDA-D3DE-4729-BD48-AF6182FF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0AB05-1542-462A-B922-38DEE6A8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Матрица влияния, проверка полноты и вопросы для трёх ключевых групп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D936E-4827-46C2-BD5F-CD272789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E3900-3355-49E5-9A4C-2D9CC0EA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A3317-F237-405A-AB26-ED32B402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Влияние и заинтересованность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90AE6-8CE5-4588-9227-68CC1711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68580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48377-AD32-4BEA-AF9F-76201731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57400"/>
            <a:ext cx="190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CC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8C260-5B12-408D-BAC1-8432147B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CC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9C39F-AFBC-432B-853F-2537E521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Управлять внимательно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75ADF-D06F-4689-8083-D2EEE45A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Главный врач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Заведующий кардиологией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ИТ-отдел и руководитель проекта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Поставщик МедКарты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0A74AF-72F5-4B0F-A318-99BE1143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Держать удовлетворёнными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1E063-104E-4EF7-897A-7BF6C005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289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Финансово-экономический отдел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Информационная безопасность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D51501-4DE3-4C59-B7B5-F701A452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433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Держать информированными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4BBAF-3A71-4B12-B746-0AC3A304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Врачи-кардиологи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Медсёстры и регистратура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Пациенты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3DCF9D-27CC-4F85-9658-3FEE4574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43325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5B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5B8C"/>
                </a:solidFill>
                <a:latin typeface="Arial"/>
                <a:ea typeface="Arial"/>
                <a:cs typeface="Arial"/>
              </a:rPr>
              <a:t>Минимальные усилия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B068F-EADF-4152-BD79-F3534659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243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Поставщик ЛИС на этапе пилота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7D7663-AFC5-4E00-A979-3AED2AF1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95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Проверка полноты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BFA9EE-8CB8-4E98-97D7-47D5EA7E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57400"/>
            <a:ext cx="67627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C3C3F8-38EB-44E8-BC9B-4DED4E73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1. Финансирование: главный врач и финансовый отдел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6418C-4A76-4326-AAED-1657D727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2. Ежедневные пользователи: кардиологи, медсёстры, регистратура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68121E-2181-4D7E-833B-983A8177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861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3. Поддержка: ИТ-отдел и поставщик МедКарты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01C514-D708-400F-830A-7F27F359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861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4. Блокирующие стороны: спонсор, ИБ, заведующий отделением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8A5A99-C97C-479A-964A-8FEDC7E2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5. Данные и интеграции: ЛИС и администраторы данных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B79A05-66BF-422F-B962-7378D55C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862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6. Косвенно затронуты: пациенты кардиологии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81BC6E-F273-4FE3-9867-F6506CB9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863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Чек-лист добавил финансовый отдел, ИБ, регистратуру и пациентов.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C49DB1-2C6E-49F2-A64B-B1E2C9FE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Вопросы для ключевых стейкхолдеров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F5B51D-388C-45E9-A898-903546B5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442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Главный врач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928745-3858-4B6A-91C7-E4B3054A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4429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Что будет провалом пилота даже при снижении времени на 20%?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При каком риске для бюджета или данных вы остановите проект?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7D8DD6-064C-40D7-9487-9AEB0767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848350"/>
            <a:ext cx="442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Заведующий кардиологией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671317-BB64-4CE3-A548-AF3FC57F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6229350"/>
            <a:ext cx="4429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Какие изменения вызовут наибольшее сопротивление?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Кто реально определит, будут ли сотрудники пользоваться системой?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F5C350-FBBE-4D0F-82BC-83F7BD4C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48350"/>
            <a:ext cx="442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ИТ-отдел и руководитель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CE9246-32AF-4228-9810-28E37EBD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229350"/>
            <a:ext cx="4429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Какое условие безопасности может задержать запуск?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Какая зависимость от подрядчика или данных пока не отражена?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24A1A1-A991-46B6-9601-CD71D5D0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8525700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01238-C477-40AF-B191-E0A90BF1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Роли команды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4A96B-928E-41A2-8196-AEF5CE8E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866F9-CAEF-4951-885E-97E7EEC7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Ответственность на этапе планирования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831EE-1D1F-4445-B6AD-78FE46F4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BAA99-62F7-4DC7-A6CC-CA8E14DE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1047750" y="1809750"/>
          <a:ext xmlns:a="http://schemas.openxmlformats.org/drawingml/2006/main" cx="13144500" cy="552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24375"/>
                <a:gridCol w="8620125"/>
              </a:tblGrid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Роль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Зона ответственности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98298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Менеджер проекта</a:t>
                      </a:r>
                    </a:p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Алимова Анастасия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Владеет Scope Statement, ведёт WBS-воркшоп, эскалирует спорные пункты спонсору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98298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Бизнес-аналитик / Product Owner</a:t>
                      </a:r>
                    </a:p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Гусельникова Кристина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Формулирует измеримые критерии приёмки, приоритизирует результаты, снимает противоречия брифа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Технический лид</a:t>
                      </a:r>
                    </a:p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Базанов Максим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Декомпозирует эпики до Work Package, определяет техническую последовательность и зависимости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98298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Команда разработки</a:t>
                      </a:r>
                    </a:p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Долотин Артур, Суворов Максим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Оценивает собственные Work Package по трудоёмкости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Спонсор и внешние стейкхолдеры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Утверждают границы Scope In / Scope Out и критерии приёмки, выступают точкой эскалации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7C36A-EB9E-4B6E-937B-6875704F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2502573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7CE57-3B0D-4622-AFB0-6B4C48AE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Результаты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A481F-D87C-424F-97A3-A5F8A7D7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70EB8-12AB-4DCB-BCA8-3FDD4588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Шесть проверяемых результатов двухмесячного пилота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9227C-E629-4BA5-8E1F-6796328E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0CAC3-98FC-4E4E-BAE4-696EE345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14097000" cy="590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3429000"/>
                <a:gridCol w="9715500"/>
              </a:tblGrid>
              <a:tr h="5524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передаётся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D1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Карта пациента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Создание, просмотр и редактирование карты. Шаблоны кардиолога. Автозаполнение из предыдущих визитов с подтверждением врача.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Расписание приёма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Запись, перенос и отмена. Представления «день / неделя». Фильтр по врачу.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D3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Ручной ввод анализов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Форма с валидацией значений и единиц измерения. Прикрепление сканов PDF / JPG.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Защита персональных данных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Роли врача, медсестры и администратора. Журнал доступа, шифрование, резервное копирование, согласованный чек-лист ИБ.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D5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Обучение персонала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 дня очных тренингов для двух групп медсестёр. Инструкция, памятки и зачёт по базовым операциям.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Отчёт по пилоту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Замер времени до и после внедрения. Выводы и рекомендация по масштабированию для главного врача.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848E7-C962-48C0-ACD2-5CBD9FB5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20435605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08D45-C88F-4747-B241-86A9D80E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Критерии приёмки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57E7F-7D18-456B-A650-1AEEE944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E6AC4-0AE7-4E86-900D-C9973C02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Каждый критерий связан со способом измерения и целевым значением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6D3E4-C5D4-43A9-A1F9-0EDF3DCB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BB369-36CB-4320-B02B-AACEE2D7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14097000" cy="590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5810250"/>
                <a:gridCol w="4857750"/>
              </a:tblGrid>
              <a:tr h="5524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Критерий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Способ измерения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Целевое значение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10706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Сокращение времени приёма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Контрольный замер в последнюю неделю против базы первой недели. Не менее 100 приёмов в каждой выборке.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Среднее время снижено не менее чем на 20%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10706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Подтверждение предзаполненных полей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Сохранение карты с неподтверждённым автозаполненным полем должно быть технически невозможно.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100% предзаполненных полей требуют явного подтверждения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06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Готовность персонала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Зачёт по чек-листу базовых операций после тренингов.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Не менее 90% медсестёр прошли обучение и сдали зачёт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10706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Защита персональных данных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с ИБ и выгрузка журнала доступа.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Все пункты закрыты, журнал фиксирует 100% операций, 0 инцидентов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06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Устойчивость работы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Журнал инцидентов за период опытной эксплуатации.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 случаев потери данных, открытие карты не дольше 3 секунд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CC655-AC93-4562-804E-3A461B9F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4803158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0258CF-66E3-4B75-9434-750E92DC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Границы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8114C-32AB-4A98-95D8-00264E2A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B61CE-3407-428F-AA95-F6CC1B53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Приоритеты MoSCoW отделяют обязательный пилот от второй фазы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30E7B-9065-45E3-B0B3-C5EDF460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30213-D6FE-4F06-BACB-66E33CC8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A8AF0-8EB1-4FAF-8B4D-FAFF8A2C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1409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5A7E1-EE7C-47B6-9C7A-74801E94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MUST HAVE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98CC6-EBC3-4B34-9BD0-09462186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33575"/>
            <a:ext cx="1081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Карта пациента, шаблоны кардиолога, автозаполнение с подтверждением врача, расписание, ручной ввод анализов и сканов, защита ПДн, развёртывание в кардиологии, два замера времени, тренинги медсестёр, итоговый отчёт.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F804A-B9E3-4631-B9EA-A3C53042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14097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5CA93-57EF-4CB3-83D7-D0FA83B3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SHOULD HAVE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04750-70DD-4695-B969-80AB991D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33775"/>
            <a:ext cx="10810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Инструкция и памятки, зачёт после тренингов, представления «день / неделя», фильтр по врачу, валидация значений и единиц измерения.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3254C-364C-4584-973A-B1D3D16D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14097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CE7F4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A3E55-FD69-46A5-A5EF-40348F33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5B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5B8C"/>
                </a:solidFill>
                <a:latin typeface="Arial"/>
                <a:ea typeface="Arial"/>
                <a:cs typeface="Arial"/>
              </a:rPr>
              <a:t>COULD HAVE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D9D87B-65FF-4120-8EA1-4233E537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29175"/>
            <a:ext cx="108108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Расширенные шаблоны сверх профиля кардиологии. Сбор обратной связи от врачей внутри системы.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58B8F4-09CD-40D8-BB55-D463F068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05475"/>
            <a:ext cx="14097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C01DC-C203-45D7-A013-F3A3ABD7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340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WON'T HAVE THIS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DDB68-2F5F-43DB-91EE-4969F952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905500"/>
            <a:ext cx="1081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Интеграция с ЛИС, печать и выгрузка выписки 1.2.5, интеграция со страховыми, телемедицина, масштабирование на другие отделения, эффект по всей больнице за 6 месяцев, миграция бумажного архива, мобильное приложение.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D62FCB-0E3E-493D-A437-D7D229BF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11429397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679F23-53FE-4825-BA8C-F876CF6F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Допущения и ограничения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54286-714C-4ADE-ADFF-A93904E2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0B4D5-31A5-434C-8492-FDEB5C63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Условия, без которых пилот нельзя корректно оценить и принять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13FA8-0CA6-49E9-9E68-B28FC887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66D6B-DE40-4C36-8AD2-64D1F4E6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6B209-93AA-48A1-A00C-4A912483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Допущения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1A41E-A995-48B1-8D63-5DDB003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14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Ограничения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E57E7-0F32-4938-B205-10BFF250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6667500" cy="5572125"/>
          </a:xfrm>
          <a:prstGeom xmlns:a="http://schemas.openxmlformats.org/drawingml/2006/main" prst="roundRect">
            <a:avLst>
              <a:gd name="adj" fmla="val 1368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A23BC-770E-45E7-876E-0F6865DA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6905625" cy="5572125"/>
          </a:xfrm>
          <a:prstGeom xmlns:a="http://schemas.openxmlformats.org/drawingml/2006/main" prst="roundRect">
            <a:avLst>
              <a:gd name="adj" fmla="val 1368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3E574-CA6D-4E38-95F1-C0F24149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2C8A4-5E3C-4A38-A721-9EFA9553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4100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5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ИТ-отдел предоставляет серверы, учётные записи и доступ в контур в первую неделю.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2DD45D-D2C7-4180-9E88-C2BFCF7E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86050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5598B8-82EE-4F1C-A6E3-04E6CC75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337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90A4F8-467E-4714-A75A-91801E28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33725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7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Заведующий согласовывает график тренингов и выделяет медсестёр двумя группами.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C04BC-E3CF-483D-8A9A-01A257CA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95675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ECEAAA-1705-45B7-84C5-73C7A164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B7521B-CCD1-4D2C-959E-885A2311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61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Базовый замер времени проходит в первую неделю. Без него цель −20% нельзя подтвердить.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2C43E0-36B9-4219-8E3F-E7526A93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8713B8-A8AB-480D-806D-EB8A3FA5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529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D04669-4A98-4245-A7D1-A87AC676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52975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93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Согласия пациентов оформляются по действующей процедуре больницы.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336476-7295-42B7-8EBF-69A9EB9F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14925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60896F-66AD-498D-872A-9DFC883A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3E874A-5096-4A17-A57C-565157AF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62600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83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Вендор ЛИС не участвует в пилоте. Его участие относится к фазе 2.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102113-89E9-4E74-AC5C-B7DD6F1A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924550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FDC108-C749-4BF8-80B1-82665C8F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722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8F72F6-5A2F-4662-B4D6-E3FB2E8A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372225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53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Автозаполнение использует предыдущие визиты внутри МедКарты, а не внешние системы.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7E3D8A-AA95-45A0-94E0-712C4ECE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734175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83E2DC-F7A9-43A6-8585-38935430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241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8497A1-5DA9-449B-9167-A57CE86D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324100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2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Срок: 2 месяца или 40 рабочих дней. Дата окончания не сдвигается.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5251F9-E6D0-4745-ABFA-BA3A3451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686050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BFFB8F-4C85-45F9-9DAB-323012B0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337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0DCC95-233A-4F0C-AB43-B602FD13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133725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7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Масштаб: одно отделение и ограниченное число рабочих мест.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D7E7E6-3048-4E1E-9F2B-CD422716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495675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A09F5F-870F-4AC4-A9A8-B4C1C7B2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9433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90A399-5634-46FC-ACD5-BDB7A7B3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943350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Требования к ПДн обязательны и сокращению не подлежат.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B5A263-4D2A-40AB-8D28-0455CECB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05300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FCC514-5394-4379-874A-DF391F5E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7529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3989A4-1543-44E2-848C-ECD0B712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752975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45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Тренинги 6 чел.-дней включены в WBS. Перенос печати в фазу 2 освобождает только 3 чел.-дня.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81DCA3-E4D9-4438-B30E-B3E01D21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114925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F84385-56F1-43F4-9628-4A398095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5626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70EC89-CEF7-4D1E-9C2B-06B46156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562600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4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Лимит: 100 чел.-дней, из них 97 работ и 3 резерва. Использование резерва утверждает спонсор.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D2F21B-498C-4033-8060-20F40CC1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924550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A96DAF-711C-4631-ACAB-34057322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63722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B61E78-D57C-4C35-9A5D-F8B57D5B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6372225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Денежный бюджет требует отдельного согласования.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30BB02-4B3E-40C2-8D1D-A1151AA5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6734175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406690-C8E1-4B40-B019-E6C248DD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6397281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43F88-A0D5-4BDC-9394-F5A230E8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Исходные данные сетевого плана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B4801-1109-4824-8FF4-819A2581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80796-625A-4277-8DBF-321D70B9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Длительность отражает календарную работу, WBS - трудозатраты в человеко-днях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EC6BC-CAE1-4524-B68A-DB10E531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0B660-077B-4289-A677-600B53EC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1428750" y="1762125"/>
          <a:ext xmlns:a="http://schemas.openxmlformats.org/drawingml/2006/main" cx="123825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5810250"/>
                <a:gridCol w="2476500"/>
                <a:gridCol w="2952750"/>
              </a:tblGrid>
              <a:tr h="5524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Эпик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Длительность, дн.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Предшественники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Подготовка и аналитика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Карта пациента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Расписание приёма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Ручной ввод анализов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A, B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Защита ПДн и доступ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A,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Развёртывание и обучение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B, C, D, E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Опытная эксплуатация и приёмка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709FF-FA38-4703-9077-11A04B64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29450"/>
            <a:ext cx="12382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873D2-DF9F-483A-B346-65145E42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219950"/>
            <a:ext cx="1181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3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Параллельные работы нельзя просто суммировать. Срок проекта определяется сетевыми зависимостями и критическим путём.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9EA3B-19F4-4940-B9DB-D208722E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12954358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AEE6AAF-C34F-40F5-AAC9-DDA0DDFE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Сетевой график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B7806-C605-4031-9C0C-E48DE232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28A1D-80D8-45D7-9CE8-52A9EA5D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CPM / Activity-on-Node: критический путь и параллельные ветки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C025D-E1B4-43E3-A835-4E68C14D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889E2-F3A1-446B-9CA6-3EDC286E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04360-7D86-46E9-972E-20BF88D7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242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54D"/>
          </a:solidFill>
          <a:ln xmlns:a="http://schemas.openxmlformats.org/drawingml/2006/main" w="9525">
            <a:solidFill>
              <a:srgbClr val="17354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B9239-0A0B-4E67-8340-12722F81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7338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0217F6-9C43-462A-AADF-4CDBF371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14700"/>
            <a:ext cx="1714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23813">
            <a:solidFill>
              <a:srgbClr val="C84E5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C18D1-25EC-4032-978B-FBC869C1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4575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03246E-B609-46C8-A4F3-A9100333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57575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73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Подготовка</a:t>
            </a:r>
          </a:p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 аналитика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FA156-0FA0-471E-8AD7-9C6266FB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000500"/>
            <a:ext cx="139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5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1ED9F-AFB4-4CBD-99F9-2E163307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1243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5 дн.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A8DD0-3464-4376-9EB8-D0C8376A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24325"/>
            <a:ext cx="695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84E5A"/>
                </a:solidFill>
                <a:latin typeface="Arial"/>
                <a:ea typeface="Arial"/>
                <a:cs typeface="Arial"/>
              </a:rPr>
              <a:t>резерв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50340B-1D1D-429C-B541-12C38CFF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14700"/>
            <a:ext cx="1714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23813">
            <a:solidFill>
              <a:srgbClr val="C84E5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338751-CEA0-435C-855F-E519592E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575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15117-5CC2-4925-BF5A-D0DBF410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57575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Карта</a:t>
            </a:r>
          </a:p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пациента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1F6FC2-4592-4C85-8031-2B0927DB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00500"/>
            <a:ext cx="139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5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1E55B-5722-4407-8C24-D3C16B84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243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10 дн.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06E6C-95E1-4CF8-899C-1FD5D7B9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24325"/>
            <a:ext cx="695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84E5A"/>
                </a:solidFill>
                <a:latin typeface="Arial"/>
                <a:ea typeface="Arial"/>
                <a:cs typeface="Arial"/>
              </a:rPr>
              <a:t>резерв 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EC4197-40DA-4169-ADE9-BB75A38D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14700"/>
            <a:ext cx="1809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23813">
            <a:solidFill>
              <a:srgbClr val="C84E5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EDD29C-E523-418A-B68C-D2D09113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575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98BC36-1456-462D-B510-C99556CB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57575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Защита ПДн</a:t>
            </a:r>
          </a:p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 доступ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49E145-EC69-4625-AC2C-628CF6FC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00500"/>
            <a:ext cx="148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5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756F3A-9153-4C39-A5F3-6BD5BB86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1243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7 дн.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399D7E-4ABB-4AD0-B96D-58E47A5C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24325"/>
            <a:ext cx="79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84E5A"/>
                </a:solidFill>
                <a:latin typeface="Arial"/>
                <a:ea typeface="Arial"/>
                <a:cs typeface="Arial"/>
              </a:rPr>
              <a:t>резерв 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91A6B5-5FF3-453E-A06C-4021ECC1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14700"/>
            <a:ext cx="185737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23813">
            <a:solidFill>
              <a:srgbClr val="C84E5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47BB8A-207F-4C56-A69D-22D6E1CA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4575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76CFBA-7A78-4A9B-A1C5-D111E469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457575"/>
            <a:ext cx="119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3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Развёртывание</a:t>
            </a:r>
          </a:p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 обучение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FA68EC-C03F-46F0-8CCD-D821D4E2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000500"/>
            <a:ext cx="1533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5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DDE9E4-B2D4-41CC-A699-3C545011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1243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6 дн.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ABF700-CC12-4405-A937-2A0FB881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243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84E5A"/>
                </a:solidFill>
                <a:latin typeface="Arial"/>
                <a:ea typeface="Arial"/>
                <a:cs typeface="Arial"/>
              </a:rPr>
              <a:t>резерв 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812496-6CB2-43E5-956D-6518E24E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14700"/>
            <a:ext cx="204787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23813">
            <a:solidFill>
              <a:srgbClr val="C84E5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8B13A6-EB9E-43AC-AAB3-B1F96E54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4575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2AB4BE-FB6A-480F-9F0C-C193FBBF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4575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Эксплуатация</a:t>
            </a:r>
          </a:p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 приёмка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B1607A-DD41-4DB0-97BE-20A32C25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4000500"/>
            <a:ext cx="17240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5A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30079F-D778-4198-9441-755E5CCC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41243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10 дн.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71DBD5-14CF-4B59-9C76-914B1EF2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12432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84E5A"/>
                </a:solidFill>
                <a:latin typeface="Arial"/>
                <a:ea typeface="Arial"/>
                <a:cs typeface="Arial"/>
              </a:rPr>
              <a:t>резерв 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156338-7ABA-443E-B0F9-C416225E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35242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5E59"/>
          </a:solidFill>
          <a:ln xmlns:a="http://schemas.openxmlformats.org/drawingml/2006/main" w="9525">
            <a:solidFill>
              <a:srgbClr val="105E59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60AF55-D5E0-4CCE-87FA-75ED787C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675" y="37338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53104B-B3B4-477D-B549-54FA8E70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1905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11430">
            <a:solidFill>
              <a:srgbClr val="AEBCC4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C22354-84B0-4F45-A471-8E89DB14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9050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375088-A4E8-411D-9A03-27CAB800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Расписание</a:t>
            </a:r>
          </a:p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приёма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CF0E10-8E9A-4F84-B931-9CF2F396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47925"/>
            <a:ext cx="158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CC4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FAEF6A-2702-4D1E-8F2C-BA511864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717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6 дн.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ACB17C-E8B1-40AF-904D-54555F47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0"/>
            <a:ext cx="885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резерв 11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86BC97-E992-46FC-9E32-67D753EB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1905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11430">
            <a:solidFill>
              <a:srgbClr val="AEBCC4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7510CC-70FB-400E-81CD-73357DFB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0958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9DBBFF-8C33-4B75-A8F9-62F23B8A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09587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Ручной ввод</a:t>
            </a:r>
          </a:p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анализов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3DE531-2940-4CAD-A6EC-85257CA3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638800"/>
            <a:ext cx="158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CC4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EE6581-0235-4EB4-91E1-4ACDE219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762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6 дн.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D78A06-5B72-4882-982F-6C195C69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62625"/>
            <a:ext cx="885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резерв 1</a:t>
            </a:r>
          </a:p>
        </p:txBody>
      </p:sp>
      <p:cxnSp>
        <p:nvCxnSpPr>
          <p:cNvPr id="119" name=""/>
          <p:cNvCxnSpPr>
            <a:stCxn xmlns:a="http://schemas.openxmlformats.org/drawingml/2006/main" id="6" idx="6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123950" y="38957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84E5A"/>
            </a:solidFill>
            <a:prstDash val="solid"/>
            <a:tailEnd type="triangle" w="med" len="med"/>
          </a:ln>
        </p:spPr>
      </p:cxnSp>
      <p:cxnSp>
        <p:nvCxnSpPr>
          <p:cNvPr id="120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143250" y="38957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84E5A"/>
            </a:solidFill>
            <a:prstDash val="solid"/>
            <a:tailEnd type="triangle" w="med" len="med"/>
          </a:ln>
        </p:spPr>
      </p:cxnSp>
      <p:cxnSp>
        <p:nvCxnSpPr>
          <p:cNvPr id="121" name=""/>
          <p:cNvCxnSpPr>
            <a:stCxn xmlns:a="http://schemas.openxmlformats.org/drawingml/2006/main" id="14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191125" y="38957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84E5A"/>
            </a:solidFill>
            <a:prstDash val="solid"/>
            <a:tailEnd type="triangle" w="med" len="med"/>
          </a:ln>
        </p:spPr>
      </p:cxnSp>
      <p:cxnSp>
        <p:nvCxnSpPr>
          <p:cNvPr id="122" name=""/>
          <p:cNvCxnSpPr>
            <a:stCxn xmlns:a="http://schemas.openxmlformats.org/drawingml/2006/main" id="20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7381875" y="389572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84E5A"/>
            </a:solidFill>
            <a:prstDash val="solid"/>
            <a:tailEnd type="triangle" w="med" len="med"/>
          </a:ln>
        </p:spPr>
      </p:cxnSp>
      <p:cxnSp>
        <p:nvCxnSpPr>
          <p:cNvPr id="123" name=""/>
          <p:cNvCxnSpPr>
            <a:stCxn xmlns:a="http://schemas.openxmlformats.org/drawingml/2006/main" id="26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10239375" y="38957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84E5A"/>
            </a:solidFill>
            <a:prstDash val="solid"/>
            <a:tailEnd type="triangle" w="med" len="med"/>
          </a:ln>
        </p:spPr>
      </p:cxnSp>
      <p:cxnSp>
        <p:nvCxnSpPr>
          <p:cNvPr id="124" name=""/>
          <p:cNvCxnSpPr>
            <a:stCxn xmlns:a="http://schemas.openxmlformats.org/drawingml/2006/main" id="32" idx="3"/>
            <a:endCxn xmlns:a="http://schemas.openxmlformats.org/drawingml/2006/main" id="38" idx="2"/>
          </p:cNvCxnSpPr>
          <p:nvPr/>
        </p:nvCxnSpPr>
        <p:spPr>
          <a:xfrm xmlns:a="http://schemas.openxmlformats.org/drawingml/2006/main">
            <a:off x="12620625" y="3895725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84E5A"/>
            </a:solidFill>
            <a:prstDash val="solid"/>
            <a:tailEnd type="triangle" w="med" len="med"/>
          </a:ln>
        </p:spPr>
      </p:cxnSp>
      <p:cxnSp>
        <p:nvCxnSpPr>
          <p:cNvPr id="125" name=""/>
          <p:cNvCxnSpPr>
            <a:stCxn xmlns:a="http://schemas.openxmlformats.org/drawingml/2006/main" id="8" idx="0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V="1">
            <a:off x="2286000" y="2343150"/>
            <a:ext cx="3905250" cy="971550"/>
          </a:xfrm>
          <a:prstGeom xmlns:a="http://schemas.openxmlformats.org/drawingml/2006/main" prst="bentConnector5">
            <a:avLst>
              <a:gd name="adj1" fmla="val 0"/>
              <a:gd name="adj2" fmla="val 23529"/>
              <a:gd name="adj3" fmla="val 94146"/>
            </a:avLst>
          </a:prstGeom>
          <a:ln xmlns:a="http://schemas.openxmlformats.org/drawingml/2006/main" w="19050">
            <a:solidFill>
              <a:srgbClr val="AEBCC4"/>
            </a:solidFill>
            <a:prstDash val="solid"/>
            <a:tailEnd type="triangle" w="med" len="med"/>
          </a:ln>
        </p:spPr>
      </p:cxnSp>
      <p:cxnSp>
        <p:nvCxnSpPr>
          <p:cNvPr id="126" name=""/>
          <p:cNvCxnSpPr>
            <a:stCxn xmlns:a="http://schemas.openxmlformats.org/drawingml/2006/main" id="14" idx="2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4333875" y="4476750"/>
            <a:ext cx="1857375" cy="1057275"/>
          </a:xfrm>
          <a:prstGeom xmlns:a="http://schemas.openxmlformats.org/drawingml/2006/main" prst="bentConnector5">
            <a:avLst>
              <a:gd name="adj1" fmla="val 0"/>
              <a:gd name="adj2" fmla="val 21622"/>
              <a:gd name="adj3" fmla="val 87692"/>
            </a:avLst>
          </a:prstGeom>
          <a:ln xmlns:a="http://schemas.openxmlformats.org/drawingml/2006/main" w="19050">
            <a:solidFill>
              <a:srgbClr val="AEBCC4"/>
            </a:solidFill>
            <a:prstDash val="solid"/>
            <a:tailEnd type="triangle" w="med" len="med"/>
          </a:ln>
        </p:spPr>
      </p:cxnSp>
      <p:cxnSp>
        <p:nvCxnSpPr>
          <p:cNvPr id="127" name=""/>
          <p:cNvCxnSpPr>
            <a:stCxn xmlns:a="http://schemas.openxmlformats.org/drawingml/2006/main" id="40" idx="3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8096250" y="2343150"/>
            <a:ext cx="1214438" cy="97155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AEBCC4"/>
            </a:solidFill>
            <a:prstDash val="solid"/>
            <a:tailEnd type="triangle" w="med" len="med"/>
          </a:ln>
        </p:spPr>
      </p:cxnSp>
      <p:cxnSp>
        <p:nvCxnSpPr>
          <p:cNvPr id="128" name=""/>
          <p:cNvCxnSpPr>
            <a:stCxn xmlns:a="http://schemas.openxmlformats.org/drawingml/2006/main" id="46" idx="3"/>
            <a:endCxn xmlns:a="http://schemas.openxmlformats.org/drawingml/2006/main" id="26" idx="2"/>
          </p:cNvCxnSpPr>
          <p:nvPr/>
        </p:nvCxnSpPr>
        <p:spPr>
          <a:xfrm xmlns:a="http://schemas.openxmlformats.org/drawingml/2006/main" flipV="1">
            <a:off x="8096250" y="4476750"/>
            <a:ext cx="1214438" cy="105727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AEBCC4"/>
            </a:solidFill>
            <a:prstDash val="solid"/>
            <a:tailEnd type="triangle" w="med" len="med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8E6AF96-126A-4243-A3B6-907ED046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29400"/>
            <a:ext cx="1409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352409F-7467-4CF8-AFBA-1AB3FB4E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961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Критический путь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20FCC91-24F6-4864-BC68-0BB37A47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628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A  →  B  →  E  →  F  →  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12BF81B-A474-4BB7-B3B7-D53C0476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1628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38 рабочих дней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D5B79FF-A367-4576-B675-DE594780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6896100"/>
            <a:ext cx="661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Показана транзитивная редукция. Избыточные связи A–D, A–E и B–F не меняют порядок работ и остаются в DSM.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0C673C2-3D5F-4100-94CB-EAD92C34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18783475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5C9DA5-5AEA-410D-B440-D8C6A8BD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Критический путь и резервы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4F77C-FAFB-4CD2-A722-E8554F36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1A935-6D0A-45B3-9307-02B36CFB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 лимите 40 рабочих дней остаётся 2 дня, работа D почти критическая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834D7-1D5A-41B0-AEBC-F7E852D1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C1D7B-8803-4D06-8604-6AC664A4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571500" y="1790700"/>
          <a:ext xmlns:a="http://schemas.openxmlformats.org/drawingml/2006/main" cx="99060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333500"/>
                <a:gridCol w="1333500"/>
                <a:gridCol w="1333500"/>
                <a:gridCol w="1333500"/>
                <a:gridCol w="1333500"/>
                <a:gridCol w="1333500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Работа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Dur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LS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LF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Float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B8FA0-B0D9-4A01-B5EA-2BD0F848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790700"/>
            <a:ext cx="3810000" cy="49053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C3A8A-D649-4DD9-BDC2-DB08E3CE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76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Ключевой вывод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3B24E-9DED-41CB-9073-7017B545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52700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809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5E4ABA-0776-4EA7-BB14-F308F0AC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905125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рабочих дней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A9E40-A8FD-483E-9537-94EB9E83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A05E2-E167-45E2-9EEA-0382922F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Критический путь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57F4A-7247-4388-B71F-404D1F81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767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A  →  B  →  E  →  F  →  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D15222-78DC-41DD-84F9-1463B63B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857750"/>
            <a:ext cx="300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D имеет резерв 1 день.</a:t>
            </a:r>
          </a:p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C имеет резерв 11 дней.</a:t>
            </a:r>
          </a:p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До лимита остаётся 2 дня.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F9499-2F04-489A-9620-37DE30B6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00875"/>
            <a:ext cx="1409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7226D-75EE-4E78-8006-D1CBFFAB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91375"/>
            <a:ext cx="1343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Работа D требует контроля: один день задержки делает её критической.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763F4E-AD5D-4C2B-98C8-FC7A0DFA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4440472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4153D-0334-41C0-9369-7E361015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DSM зависимостей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AA072-9037-4C56-B4D2-DC323E0E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B9016-E0F9-4F6B-AA7A-CA2CED27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Матрица быстрее показывает узлы с большим числом связей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74D52-77B2-48A0-B25C-CB4C5AA3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103F5-7057-48CE-8A9A-870F4887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40970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1162050"/>
                <a:gridCol w="1162050"/>
                <a:gridCol w="1162050"/>
                <a:gridCol w="1162050"/>
                <a:gridCol w="1162050"/>
                <a:gridCol w="1162050"/>
                <a:gridCol w="1219200"/>
              </a:tblGrid>
              <a:tr h="5524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Работа / предшественник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  Подготовка и аналитика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  Карта пациента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  Расписание приёма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D  Ручной ввод анализов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  Защита ПДн и доступ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F  Развёртывание и обучение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G  Эксплуатация и приёмка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98F2D-FED4-4680-8042-6EC112AD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29450"/>
            <a:ext cx="1409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2E573-7914-4965-993D-7EE24BCB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10425"/>
            <a:ext cx="1343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A запускает несколько веток, F собирает их в одну точку интеграции. Сеть лучше показывает последовательность, DSM - концентрацию связей.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8BB0E-7E5C-453E-9924-7BEDB9CA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3032196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D971C-4DFB-4F31-A953-2D558271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Проверка WBS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90025-79C3-40C0-94D2-A8D600C5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29E72-9E48-416B-9580-1EA73EE3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Структура переведена из набора действий в проверяемые пакеты работ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F6856-E5CF-48A6-BE6E-479EE98D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6266D-9AF9-4F52-B2C7-7E4238FB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571500" y="1733550"/>
          <a:ext xmlns:a="http://schemas.openxmlformats.org/drawingml/2006/main" cx="140970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524500"/>
                <a:gridCol w="5810250"/>
              </a:tblGrid>
              <a:tr h="533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Правило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Проблема исходной WBS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Исправление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9744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Полнота охвата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Работа 1.2.5 фазы 2 оставалась внутри пилота.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Печать вынесена за WBS пилота. Все 97 чел.-дней работ сохранены.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744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Отсутствие пересечений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Структура карты и шаблоны в 1.1.3 пересекались с реализацией 1.2.3.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1.1.3 - согласованная спецификация. 1.2.3 - реализованные шаблоны.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9744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Декомпозиция по результатам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Уровень Story смешивал действия, результаты и группы работ.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Единая иерархия: пилот, раздел, проверяемый пакет работ.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744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Управляемость пакетов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 ряда пакетов не был назван конкретный результат или ответственный.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Результаты сформулированы явно. Ответственные и оценки указаны у каждого пакета.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C8701-55C1-490C-B75D-B3564F1A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4097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31564-315F-4598-AFD1-11A885A2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15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Перестроен уровень между разделом и пакетом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8860B-12E9-4B0E-B5C3-37F04968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628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Было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C5404-65C8-4E3E-9CD8-464A2E6E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1247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Карта пациента, Story: тестирование, печать фазы 2 и тесты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FF214-F5D6-4B5A-ADC3-4966AD75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1628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Стало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107CC-DA45-4C8E-ADAA-4A824846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70675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Карта пациента, модель данных, CRUD, шаблоны, автозаполнение, результаты тестирования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E6FDD-5C59-4625-8C33-14E1D0AB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8729587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2AD7D7-0AD3-4F2F-AF80-A8FAFA53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WBS: подготовка и основные модули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83BC5-196B-4DF0-9333-C238F75B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759C3-E353-4939-B0D1-371B670F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97 чел.-дней работ. Сроки эпиков взяты из сетевого плана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3B638-8632-4523-937D-B7904063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464C5-9F77-41E6-8A76-06A7F983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E8492-4EBC-4FED-8DBD-B39B07A3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43338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EC554-C8D2-43B7-8856-34E31944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402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1.1 Подготовка и аналитика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D182E-7B3A-4946-ADC9-12660D0F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4029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10,3% · срок 5 дней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B137A-BC26-4FF3-87EB-7892008C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C5011-05F3-4BD8-A9E8-F827DC7D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1.1.1 Интервью и сбор требований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93639-FEFA-44AA-93ED-3E605CB7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БА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7019B-488D-4B98-BEFF-1089FA5E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24D70-92A6-450A-9FBD-A506FEA6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1.1.2 Базовый замер времени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66C846-FD1D-4FE8-97C6-97431D1A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БА + заведующий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59AA6-0DFF-41BF-9F15-DC61D89C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FB23DC-8DC5-42EF-9035-4BDF8959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1.1.3 Спецификация карты и шаблонов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172AF5-2183-459A-995C-276534E5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БА + техлид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4D90C3-D1F6-4BE0-B678-A7F25665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100A2-93B7-4842-88A1-3E6FF0D7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1.1.4 Тестовый стенд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040087-E9DB-408F-BFAA-F70BB232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ИТ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4EAC4E-CFB4-4879-B516-F87E0FC4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09750"/>
            <a:ext cx="43338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72F26A-6A16-4CEA-A882-62F2E268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924050"/>
            <a:ext cx="402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 Карта пациента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E40EE7-86E0-404A-A620-C2B6EB33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66950"/>
            <a:ext cx="4029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27,8% · срок 10 дней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ABF882-24E1-43DE-9BA6-139FFEC5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813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119DA9-B7AD-4A57-8596-B357BBC6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956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1.2.1 Модель данных и схема БД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7E6410-F11D-4FEA-8B22-F395B062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956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4 чел.-дн. · Backend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99A9C0-58F1-4597-A285-61D8C783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385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ABF84D-B52E-4D1B-BAA3-3856AD04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528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1.2.2 CRUD карты пациента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41772C-F83D-469D-A7C4-B01BB868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529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6 чел.-дн. · Backend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AA3515-B71D-48E8-8871-95DB2BA8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958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EDAF1B-A71A-48D5-9226-F543E9DC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6101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1.2.3 Шаблоны осмотра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4360EA-AA9C-42FD-9556-A4ED14E7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0101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5 чел.-дн. · Frontend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3D0E30-13B2-46F4-8BC9-57AE113F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3530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8A269A-6909-424D-9779-2DB5A2C2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4673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1.2.4 Автозаполнение и подтверждение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2F14D5-54C3-4A52-8DC2-15C1E4B1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8674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6 чел.-дн. · Backend + Frontend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ACEEDC-065E-46E4-BDB7-D78AB188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2103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2B7AE2-B741-480F-A4A4-E2606F2D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3246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1.2.6 Тестирование модуля карты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F6E42E-0733-43CD-9510-F31056BB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7246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6 чел.-дн. · QA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B883D0-34AB-4E66-84CA-1F012145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809750"/>
            <a:ext cx="43338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CE7F4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6A0080-F6E3-4B2B-96C4-2B4FF885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24050"/>
            <a:ext cx="402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1.3 Расписание приёма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BDEDE2-9C75-4D75-B4F9-19895AE3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66950"/>
            <a:ext cx="4029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15,5% · срок 6 дней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B41BD3-4327-4737-970C-A5E119C8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7813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0C6D19-A7E9-4334-AAA7-A76DBE2F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8956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1.3.1 Модель расписания и слотов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6E15A1-5AEB-48B1-87A3-58A624B3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956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Backend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B1F7B8-2AA9-4505-93C7-81A46FF5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6385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2D7EEF-44ED-4276-8A51-16793C29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7528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1.3.2 Запись, перенос, отмена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E68FDD-EEEA-440E-8C50-61AE29F3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1529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5 чел.-дн. · Frontend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11EA70-2727-43C7-9D3A-3E8FE2B3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4958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1665EE-A985-4A8C-A531-F7AF1C8F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101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1.3.3 День / неделя и фильтр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57FB4E8-85D0-48BD-B766-9B7592B0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0101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Frontend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6BB827-7618-4794-BCDB-4342DBBA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3530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A189A5-4A89-4519-BD9F-619B3CED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4673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1.3.4 Тестирование расписания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22CDCB-3AF2-42B8-9ABC-14DB79EF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8674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4 чел.-дн. · QA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9E87110-52CE-412E-9355-87CD1372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15250"/>
            <a:ext cx="1409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ID 1.2.5 сохранён за работой «Печать и выгрузка выписки», которая относится к фазе 2.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E9E7257-F975-40F9-BC09-8F00F55B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803598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7D34620-E42B-47E0-9F8E-D2B787DE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WBS: безопасность, внедрение и приёмка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91BDD-FA0A-4DC6-BFA7-A6D69F1C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3E20C-0CCD-4D7D-B1E3-AFF3E176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Доли рассчитаны от 97 чел.-дней. Резерв 3 чел.-дня учитывается отдельно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FED67-F048-4A40-805A-EA25C065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CCC96-2D8D-4139-9FC3-9E5283EF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F066D-07E4-401A-98ED-5B3D3F99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7C262-7EA7-41D2-9543-38AFD2F7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1.4 Ручной ввод анализов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8C607-DF97-4204-A4FF-9A268CCC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12,4% · срок 6 дней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90183-0332-454A-89F8-04412519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90C2BA-CEDA-4B2B-A7DE-F8EA3D3C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1.4.1 Форма ручного ввода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FCD55-EC6A-4AF1-93E1-2F3C2746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4 чел.-дн. · Frontend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8434A-BDF5-4E92-B786-B68A3722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7CAB5-3E81-4101-9E89-ADF6BD8D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1.4.2 Сканы и хранение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F113C-CEAC-4015-AA2F-BE5D3C3C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4 чел.-дн. · 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414F3C-E9D1-426B-8864-67710608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2E71BC-421A-4AEB-8D35-0413044B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1.4.3 Валидация значений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D6E7A3-0DB3-4118-8668-94531376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Backend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8473F7-FADE-485C-BF0D-291180F5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4263D-EE88-4773-97D8-5C819941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1.4.4 Тестирование ввода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90A18B-2EA3-4EA2-A14C-C9152F09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QA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466D4-D81E-45E5-8931-403A531A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09750"/>
            <a:ext cx="3333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3A7938-CB07-40F9-8317-A971FED9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9240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1.5 Защита ПДн и доступ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91EAFD-EAD6-4F45-81F5-3D39A3AE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669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13,4% · срок 7 дней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C5D58D-3B6F-45C3-B4EB-D54545D3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813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251FD5-611D-465D-86F1-478D6048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8956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1.5.1 Ролевая модель доступа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B0984C-37E0-46CD-8C1F-3550C975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2956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4 чел.-дн. · Backend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E94900-D959-4E20-BDE8-1ABE63BA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38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2592EB-05F6-453D-A413-A38EAB5E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7528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1.5.2 Журнал доступа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A66F01-C704-4F9A-A382-FC1762CD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1529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Backend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E305CF-D8F5-4E0C-8459-9F3F87CB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95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C5B1CF-7E69-465E-BB35-E2888A6B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6101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1.5.3 Шифрование и резервные копии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C41DED-0DB3-4823-A645-4F7F0DE1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0101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ИТ + Backend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4454F1-37CD-430C-8159-32681877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353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17B1BF-C3EE-4E27-ABB8-63F18ED2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4673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1.5.4 Проверка требований ПДн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4AFBF4-60B9-4649-9C63-0654F346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8674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БА + ИТ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02E78A-E5B1-4CF6-8100-2FDED2BE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3333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FEF496-5191-4DE7-82D2-87FDB4EF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240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1.6 Развёртывание и обучение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73DF79-1B64-4428-B074-F0D8AEA8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669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12,4% · срок 6 дней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DF132B-8E4D-46AB-A21E-0266899A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813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191350-D60B-41B1-A67F-2CB3A82A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956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1.6.1 Развёртывание в отделении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AFE597-0740-4F69-AD05-9E083D06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956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ИТ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779B5E-1884-4D54-9FFB-885576B1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9CC76D-2FF3-4153-890A-F1EEB5C2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528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1.6.2 Инструкция и памятки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A0947E-D679-44FB-8810-85F942A4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529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БА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E2C6FD-2174-4281-B5F0-61015830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95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E638FF-202D-41F7-911F-AEB4BD2D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101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1.6.3 Очные тренинги медсестёр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1ACCAA-6C69-4123-B680-399494AC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101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6 чел.-дн. · Команда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42C2C6-AE9C-4892-AA68-6D383ADC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53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3297E15-2618-40C0-80A9-793A7C35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4673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1.6.4 Проверка навыков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D514B7A-3087-4784-B1A6-939F6B74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8674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 чел.-дн. · БА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DA5BCA-64A5-487E-ACBD-EE18FA08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1809750"/>
            <a:ext cx="3333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CE7F4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D15410-4160-477C-A817-7B566269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19240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1.7 Эксплуатация и приёмка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AACA76-BE44-4ED0-98F9-A0EBC325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22669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8,2% · срок 10 дней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B5B2846-CEBD-4379-B1D4-8A1C9CD6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7813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090CB3E-488B-4BE8-A26B-D4214C14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28956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5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1.7.1 Сопровождение первых двух недель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3E53C7-9C96-4CEE-B9A7-EFC447DE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32956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Разработка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D9F81B8-B7FF-4BCB-B02D-5E6AE76D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638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E94449-17B3-49FE-A80A-DD38EE65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37528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1.7.2 Контрольный замер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CEBC039-C982-407F-9835-F2CC60FE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41529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БА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3FFB1AF-639B-42F8-9813-B62F6CC3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495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DA8E5EC-4937-4709-85DC-0E8E54EB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46101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1.7.3 Итоговый отчёт и рекомендации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1BFFED7-35FF-4DC4-9014-FE8012C6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50101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PM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A65D03F-1344-4DCE-9BA0-452EF497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5353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DC9B085-02AB-4757-A08E-7498D0DD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54673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1.7.4 Приёмочная встреча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217DB2F-915C-409C-A592-2DF7CA60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58674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 чел.-дн. · PM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15E4E54-3F34-4161-80D9-2BAD6150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11570031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FE8BF-2B73-42DB-AB98-6428EC46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Уточнение оценок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14FA2-BFAE-4A6B-92E7-2D622160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39B3F-86DF-41F7-94BA-3729E099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Пересмотр четырёх работ проверяет устойчивость критического пути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7056E-44BD-4B0B-9BE1-6C26CEBD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6FC7B-B539-4536-9594-519B5FF0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1143000" y="1809750"/>
          <a:ext xmlns:a="http://schemas.openxmlformats.org/drawingml/2006/main" cx="12954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1714500"/>
                <a:gridCol w="1714500"/>
                <a:gridCol w="5524500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Работа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Было, дн.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Стало, дн.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Причина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762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  Карта пациента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Часть компонентов можно использовать повторно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762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  Защита ПДн и доступ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Используются готовые механизмы больничной инфраструктуры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762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D  Ручной ввод анализов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Недооценена работа со сканами и валидацией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762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  Расписание приёма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Потребовалась дополнительная настройка фильтров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70836-4165-49E6-8B2C-D3D73934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578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Почему выбраны эти работы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9B18A-0E7A-4A42-999A-1411613C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38875"/>
            <a:ext cx="12954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09B55-0076-42A4-B5D7-BEA46C80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960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B и 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28E45-7DBB-4C77-A137-8D5FCA21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96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критические работы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65483-F05C-4372-ABC5-7A1AF3C0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4960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9E791-0374-4812-B5EC-CACA2D87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4960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почти критическая, исходный резерв 1 день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B5EB2-2189-4DF5-B75E-66DCF9BC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86589-91FF-4350-A435-54AE788C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некритическая, резерв 11 дней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788C0C-F5B7-4E2D-917B-E8BA520F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48500"/>
            <a:ext cx="1219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 сети только одна почти критическая работа. C включена для проверки чувствительности плана.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9CC5E-C26A-4641-B6D5-191B8C2A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112910164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290340-5374-4989-B4B7-E891B353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Пересчёт сроков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561A8-3FA0-4002-9E2F-843C8713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71BD2-E2E5-4D83-A351-C9B6EAD3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Срок остался 38 дней, но критическая ветка сместилась с E на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8975E-96C6-4F26-9C01-C31E5948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33DFD-806A-486B-B97D-A8D1F010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571500" y="1790700"/>
          <a:ext xmlns:a="http://schemas.openxmlformats.org/drawingml/2006/main" cx="99060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333500"/>
                <a:gridCol w="1333500"/>
                <a:gridCol w="1333500"/>
                <a:gridCol w="1333500"/>
                <a:gridCol w="1333500"/>
                <a:gridCol w="1333500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Работа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Dur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LS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LF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Float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4097E-99A0-4D1F-AC8D-612932D4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790700"/>
            <a:ext cx="3810000" cy="49053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FE795-69DD-41D9-9552-CB9FC74D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95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Новый критический путь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48BE2-9FED-4E8E-B27A-5C343EEF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A  →  B  →  D  →  F  →  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DD041-9A3B-4C0E-8D86-8AB993F0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0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76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491A4-351A-4C3C-BB4C-21A5DD13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рабочих дней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92F08-C497-4119-95C8-EA366C68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1962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DD50E-9564-4218-BAB6-5622F453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0"/>
            <a:ext cx="3000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E получает резерв 2 дня.</a:t>
            </a:r>
          </a:p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C сохраняет резерв 10 дней.</a:t>
            </a:r>
          </a:p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Изменившиеся значения выделены цветом.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DD50F-017E-416D-AEDB-35A06247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00875"/>
            <a:ext cx="1409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50EFA-E1A3-43E2-87B3-930E7DC8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91375"/>
            <a:ext cx="1343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Сокращение B и E не уменьшило общий срок: рост D поглотил выигрыш и изменил приоритет контроля.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5D9A9-F040-4291-8BBA-79128050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18174343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2D03DE-2B36-4A03-8BE0-B8B64064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Итерации и переделки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D6C56-4A96-4ACF-882F-811ECD1E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9A32A-0804-4F59-9E56-5E620B2A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Обратная связь меняет оценки и критический путь даже при неизменном сроке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281F2-65A0-4FA1-A883-D1576E8C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E2AC5-1927-4F28-A68F-6DCDD9E0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1C076-C986-40C5-B95A-36E274E3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409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354D"/>
          </a:solidFill>
          <a:ln xmlns:a="http://schemas.openxmlformats.org/drawingml/2006/main" w="9525">
            <a:solidFill>
              <a:srgbClr val="17354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B0823-51CC-469E-BF87-6F32975F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1343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«Классический PM плохо учитывает итерации и переделки»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78276-7334-4DE0-8033-9CFC038A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4097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49BC5-CB93-47BC-BD5B-23F6E9EF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Значение для пилота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95E8B-DF16-4BCE-B781-41E54C4C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908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Врачи и медсёстры проверяют формы в работе. После обратной связи могут потребоваться изменения шаблонов, фильтров и проверки результатов анализов.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AA036-F10F-429D-8071-94A5198D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14097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CE7F4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10B8A-2271-436C-98D7-7B50EAE2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910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E5B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E5B8C"/>
                </a:solidFill>
                <a:latin typeface="Arial"/>
                <a:ea typeface="Arial"/>
                <a:cs typeface="Arial"/>
              </a:rPr>
              <a:t>Результат уточнения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7E303-9575-42C8-ABA0-FEED9A2C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625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Сокращение B и E на один день не сократило срок: D выросла с 6 до 8 дней и стала критической. При том же сроке 38 дней изменился приоритет контроля.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0E89B9-77C8-480A-8F28-2A4645DA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4097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932173-F150-4DFF-8AFD-756DC1F8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62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Управление изменениями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9452A3-0040-4806-90F2-028BDCEA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3341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После демонстраций оценки и критический путь уточняются. Изменения фиксируются, повторно проверяются и согласуются со спонсором по влиянию на срок и резерв.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8080F6-1EFB-4818-BF04-806587AA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45751229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24387-1F53-4032-8F45-F9AD0824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Контрольная точка EVM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2C69E-6CE0-4B13-8ABC-FA031254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BF245-E4CB-4178-9BB3-8779349A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Учебные данные семинара 8 для пилота «МедКарта»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6D334-3100-4412-88A6-E2C23088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73B8D-37EA-4C5A-A598-AA02B4E4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07ED8-C2AF-49B7-8A60-4474B67F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4097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E65B2-B025-455C-8E2F-0BBC5E33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14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Новое вводное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6BDE7-953D-49E7-B51D-ADCE53FB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85950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Заведующий задержал согласование обучения медсестёр. Пилот отстаёт, дополнительные консультации увеличили расходы.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71500" y="2762250"/>
          <a:ext xmlns:a="http://schemas.openxmlformats.org/drawingml/2006/main" cx="619125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47813"/>
                <a:gridCol w="1547813"/>
                <a:gridCol w="1547813"/>
                <a:gridCol w="1547813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BAC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PV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1143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250 000 ₽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150 000 ₽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120 000 ₽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140 000 ₽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7239000" y="2714625"/>
          <a:ext xmlns:a="http://schemas.openxmlformats.org/drawingml/2006/main" cx="7429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742c0a6bb84dac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10C31-8DA9-4EC1-877C-A5CF0D1A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6191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B1873F-E94D-4F5A-9F9B-03CA6AE4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Первичный диагноз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9C4224-BDED-4091-A4B9-582A11AC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721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EV ниже PV на 30 000 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2C3C8-4FA7-4EDE-8DCA-883B653A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007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AC выше EV на 20 000 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BA0AA8-10F1-4D87-A4B2-B0CEEE64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0"/>
            <a:ext cx="1409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SV измеряется в рублях плановой стоимости, а не в календарных днях.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258971-F14B-41B2-8F06-52940DB8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КОНТРОЛЬ СТОИМОСТИ</a:t>
            </a:r>
          </a:p>
        </p:txBody>
      </p:sp>
    </p:spTree>
    <p:extLst>
      <p:ext uri="{BB962C8B-B14F-4D97-AF65-F5344CB8AC3E}">
        <p14:creationId xmlns:p14="http://schemas.microsoft.com/office/powerpoint/2010/main" val="64810563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F2D41-397B-4C81-8396-9EE311D1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Расчёт EVM: отставание и перерасход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D2380-616D-4C45-8D2B-51436CC4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33FDD-1F3F-4CC2-AAF3-A48756B8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Все восемь показателей рассчитаны для исходного BAC 250 000 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0F3F4-AB28-424F-A98C-308D13F9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D31B8-D1E7-437A-A3DE-11825F54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14097000" cy="547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048000"/>
                <a:gridCol w="2381250"/>
                <a:gridCol w="6953250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Формула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Интерпретация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CV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EV − AC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−20 000 ₽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Перерасход на контрольную дату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SV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EV − PV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−30 000 ₽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Выполнено меньше плана; показатель выражен в ₽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CPI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EV / AC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0,86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86 коп. плановой ценности на 1 ₽ затрат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SPI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EV / PV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0,80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Выполнено 80% планового объёма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EAC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BAC / CPI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291 667 ₽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Прогноз итоговой стоимости при сохранении CPI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VAC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BAC − EAC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−41 667 ₽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Прогнозный перерасход относительно BAC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ETC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EAC − AC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151 667 ₽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Ожидаемые затраты до завершения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TCPI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(BAC − EV) / (BAC − AC)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1,18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Остаток работ требует эффективности на 18% выше плана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E8AC8-12D5-4CBC-83C8-81B39709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48550"/>
            <a:ext cx="1409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CA630-11F6-4273-8D71-CCA29938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5914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Диагноз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D9351-5E3B-4E0E-AD92-5D357FFE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562850"/>
            <a:ext cx="1209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Проект отстаёт по объёму и превышает бюджет. При текущей эффективности прогнозный перерасход составляет 41 667 ₽.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62AB0-96FF-4D0C-9EA3-6C11A81A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КОНТРОЛЬ СТОИМОСТИ</a:t>
            </a:r>
          </a:p>
        </p:txBody>
      </p:sp>
    </p:spTree>
    <p:extLst>
      <p:ext uri="{BB962C8B-B14F-4D97-AF65-F5344CB8AC3E}">
        <p14:creationId xmlns:p14="http://schemas.microsoft.com/office/powerpoint/2010/main" val="81788802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354E35-D1FD-46AA-B62D-61404B20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Управленческое 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53B1E-10F4-4CAE-8B1D-53B338F6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5919E-97A3-4AC1-BBF0-B0E45397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Корректирующие действия сохраняют требования к безопасности и приёмке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36A9D-423B-4E5F-B78A-5B625C47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450B9-3B3B-41B5-B2FC-50C3BE62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24377-3B22-4429-864D-71410249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409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827CD-E43F-43FB-AF34-0034E55C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335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Причина отклонений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5696A-FFB5-45E2-A92B-C865B064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050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Задержка согласования обучения снизила EV относительно плана, дополнительные консультации увеличили AC.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809F5-F254-48E9-AB9F-67B12623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Рекомендуемые действия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95980-F284-4B05-B7DE-637ABB37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6667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8D4E3-721B-45D7-93CB-FF12CF0D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74533D-633F-4C12-B9C2-D9C8A67E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535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Зафиксировать решение по обучению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07DD4-97CF-4246-BF07-09D68E53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33825"/>
            <a:ext cx="535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Назначить одного согласующего, заместителя и дату обучения. Убрать повторные согласования программы.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70C68-BCA1-445A-AFD0-3E3ACF83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01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53AFA2-97EA-49B7-9ABB-CD453D81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535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Оформить изменение базового плана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9F76DA-2753-4474-B20E-473DE0C4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72075"/>
            <a:ext cx="535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Вынести спонсору EAC 291 667 ₽: увеличить BAC на 41 667 ₽ или сократить только некритичный объём.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FB4341-111D-45D6-B93F-AAD85DEA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483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A0458A-2373-4072-BF57-84989726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48375"/>
            <a:ext cx="535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Контролировать восстановление еженедельно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F12FF4-4FFE-4F8E-AE48-D4F87CB9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10325"/>
            <a:ext cx="535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Повторять PV, EV и AC по правилу 0/50/100. Не сокращать защиту данных, тестирование и критерий обучения 90%.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14F37B-CEC6-4196-A010-24C26477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765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Риски решения и меры</a:t>
            </a:r>
          </a:p>
        </p:txBody>
      </p:sp>
      <p:graphicFrame>
        <p:nvGraphicFramePr>
          <p:cNvPr id="46" name=""/>
          <p:cNvGraphicFramePr/>
          <p:nvPr/>
        </p:nvGraphicFramePr>
        <p:xfrm>
          <a:off xmlns:a="http://schemas.openxmlformats.org/drawingml/2006/main" x="7715250" y="3257550"/>
          <a:ext xmlns:a="http://schemas.openxmlformats.org/drawingml/2006/main" cx="69532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381500"/>
              </a:tblGrid>
              <a:tr h="495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Риск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Как нивелировать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8048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Согласование снова сдвигается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Срок ответа, заместитель согласующего и календарь обучения, утверждённый спонсором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8048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Ускорение ухудшит подготовку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Сохранить 3 дня тренингов и порог приёмки: 90% медсестёр сдали зачёт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</a:tr>
              <a:tr h="8048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Консультации увеличат AC</a:t>
                      </a:r>
                    </a:p>
                  </a:txBody>
                  <a:tcPr marL="91440" marR="91440" marT="45720" marB="45720">
                    <a:solidFill>
                      <a:srgbClr val="ECE7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Ограничить часы, согласовать фиксированный пакет, превышения проводить через запрос на изменение</a:t>
                      </a:r>
                    </a:p>
                  </a:txBody>
                  <a:tcPr marL="91440" marR="91440" marT="45720" marB="45720">
                    <a:solidFill>
                      <a:srgbClr val="ECE7F4"/>
                    </a:solidFill>
                  </a:tcPr>
                </a:tc>
              </a:tr>
              <a:tr h="8048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TCPI 1,18 недостижим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Пересмотреть BAC или срок решением спонсора, не скрывать сокращение объёма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34DA5A-5B74-4E34-B37F-A4952596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86625"/>
            <a:ext cx="14097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5EFDE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46426C-B238-4D66-A795-305F9589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86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7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7A3E"/>
                </a:solidFill>
                <a:latin typeface="Arial"/>
                <a:ea typeface="Arial"/>
                <a:cs typeface="Arial"/>
              </a:rPr>
              <a:t>Контроль через неделю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12EE2F-37D0-4152-A499-E6E31380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4580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Если CPI или SPI остаются ниже 0,90, спонсор утверждает новый бюджет или срок.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5964DD-8890-475D-87AD-B76948F5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КОНТРОЛЬ СТОИМОСТИ</a:t>
            </a:r>
          </a:p>
        </p:txBody>
      </p:sp>
    </p:spTree>
    <p:extLst>
      <p:ext uri="{BB962C8B-B14F-4D97-AF65-F5344CB8AC3E}">
        <p14:creationId xmlns:p14="http://schemas.microsoft.com/office/powerpoint/2010/main" val="19182821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2026-09-22T12:21:50.8540000Z</dcterms:created>
  <dcterms:modified xsi:type="dcterms:W3CDTF">2026-09-22T12:21:50.8550000Z</dcterms:modified>
</coreProperties>
</file>